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dadcef86ab4658" /><Relationship Type="http://schemas.openxmlformats.org/officeDocument/2006/relationships/extended-properties" Target="/docProps/app.xml" Id="Rf377b893ec8e4691" /><Relationship Type="http://schemas.openxmlformats.org/officeDocument/2006/relationships/officeDocument" Target="/ppt/presentation.xml" Id="R397fc296981e4ff2" /></Relationships>
</file>

<file path=ppt/presentation.xml><?xml version="1.0" encoding="utf-8"?>
<p:presentation xmlns:p="http://schemas.openxmlformats.org/presentationml/2006/main">
  <p:sldMasterIdLst>
    <p:sldMasterId xmlns:r="http://schemas.openxmlformats.org/officeDocument/2006/relationships" id="2147483648" r:id="R07522206050b4dc3"/>
  </p:sldMasterIdLst>
  <p:notesMasterIdLst>
    <p:notesMasterId xmlns:r="http://schemas.openxmlformats.org/officeDocument/2006/relationships" r:id="R5b7ca3f23fa84605"/>
  </p:notesMasterIdLst>
  <p:sldIdLst>
    <p:sldId xmlns:r="http://schemas.openxmlformats.org/officeDocument/2006/relationships" id="256" r:id="Rb9978619e3164ad9"/>
    <p:sldId xmlns:r="http://schemas.openxmlformats.org/officeDocument/2006/relationships" id="257" r:id="Rbe90ed5e480f45af"/>
    <p:sldId xmlns:r="http://schemas.openxmlformats.org/officeDocument/2006/relationships" id="258" r:id="R390b626dc91a48ba"/>
    <p:sldId xmlns:r="http://schemas.openxmlformats.org/officeDocument/2006/relationships" id="259" r:id="R6b671b15a94646df"/>
    <p:sldId xmlns:r="http://schemas.openxmlformats.org/officeDocument/2006/relationships" id="260" r:id="Rc7339a7d151e4723"/>
    <p:sldId xmlns:r="http://schemas.openxmlformats.org/officeDocument/2006/relationships" id="261" r:id="R0a09f90f93614b67"/>
    <p:sldId xmlns:r="http://schemas.openxmlformats.org/officeDocument/2006/relationships" id="262" r:id="R0ec3ddb7ac444f7a"/>
    <p:sldId xmlns:r="http://schemas.openxmlformats.org/officeDocument/2006/relationships" id="263" r:id="R611ee257bfd64518"/>
    <p:sldId xmlns:r="http://schemas.openxmlformats.org/officeDocument/2006/relationships" id="264" r:id="Rc1b37613e8e34a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e7b721b7574cea" /><Relationship Type="http://schemas.openxmlformats.org/officeDocument/2006/relationships/slideMaster" Target="/ppt/slideMasters/slideMaster1.xml" Id="R07522206050b4dc3" /><Relationship Type="http://schemas.openxmlformats.org/officeDocument/2006/relationships/notesMaster" Target="/ppt/notesMasters/notesMaster1.xml" Id="R5b7ca3f23fa84605" /><Relationship Type="http://schemas.openxmlformats.org/officeDocument/2006/relationships/presProps" Target="/ppt/presProps.xml" Id="R3811a40507e2456d" /><Relationship Type="http://schemas.openxmlformats.org/officeDocument/2006/relationships/tableStyles" Target="/ppt/tableStyles.xml" Id="Rd5824d9a2c054a84" /><Relationship Type="http://schemas.openxmlformats.org/officeDocument/2006/relationships/slide" Target="/ppt/slides/slide1.xml" Id="Rb9978619e3164ad9" /><Relationship Type="http://schemas.openxmlformats.org/officeDocument/2006/relationships/slide" Target="/ppt/slides/slide2.xml" Id="Rbe90ed5e480f45af" /><Relationship Type="http://schemas.openxmlformats.org/officeDocument/2006/relationships/slide" Target="/ppt/slides/slide3.xml" Id="R390b626dc91a48ba" /><Relationship Type="http://schemas.openxmlformats.org/officeDocument/2006/relationships/slide" Target="/ppt/slides/slide4.xml" Id="R6b671b15a94646df" /><Relationship Type="http://schemas.openxmlformats.org/officeDocument/2006/relationships/slide" Target="/ppt/slides/slide5.xml" Id="Rc7339a7d151e4723" /><Relationship Type="http://schemas.openxmlformats.org/officeDocument/2006/relationships/slide" Target="/ppt/slides/slide6.xml" Id="R0a09f90f93614b67" /><Relationship Type="http://schemas.openxmlformats.org/officeDocument/2006/relationships/slide" Target="/ppt/slides/slide7.xml" Id="R0ec3ddb7ac444f7a" /><Relationship Type="http://schemas.openxmlformats.org/officeDocument/2006/relationships/slide" Target="/ppt/slides/slide8.xml" Id="R611ee257bfd64518" /><Relationship Type="http://schemas.openxmlformats.org/officeDocument/2006/relationships/slide" Target="/ppt/slides/slide9.xml" Id="Rc1b37613e8e34a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0f7f1dc9374e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75546181a84097" /><Relationship Type="http://schemas.openxmlformats.org/officeDocument/2006/relationships/notesMaster" Target="/ppt/notesMasters/notesMaster1.xml" Id="Rcf0864cf814143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fcee18e85145ae" /><Relationship Type="http://schemas.openxmlformats.org/officeDocument/2006/relationships/notesMaster" Target="/ppt/notesMasters/notesMaster1.xml" Id="R07129609122647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73896ca8144854" /><Relationship Type="http://schemas.openxmlformats.org/officeDocument/2006/relationships/notesMaster" Target="/ppt/notesMasters/notesMaster1.xml" Id="Rb5ec75fcc42d43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9c6e1066b64560" /><Relationship Type="http://schemas.openxmlformats.org/officeDocument/2006/relationships/notesMaster" Target="/ppt/notesMasters/notesMaster1.xml" Id="R50625770b11140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341fad8c27455d" /><Relationship Type="http://schemas.openxmlformats.org/officeDocument/2006/relationships/notesMaster" Target="/ppt/notesMasters/notesMaster1.xml" Id="Rcd32ca1ddd1346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8422230eb04962" /><Relationship Type="http://schemas.openxmlformats.org/officeDocument/2006/relationships/notesMaster" Target="/ppt/notesMasters/notesMaster1.xml" Id="Reb09db75c54d4c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1c7f9105c14287" /><Relationship Type="http://schemas.openxmlformats.org/officeDocument/2006/relationships/notesMaster" Target="/ppt/notesMasters/notesMaster1.xml" Id="R4cc1871058d245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a680c8f618474e" /><Relationship Type="http://schemas.openxmlformats.org/officeDocument/2006/relationships/notesMaster" Target="/ppt/notesMasters/notesMaster1.xml" Id="R025730c8c4c249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556caf77e74628" /><Relationship Type="http://schemas.openxmlformats.org/officeDocument/2006/relationships/notesMaster" Target="/ppt/notesMasters/notesMaster1.xml" Id="R99ac7319c09545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0:00-0:40</a:t>
            </a:r>
          </a:p>
          <a:p xmlns:a="http://schemas.openxmlformats.org/drawingml/2006/main">
            <a:r>
              <a:t>Good morning. We are Team Nexora: Chin William, Tang Xin Yi, Janis Ong Jing Yao and Tee Xin Yee. Our project asks how geopolitical risk relates to international tourism demand in Malaysia, and turns that question into a one-to-four-month forecasting framework for 20 source markets.</a:t>
            </a:r>
          </a:p>
          <a:p xmlns:a="http://schemas.openxmlformats.org/drawingml/2006/main">
            <a:r>
              <a:t>Cover image: OpenAI ImageGen, generated for this presentation in 2026. This is a conceptual composite, not documentary photography.</a:t>
            </a:r>
          </a:p>
          <a:p xmlns:a="http://schemas.openxmlformats.org/drawingml/2006/main">
            <a:r>
              <a:t>Project title and team details: report/Nexora_Datathon2026_Report.docx.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0:40-1:30</a:t>
            </a:r>
          </a:p>
          <a:p xmlns:a="http://schemas.openxmlformats.org/drawingml/2006/main">
            <a:r>
              <a:t>Tourism generated 15.9 percent of GDP and supported 3.7 million jobs in 2025. Yet national totals do not tell planners whether weakness is broad or concentrated in particular source markets.</a:t>
            </a:r>
          </a:p>
          <a:p xmlns:a="http://schemas.openxmlformats.org/drawingml/2006/main">
            <a:r>
              <a:t>Our objectives are to build a traceable monthly panel, forecast each market one to four months ahead, and communicate the results through a self-contained dashboard.</a:t>
            </a:r>
          </a:p>
          <a:p xmlns:a="http://schemas.openxmlformats.org/drawingml/2006/main">
            <a:r>
              <a:t>Source: Department of Statistics Malaysia, Tourism Satellite Account 2025, cited in report/Nexora_Datathon2026_Report.docx, sections 1.1 and 1.3. https://www.dosm.gov.my/portal-main/release-content/tourism-satellite-account-2025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1:30-2:30</a:t>
            </a:r>
          </a:p>
          <a:p xmlns:a="http://schemas.openxmlformats.org/drawingml/2006/main">
            <a:r>
              <a:t>We collapsed repeated daily storage rows to their true country-month grain: 20 markets across 115 months, or 2,300 observations. June to September 2026 form 80 genuine forecast rows and never enter training or evaluation.</a:t>
            </a:r>
          </a:p>
          <a:p xmlns:a="http://schemas.openxmlformats.org/drawingml/2006/main">
            <a:r>
              <a:t>The model combines recent demand, bilateral exchange rates, energy prices and two GPR indices. One pooled direct LightGBM shares information across short country series and predicts each horizon directly, which avoids recursive error propagation.</a:t>
            </a:r>
          </a:p>
          <a:p xmlns:a="http://schemas.openxmlformats.org/drawingml/2006/main">
            <a:r>
              <a:t>Sources: docs/METHODOLOGY.md sections 1 to 3; report/Nexora_Datathon2026_Report.docx sections 3.1 to 3.5; machine_learning/config.py.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2:30-3:30</a:t>
            </a:r>
          </a:p>
          <a:p xmlns:a="http://schemas.openxmlformats.org/drawingml/2006/main">
            <a:r>
              <a:t>The main credibility issue is information timing. For each historical forecast, we cap every input at the month that would actually have been available. We also exclude any training row whose target had not yet been published.</a:t>
            </a:r>
          </a:p>
          <a:p xmlns:a="http://schemas.openxmlformats.org/drawingml/2006/main">
            <a:r>
              <a:t>Five normal-period origins provide the primary comparison. Five COVID and reopening origins remain separate because they represent a different regime. We report MAE and RMSE by horizon and avoid MAPE because near-zero months distort percentage errors for small markets.</a:t>
            </a:r>
          </a:p>
          <a:p xmlns:a="http://schemas.openxmlformats.org/drawingml/2006/main">
            <a:r>
              <a:t>Source: docs/METHODOLOGY.md sections 3 to 4; report/Nexora_Datathon2026_Report.docx sections 3.5 and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3:30-4:30</a:t>
            </a:r>
          </a:p>
          <a:p xmlns:a="http://schemas.openxmlformats.org/drawingml/2006/main">
            <a:r>
              <a:t>Across every primary backtest prediction, LightGBM has the lowest aggregate MAE at 15,969 arrivals. Ridge is close at 16,727, followed by naive-last and seasonal-naive.</a:t>
            </a:r>
          </a:p>
          <a:p xmlns:a="http://schemas.openxmlformats.org/drawingml/2006/main">
            <a:r>
              <a:t>The result needs nuance. LightGBM leads at horizons one and two. Seasonal-naive is marginally best at horizon three, while Ridge is marginally best at horizon four. Those later-horizon gaps are small enough that switching models could fit fold noise, so we deploy one pooled LightGBM.</a:t>
            </a:r>
          </a:p>
          <a:p xmlns:a="http://schemas.openxmlformats.org/drawingml/2006/main">
            <a:r>
              <a:t>Source: machine_learning/README.md; machine_learning/outputs/backtest_accuracy_by_horizon.csv; report/Nexora_Datathon2026_Report.docx section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4:30-5:30</a:t>
            </a:r>
          </a:p>
          <a:p xmlns:a="http://schemas.openxmlformats.org/drawingml/2006/main">
            <a:r>
              <a:t>Across the 20 modelled markets, arrivals remain near 2.28 million in June and July, then soften to 2.17 million in August and 2.05 million in September. That is a 10.2 percent decline from the July peak.</a:t>
            </a:r>
          </a:p>
          <a:p xmlns:a="http://schemas.openxmlformats.org/drawingml/2006/main">
            <a:r>
              <a:t>Singapore is the largest June forecast at 994,700 arrivals, followed by China and Indonesia. These are point forecasts for the tracked markets only. They are not a national total, and the current version does not provide prediction intervals.</a:t>
            </a:r>
          </a:p>
          <a:p xmlns:a="http://schemas.openxmlformats.org/drawingml/2006/main">
            <a:r>
              <a:t>Source: machine_learning/outputs/forecast_future_2026.csv; report/Nexora_Datathon2026_Report.docx section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5:30-6:40</a:t>
            </a:r>
          </a:p>
          <a:p xmlns:a="http://schemas.openxmlformats.org/drawingml/2006/main">
            <a:r>
              <a:t>The controlled Ridge slopes show strong market heterogeneity. Sixteen of 20 markets are negative. Singapore, Indonesia and China are positive, while Thailand is approximately neutral.</a:t>
            </a:r>
          </a:p>
          <a:p xmlns:a="http://schemas.openxmlformats.org/drawingml/2006/main">
            <a:r>
              <a:t>The raw pooled correlation is weakly positive, but the controlled slope is negative for most markets after accounting for demand history, seasonality, exchange rates and energy prices. The sign change may reflect shared time trends and correlated predictors.</a:t>
            </a:r>
          </a:p>
          <a:p xmlns:a="http://schemas.openxmlformats.org/drawingml/2006/main">
            <a:r>
              <a:t>These are associations inside the model. They do not prove that geopolitical risk caused arrival changes.</a:t>
            </a:r>
          </a:p>
          <a:p xmlns:a="http://schemas.openxmlformats.org/drawingml/2006/main">
            <a:r>
              <a:t>Source: machine_learning/outputs/gpr_country_ridge_interaction.csv; docs/METHODOLOGY.md section 7; report/Nexora_Datathon2026_Report.docx section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6:40-9:00</a:t>
            </a:r>
          </a:p>
          <a:p xmlns:a="http://schemas.openxmlformats.org/drawingml/2006/main">
            <a:r>
              <a:t>Switch to the live Power BI file for this segment.</a:t>
            </a:r>
          </a:p>
          <a:p xmlns:a="http://schemas.openxmlformats.org/drawingml/2006/main">
            <a:r>
              <a:t>1. Start on Malaysia Tourism Overview. Change Market Segment from All to ASEAN, then select one source country. Point out that every linked visual updates.</a:t>
            </a:r>
          </a:p>
          <a:p xmlns:a="http://schemas.openxmlformats.org/drawingml/2006/main">
            <a:r>
              <a:t>2. Click the Top 5 source-country bar chart to demonstrate cross-filtering, then clear the selection.</a:t>
            </a:r>
          </a:p>
          <a:p xmlns:a="http://schemas.openxmlformats.org/drawingml/2006/main">
            <a:r>
              <a:t>3. Open Tourism Drivers. Select a source country and hover over a point to show arrivals together with FX, Brent and GPR context. State that these charts show co-movement, not causality.</a:t>
            </a:r>
          </a:p>
          <a:p xmlns:a="http://schemas.openxmlformats.org/drawingml/2006/main">
            <a:r>
              <a:t>4. Open Forecast. Show June to September predictions, MAE by horizon, the COVID stress test and lag sensitivity. Explain that lower MAE is better and that naive persistence wins during the COVID shock.</a:t>
            </a:r>
          </a:p>
          <a:p xmlns:a="http://schemas.openxmlformats.org/drawingml/2006/main">
            <a:r>
              <a:t>5. End by returning to the Overview page and clearing filters.</a:t>
            </a:r>
          </a:p>
          <a:p xmlns:a="http://schemas.openxmlformats.org/drawingml/2006/main">
            <a:r>
              <a:t>Dashboard source: powerbi_dashboard/Dashboard.pbix and powerbi_dashboard/Dashboard.pdf. User guide: powerbi_dashboard/README.txt.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9:00-9:40</a:t>
            </a:r>
          </a:p>
          <a:p xmlns:a="http://schemas.openxmlformats.org/drawingml/2006/main">
            <a:r>
              <a:t>The operational value is earlier market-level visibility. Our forecast suggests stable arrivals in June and July before softer demand through September. The risk analysis shows that market responses differ and that extreme shocks can dominate model patterns.</a:t>
            </a:r>
          </a:p>
          <a:p xmlns:a="http://schemas.openxmlformats.org/drawingml/2006/main">
            <a:r>
              <a:t>The framework can scale through a monthly data refresh and retraining cycle. The next technical priority is prediction intervals, followed by wider market coverage and additional shock scenarios.</a:t>
            </a:r>
          </a:p>
          <a:p xmlns:a="http://schemas.openxmlformats.org/drawingml/2006/main">
            <a:r>
              <a:t>Close by restating the scope: 20 modelled markets, one-to-four-month forecasts, and a self-contained Power BI dashboard.</a:t>
            </a:r>
          </a:p>
          <a:p xmlns:a="http://schemas.openxmlformats.org/drawingml/2006/main">
            <a:r>
              <a:t>Sources: report/Nexora_Datathon2026_Report.docx section 6; machine_learning/README.md; powerbi_dashboard/README.txt.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66317dd2a64b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b67441b8d84a75" /><Relationship Type="http://schemas.openxmlformats.org/officeDocument/2006/relationships/slideLayout" Target="/ppt/slideLayouts/slideLayout1.xml" Id="R335e1797b26445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5e1797b26445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ef1d0952ef47f4" /><Relationship Type="http://schemas.openxmlformats.org/officeDocument/2006/relationships/image" Target="/ppt/media/image.png" Id="Rc3e5b6c104e04782" /><Relationship Type="http://schemas.openxmlformats.org/officeDocument/2006/relationships/notesSlide" Target="/ppt/notesSlides/notesSlide1.xml" Id="R3fdf92de6e3b41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4e6f5cf46348ad" /><Relationship Type="http://schemas.openxmlformats.org/officeDocument/2006/relationships/notesSlide" Target="/ppt/notesSlides/notesSlide2.xml" Id="R40f701eb39a84f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28fa1c99774421" /><Relationship Type="http://schemas.openxmlformats.org/officeDocument/2006/relationships/notesSlide" Target="/ppt/notesSlides/notesSlide3.xml" Id="R96cd6ce4e6474c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e80f7aaecd4594" /><Relationship Type="http://schemas.openxmlformats.org/officeDocument/2006/relationships/notesSlide" Target="/ppt/notesSlides/notesSlide4.xml" Id="R6e37f9b0ee954a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2b1c331600f4edf" /><Relationship Type="http://schemas.openxmlformats.org/officeDocument/2006/relationships/chart" Target="/ppt/slides/charts/chart1.xml" Id="R66e14ac9461e4fae" /><Relationship Type="http://schemas.openxmlformats.org/officeDocument/2006/relationships/notesSlide" Target="/ppt/notesSlides/notesSlide5.xml" Id="R607f9c5d51f742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c149863e7f4e5e" /><Relationship Type="http://schemas.openxmlformats.org/officeDocument/2006/relationships/chart" Target="/ppt/slides/charts/chart2.xml" Id="Rff469cce466a44f3" /><Relationship Type="http://schemas.openxmlformats.org/officeDocument/2006/relationships/notesSlide" Target="/ppt/notesSlides/notesSlide6.xml" Id="Raf7e40c78c4f41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56077d2d3945f8" /><Relationship Type="http://schemas.openxmlformats.org/officeDocument/2006/relationships/chart" Target="/ppt/slides/charts/chart3.xml" Id="R57311fba8d6f4723" /><Relationship Type="http://schemas.openxmlformats.org/officeDocument/2006/relationships/notesSlide" Target="/ppt/notesSlides/notesSlide7.xml" Id="Reae082556a3949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d4aaa1b4ca4b0d" /><Relationship Type="http://schemas.openxmlformats.org/officeDocument/2006/relationships/image" Target="/ppt/media/image2.png" Id="Ra9f1a339f8dc4df8" /><Relationship Type="http://schemas.openxmlformats.org/officeDocument/2006/relationships/notesSlide" Target="/ppt/notesSlides/notesSlide8.xml" Id="R66cc75c041174e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6b3eb7d954459a" /><Relationship Type="http://schemas.openxmlformats.org/officeDocument/2006/relationships/image" Target="/ppt/media/image3.png" Id="Rf72fc68cc24c4e09" /><Relationship Type="http://schemas.openxmlformats.org/officeDocument/2006/relationships/notesSlide" Target="/ppt/notesSlides/notesSlide9.xml" Id="Reb5b8098df834482" /></Relationships>
</file>

<file path=ppt/slides/charts/chart1.xml><?xml version="1.0" encoding="utf-8"?>
<c:chartSpace xmlns:c="http://schemas.openxmlformats.org/drawingml/2006/chart">
  <c:lang val="en-US"/>
  <c:chart>
    <c:plotArea>
      <c:barChart>
        <c:barDir val="bar"/>
        <c:grouping val="clustered"/>
        <c:varyColors val="0"/>
        <c:ser>
          <c:idx val="0"/>
          <c:order val="0"/>
          <c:tx>
            <c:v>Aggregate MAE</c:v>
          </c:tx>
          <c:spPr>
            <a:solidFill xmlns:a="http://schemas.openxmlformats.org/drawingml/2006/main">
              <a:srgbClr val="148AF2"/>
            </a:solidFill>
          </c:spPr>
          <c:dPt>
            <c:idx val="0"/>
            <c:invertIfNegative val="0"/>
            <c:spPr>
              <a:solidFill xmlns:a="http://schemas.openxmlformats.org/drawingml/2006/main">
                <a:srgbClr val="009E9A"/>
              </a:solidFill>
            </c:spPr>
          </c:dPt>
          <c:dPt>
            <c:idx val="1"/>
            <c:invertIfNegative val="0"/>
            <c:spPr>
              <a:solidFill xmlns:a="http://schemas.openxmlformats.org/drawingml/2006/main">
                <a:srgbClr val="6AAFD8"/>
              </a:solidFill>
            </c:spPr>
          </c:dPt>
          <c:dPt>
            <c:idx val="2"/>
            <c:invertIfNegative val="0"/>
            <c:spPr>
              <a:solidFill xmlns:a="http://schemas.openxmlformats.org/drawingml/2006/main">
                <a:srgbClr val="92A9B8"/>
              </a:solidFill>
            </c:spPr>
          </c:dPt>
          <c:dPt>
            <c:idx val="3"/>
            <c:invertIfNegative val="0"/>
            <c:spPr>
              <a:solidFill xmlns:a="http://schemas.openxmlformats.org/drawingml/2006/main">
                <a:srgbClr val="C5D0D7"/>
              </a:solidFill>
            </c:spPr>
          </c:dPt>
          <c:cat>
            <c:strLit>
              <c:ptCount val="4"/>
              <c:pt idx="0">
                <c:v>LightGBM</c:v>
              </c:pt>
              <c:pt idx="1">
                <c:v>Ridge</c:v>
              </c:pt>
              <c:pt idx="2">
                <c:v>Naive-last</c:v>
              </c:pt>
              <c:pt idx="3">
                <c:v>Seasonal-naive</c:v>
              </c:pt>
            </c:strLit>
          </c:cat>
          <c:val>
            <c:numLit>
              <c:formatCode>#,##0</c:formatCode>
              <c:ptCount val="4"/>
              <c:pt idx="0">
                <c:v>15969</c:v>
              </c:pt>
              <c:pt idx="1">
                <c:v>16727</c:v>
              </c:pt>
              <c:pt idx="2">
                <c:v>17188</c:v>
              </c:pt>
              <c:pt idx="3">
                <c:v>22702</c:v>
              </c:pt>
            </c:numLit>
          </c:val>
        </c:ser>
        <c:dLbls>
          <c:txPr>
            <a:bodyPr xmlns:a="http://schemas.openxmlformats.org/drawingml/2006/main" anchorCtr="1"/>
            <a:lstStyle xmlns:a="http://schemas.openxmlformats.org/drawingml/2006/main"/>
            <a:p xmlns:a="http://schemas.openxmlformats.org/drawingml/2006/main">
              <a:pPr>
                <a:defRPr sz="1350" b="1">
                  <a:solidFill>
                    <a:srgbClr val="112735"/>
                  </a:solidFill>
                  <a:latin typeface="Arial"/>
                  <a:ea typeface="Arial"/>
                  <a:cs typeface="Arial"/>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majorGridlines>
          <c:spPr>
            <a:ln xmlns:a="http://schemas.openxmlformats.org/drawingml/2006/main" w="9525">
              <a:solidFill>
                <a:srgbClr val="D9E3E8"/>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5D6B75"/>
                    </a:solidFill>
                    <a:latin typeface="Arial"/>
                    <a:ea typeface="Arial"/>
                    <a:cs typeface="Arial"/>
                  </a:rPr>
                  <a:t>Mean absolute error (arrivals)</a:t>
                </a:r>
              </a:p>
            </c:rich>
          </c:tx>
          <c:overlay val="0"/>
          <c:txPr>
            <a:bodyPr xmlns:a="http://schemas.openxmlformats.org/drawingml/2006/main" anchorCtr="1"/>
            <a:lstStyle xmlns:a="http://schemas.openxmlformats.org/drawingml/2006/main"/>
            <a:p xmlns:a="http://schemas.openxmlformats.org/drawingml/2006/main">
              <a:pPr>
                <a:defRPr sz="1200">
                  <a:solidFill>
                    <a:srgbClr val="5D6B75"/>
                  </a:solidFill>
                  <a:latin typeface="Arial"/>
                  <a:ea typeface="Arial"/>
                  <a:cs typeface="Arial"/>
                </a:defRPr>
              </a:pPr>
            </a:p>
          </c:txPr>
        </c:title>
        <c:numFmt formatCode="#,##0"/>
        <c:majorTickMark val="none"/>
        <c:minorTickMark val="none"/>
        <c:spPr>
          <a:ln xmlns:a="http://schemas.openxmlformats.org/drawingml/2006/main" w="9525">
            <a:solidFill>
              <a:srgbClr val="D9E3E8"/>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b="1">
                <a:solidFill>
                  <a:srgbClr val="112735"/>
                </a:solidFill>
                <a:latin typeface="Arial"/>
                <a:ea typeface="Arial"/>
                <a:cs typeface="Arial"/>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lineChart>
        <c:grouping val="standard"/>
        <c:varyColors val="0"/>
        <c:ser>
          <c:idx val="0"/>
          <c:order val="0"/>
          <c:tx>
            <c:v>Forecast arrivals</c:v>
          </c:tx>
          <c:spPr>
            <a:ln xmlns:a="http://schemas.openxmlformats.org/drawingml/2006/main" w="47625">
              <a:solidFill>
                <a:srgbClr val="148AF2"/>
              </a:solidFill>
              <a:prstDash val="solid"/>
            </a:ln>
          </c:spPr>
          <c:marker>
            <c:symbol val="circle"/>
            <c:size val="12"/>
            <c:spPr>
              <a:solidFill xmlns:a="http://schemas.openxmlformats.org/drawingml/2006/main">
                <a:srgbClr val="148AF2"/>
              </a:solidFill>
            </c:spPr>
          </c:marker>
          <c:dLbls>
            <c:dLbl>
              <c:idx val="0"/>
              <c:tx>
                <c:rich>
                  <a:bodyPr xmlns:a="http://schemas.openxmlformats.org/drawingml/2006/main"/>
                  <a:lstStyle xmlns:a="http://schemas.openxmlformats.org/drawingml/2006/main"/>
                  <a:p xmlns:a="http://schemas.openxmlformats.org/drawingml/2006/main">
                    <a:r>
                      <a:rPr sz="1275" b="1">
                        <a:solidFill>
                          <a:srgbClr val="071B2C"/>
                        </a:solidFill>
                        <a:latin typeface="Arial"/>
                        <a:ea typeface="Arial"/>
                        <a:cs typeface="Arial"/>
                      </a:rPr>
                      <a:t>2.28M</a:t>
                    </a:r>
                  </a:p>
                </c:rich>
              </c:tx>
              <c:txPr>
                <a:bodyPr xmlns:a="http://schemas.openxmlformats.org/drawingml/2006/main" anchorCtr="1"/>
                <a:lstStyle xmlns:a="http://schemas.openxmlformats.org/drawingml/2006/main"/>
                <a:p xmlns:a="http://schemas.openxmlformats.org/drawingml/2006/main">
                  <a:pPr>
                    <a:defRPr sz="1275" b="1">
                      <a:solidFill>
                        <a:srgbClr val="071B2C"/>
                      </a:solidFill>
                      <a:latin typeface="Arial"/>
                      <a:ea typeface="Arial"/>
                      <a:cs typeface="Arial"/>
                    </a:defRPr>
                  </a:pPr>
                </a:p>
              </c:txPr>
              <c:dLblPos val="ct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275" b="1">
                        <a:solidFill>
                          <a:srgbClr val="071B2C"/>
                        </a:solidFill>
                        <a:latin typeface="Arial"/>
                        <a:ea typeface="Arial"/>
                        <a:cs typeface="Arial"/>
                      </a:rPr>
                      <a:t>2.29M</a:t>
                    </a:r>
                  </a:p>
                </c:rich>
              </c:tx>
              <c:txPr>
                <a:bodyPr xmlns:a="http://schemas.openxmlformats.org/drawingml/2006/main" anchorCtr="1"/>
                <a:lstStyle xmlns:a="http://schemas.openxmlformats.org/drawingml/2006/main"/>
                <a:p xmlns:a="http://schemas.openxmlformats.org/drawingml/2006/main">
                  <a:pPr>
                    <a:defRPr sz="1275" b="1">
                      <a:solidFill>
                        <a:srgbClr val="071B2C"/>
                      </a:solidFill>
                      <a:latin typeface="Arial"/>
                      <a:ea typeface="Arial"/>
                      <a:cs typeface="Arial"/>
                    </a:defRPr>
                  </a:pPr>
                </a:p>
              </c:txPr>
              <c:dLblPos val="ct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275" b="1">
                        <a:solidFill>
                          <a:srgbClr val="071B2C"/>
                        </a:solidFill>
                        <a:latin typeface="Arial"/>
                        <a:ea typeface="Arial"/>
                        <a:cs typeface="Arial"/>
                      </a:rPr>
                      <a:t>2.17M</a:t>
                    </a:r>
                  </a:p>
                </c:rich>
              </c:tx>
              <c:txPr>
                <a:bodyPr xmlns:a="http://schemas.openxmlformats.org/drawingml/2006/main" anchorCtr="1"/>
                <a:lstStyle xmlns:a="http://schemas.openxmlformats.org/drawingml/2006/main"/>
                <a:p xmlns:a="http://schemas.openxmlformats.org/drawingml/2006/main">
                  <a:pPr>
                    <a:defRPr sz="1275" b="1">
                      <a:solidFill>
                        <a:srgbClr val="071B2C"/>
                      </a:solidFill>
                      <a:latin typeface="Arial"/>
                      <a:ea typeface="Arial"/>
                      <a:cs typeface="Arial"/>
                    </a:defRPr>
                  </a:pPr>
                </a:p>
              </c:txPr>
              <c:dLblPos val="ctr"/>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275" b="1">
                        <a:solidFill>
                          <a:srgbClr val="071B2C"/>
                        </a:solidFill>
                        <a:latin typeface="Arial"/>
                        <a:ea typeface="Arial"/>
                        <a:cs typeface="Arial"/>
                      </a:rPr>
                      <a:t>2.05M</a:t>
                    </a:r>
                  </a:p>
                </c:rich>
              </c:tx>
              <c:txPr>
                <a:bodyPr xmlns:a="http://schemas.openxmlformats.org/drawingml/2006/main" anchorCtr="1"/>
                <a:lstStyle xmlns:a="http://schemas.openxmlformats.org/drawingml/2006/main"/>
                <a:p xmlns:a="http://schemas.openxmlformats.org/drawingml/2006/main">
                  <a:pPr>
                    <a:defRPr sz="1275" b="1">
                      <a:solidFill>
                        <a:srgbClr val="071B2C"/>
                      </a:solidFill>
                      <a:latin typeface="Arial"/>
                      <a:ea typeface="Arial"/>
                      <a:cs typeface="Arial"/>
                    </a:defRPr>
                  </a:pPr>
                </a:p>
              </c:txPr>
              <c:dLblPos val="ctr"/>
              <c:showLegendKey val="0"/>
              <c:showVal val="0"/>
              <c:showCatName val="0"/>
              <c:showSerName val="0"/>
              <c:showPercent val="0"/>
              <c:showBubbleSize val="0"/>
            </c:dLbl>
            <c:txPr>
              <a:bodyPr xmlns:a="http://schemas.openxmlformats.org/drawingml/2006/main" anchorCtr="1"/>
              <a:lstStyle xmlns:a="http://schemas.openxmlformats.org/drawingml/2006/main"/>
              <a:p xmlns:a="http://schemas.openxmlformats.org/drawingml/2006/main">
                <a:pPr>
                  <a:defRPr sz="1275" b="1">
                    <a:solidFill>
                      <a:srgbClr val="071B2C"/>
                    </a:solidFill>
                    <a:latin typeface="Arial"/>
                    <a:ea typeface="Arial"/>
                    <a:cs typeface="Arial"/>
                  </a:defRPr>
                </a:pPr>
              </a:p>
            </c:txPr>
            <c:dLblPos val="ctr"/>
            <c:showLegendKey val="0"/>
            <c:showVal val="0"/>
            <c:showCatName val="0"/>
            <c:showSerName val="0"/>
            <c:showPercent val="0"/>
            <c:showBubbleSize val="0"/>
            <c:showLeaderLines val="0"/>
          </c:dLbls>
          <c:cat>
            <c:strLit>
              <c:ptCount val="4"/>
              <c:pt idx="0">
                <c:v>Jun 2026</c:v>
              </c:pt>
              <c:pt idx="1">
                <c:v>Jul 2026</c:v>
              </c:pt>
              <c:pt idx="2">
                <c:v>Aug 2026</c:v>
              </c:pt>
              <c:pt idx="3">
                <c:v>Sep 2026</c:v>
              </c:pt>
            </c:strLit>
          </c:cat>
          <c:val>
            <c:numLit>
              <c:formatCode>0.00"M"</c:formatCode>
              <c:ptCount val="4"/>
              <c:pt idx="0">
                <c:v>2.278401</c:v>
              </c:pt>
              <c:pt idx="1">
                <c:v>2.287744</c:v>
              </c:pt>
              <c:pt idx="2">
                <c:v>2.173788</c:v>
              </c:pt>
              <c:pt idx="3">
                <c:v>2.054893</c:v>
              </c:pt>
            </c:numLit>
          </c:val>
          <c:smooth val="0"/>
        </c:ser>
        <c:dLbls>
          <c:txPr>
            <a:bodyPr xmlns:a="http://schemas.openxmlformats.org/drawingml/2006/main" anchorCtr="1"/>
            <a:lstStyle xmlns:a="http://schemas.openxmlformats.org/drawingml/2006/main"/>
            <a:p xmlns:a="http://schemas.openxmlformats.org/drawingml/2006/main">
              <a:pPr>
                <a:defRPr sz="1275" b="1">
                  <a:solidFill>
                    <a:srgbClr val="071B2C"/>
                  </a:solidFill>
                  <a:latin typeface="Arial"/>
                  <a:ea typeface="Arial"/>
                  <a:cs typeface="Arial"/>
                </a:defRPr>
              </a:pPr>
            </a:p>
          </c:txPr>
          <c:dLblPos val="ct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E3E8"/>
            </a:solidFill>
            <a:prstDash val="solid"/>
          </a:ln>
        </c:spPr>
        <c:txPr>
          <a:bodyPr xmlns:a="http://schemas.openxmlformats.org/drawingml/2006/main" anchorCtr="1"/>
          <a:lstStyle xmlns:a="http://schemas.openxmlformats.org/drawingml/2006/main"/>
          <a:p xmlns:a="http://schemas.openxmlformats.org/drawingml/2006/main">
            <a:pPr>
              <a:defRPr sz="1275">
                <a:solidFill>
                  <a:srgbClr val="5D6B75"/>
                </a:solidFill>
                <a:latin typeface="Arial"/>
                <a:ea typeface="Arial"/>
                <a:cs typeface="Arial"/>
              </a:defRPr>
            </a:pPr>
          </a:p>
        </c:txPr>
        <c:crossAx val="48672768"/>
      </c:catAx>
      <c:valAx>
        <c:axId val="48672768"/>
        <c:scaling>
          <c:orientation val="minMax"/>
          <c:max val="2.4"/>
          <c:min val="1.9"/>
        </c:scaling>
        <c:delete val="0"/>
        <c:axPos val="l"/>
        <c:majorGridlines>
          <c:spPr>
            <a:ln xmlns:a="http://schemas.openxmlformats.org/drawingml/2006/main" w="9525">
              <a:solidFill>
                <a:srgbClr val="D9E3E8"/>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5D6B75"/>
                    </a:solidFill>
                    <a:latin typeface="Arial"/>
                    <a:ea typeface="Arial"/>
                    <a:cs typeface="Arial"/>
                  </a:rPr>
                  <a:t>Million arrivals</a:t>
                </a:r>
              </a:p>
            </c:rich>
          </c:tx>
          <c:overlay val="0"/>
          <c:txPr>
            <a:bodyPr xmlns:a="http://schemas.openxmlformats.org/drawingml/2006/main" anchorCtr="1"/>
            <a:lstStyle xmlns:a="http://schemas.openxmlformats.org/drawingml/2006/main"/>
            <a:p xmlns:a="http://schemas.openxmlformats.org/drawingml/2006/main">
              <a:pPr>
                <a:defRPr sz="1200">
                  <a:solidFill>
                    <a:srgbClr val="5D6B75"/>
                  </a:solidFill>
                  <a:latin typeface="Arial"/>
                  <a:ea typeface="Arial"/>
                  <a:cs typeface="Arial"/>
                </a:defRPr>
              </a:pPr>
            </a:p>
          </c:txPr>
        </c:title>
        <c:numFmt formatCode="0.0"/>
        <c:majorTickMark val="none"/>
        <c:minorTickMark val="none"/>
        <c:spPr>
          <a:ln xmlns:a="http://schemas.openxmlformats.org/drawingml/2006/main" w="9525">
            <a:solidFill>
              <a:srgbClr val="D9E3E8"/>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0.1"/>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Controlled GPR slope</c:v>
          </c:tx>
          <c:spPr>
            <a:solidFill xmlns:a="http://schemas.openxmlformats.org/drawingml/2006/main">
              <a:srgbClr val="009E9A"/>
            </a:solidFill>
          </c:spPr>
          <c:invertIfNegative val="0"/>
          <c:dPt>
            <c:idx val="0"/>
            <c:invertIfNegative val="0"/>
            <c:spPr>
              <a:solidFill xmlns:a="http://schemas.openxmlformats.org/drawingml/2006/main">
                <a:srgbClr val="009E9A"/>
              </a:solidFill>
            </c:spPr>
          </c:dPt>
          <c:dPt>
            <c:idx val="1"/>
            <c:invertIfNegative val="0"/>
            <c:spPr>
              <a:solidFill xmlns:a="http://schemas.openxmlformats.org/drawingml/2006/main">
                <a:srgbClr val="009E9A"/>
              </a:solidFill>
            </c:spPr>
          </c:dPt>
          <c:dPt>
            <c:idx val="2"/>
            <c:invertIfNegative val="0"/>
            <c:spPr>
              <a:solidFill xmlns:a="http://schemas.openxmlformats.org/drawingml/2006/main">
                <a:srgbClr val="009E9A"/>
              </a:solidFill>
            </c:spPr>
          </c:dPt>
          <c:dPt>
            <c:idx val="3"/>
            <c:invertIfNegative val="0"/>
            <c:spPr>
              <a:solidFill xmlns:a="http://schemas.openxmlformats.org/drawingml/2006/main">
                <a:srgbClr val="A7B5BE"/>
              </a:solidFill>
            </c:spPr>
          </c:dPt>
          <c:dPt>
            <c:idx val="4"/>
            <c:invertIfNegative val="0"/>
            <c:spPr>
              <a:solidFill xmlns:a="http://schemas.openxmlformats.org/drawingml/2006/main">
                <a:srgbClr val="E96655"/>
              </a:solidFill>
            </c:spPr>
          </c:dPt>
          <c:dPt>
            <c:idx val="5"/>
            <c:invertIfNegative val="0"/>
            <c:spPr>
              <a:solidFill xmlns:a="http://schemas.openxmlformats.org/drawingml/2006/main">
                <a:srgbClr val="E96655"/>
              </a:solidFill>
            </c:spPr>
          </c:dPt>
          <c:dPt>
            <c:idx val="6"/>
            <c:invertIfNegative val="0"/>
            <c:spPr>
              <a:solidFill xmlns:a="http://schemas.openxmlformats.org/drawingml/2006/main">
                <a:srgbClr val="E96655"/>
              </a:solidFill>
            </c:spPr>
          </c:dPt>
          <c:dPt>
            <c:idx val="7"/>
            <c:invertIfNegative val="0"/>
            <c:spPr>
              <a:solidFill xmlns:a="http://schemas.openxmlformats.org/drawingml/2006/main">
                <a:srgbClr val="E96655"/>
              </a:solidFill>
            </c:spPr>
          </c:dPt>
          <c:cat>
            <c:strLit>
              <c:ptCount val="8"/>
              <c:pt idx="0">
                <c:v>Singapore</c:v>
              </c:pt>
              <c:pt idx="1">
                <c:v>Indonesia</c:v>
              </c:pt>
              <c:pt idx="2">
                <c:v>China</c:v>
              </c:pt>
              <c:pt idx="3">
                <c:v>Thailand</c:v>
              </c:pt>
              <c:pt idx="4">
                <c:v>United States</c:v>
              </c:pt>
              <c:pt idx="5">
                <c:v>Philippines</c:v>
              </c:pt>
              <c:pt idx="6">
                <c:v>Japan</c:v>
              </c:pt>
              <c:pt idx="7">
                <c:v>Nepal</c:v>
              </c:pt>
            </c:strLit>
          </c:cat>
          <c:val>
            <c:numLit>
              <c:formatCode>+#,##0;-#,##0;0</c:formatCode>
              <c:ptCount val="8"/>
              <c:pt idx="0">
                <c:v>38626</c:v>
              </c:pt>
              <c:pt idx="1">
                <c:v>8175</c:v>
              </c:pt>
              <c:pt idx="2">
                <c:v>6751</c:v>
              </c:pt>
              <c:pt idx="3">
                <c:v>297</c:v>
              </c:pt>
              <c:pt idx="4">
                <c:v>-2084</c:v>
              </c:pt>
              <c:pt idx="5">
                <c:v>-3168</c:v>
              </c:pt>
              <c:pt idx="6">
                <c:v>-4102</c:v>
              </c:pt>
              <c:pt idx="7">
                <c:v>-4807</c:v>
              </c:pt>
            </c:numLit>
          </c:val>
        </c:ser>
        <c:dLbls>
          <c:txPr>
            <a:bodyPr xmlns:a="http://schemas.openxmlformats.org/drawingml/2006/main" anchorCtr="1"/>
            <a:lstStyle xmlns:a="http://schemas.openxmlformats.org/drawingml/2006/main"/>
            <a:p xmlns:a="http://schemas.openxmlformats.org/drawingml/2006/main">
              <a:pPr>
                <a:defRPr sz="1050" b="1">
                  <a:solidFill>
                    <a:srgbClr val="112735"/>
                  </a:solidFill>
                  <a:latin typeface="Arial"/>
                  <a:ea typeface="Arial"/>
                  <a:cs typeface="Aria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9E3E8"/>
            </a:solidFill>
            <a:prstDash val="solid"/>
          </a:ln>
        </c:spPr>
        <c:txPr>
          <a:bodyPr xmlns:a="http://schemas.openxmlformats.org/drawingml/2006/main" anchorCtr="1"/>
          <a:lstStyle xmlns:a="http://schemas.openxmlformats.org/drawingml/2006/main"/>
          <a:p xmlns:a="http://schemas.openxmlformats.org/drawingml/2006/main">
            <a:pPr>
              <a:defRPr sz="1050">
                <a:solidFill>
                  <a:srgbClr val="5D6B75"/>
                </a:solidFill>
                <a:latin typeface="Arial"/>
                <a:ea typeface="Arial"/>
                <a:cs typeface="Arial"/>
              </a:defRPr>
            </a:pPr>
          </a:p>
        </c:txPr>
        <c:crossAx val="48672768"/>
      </c:catAx>
      <c:valAx>
        <c:axId val="48672768"/>
        <c:scaling>
          <c:orientation val="minMax"/>
          <c:max val="42000"/>
          <c:min val="-10000"/>
        </c:scaling>
        <c:delete val="0"/>
        <c:axPos val="l"/>
        <c:majorGridlines>
          <c:spPr>
            <a:ln xmlns:a="http://schemas.openxmlformats.org/drawingml/2006/main" w="9525">
              <a:solidFill>
                <a:srgbClr val="D9E3E8"/>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5D6B75"/>
                    </a:solidFill>
                    <a:latin typeface="Arial"/>
                    <a:ea typeface="Arial"/>
                    <a:cs typeface="Arial"/>
                  </a:rPr>
                  <a:t>Arrival association per 1 SD increase in global GPR</a:t>
                </a:r>
              </a:p>
            </c:rich>
          </c:tx>
          <c:overlay val="0"/>
          <c:txPr>
            <a:bodyPr xmlns:a="http://schemas.openxmlformats.org/drawingml/2006/main" anchorCtr="1"/>
            <a:lstStyle xmlns:a="http://schemas.openxmlformats.org/drawingml/2006/main"/>
            <a:p xmlns:a="http://schemas.openxmlformats.org/drawingml/2006/main">
              <a:pPr>
                <a:defRPr sz="1050">
                  <a:solidFill>
                    <a:srgbClr val="5D6B75"/>
                  </a:solidFill>
                  <a:latin typeface="Arial"/>
                  <a:ea typeface="Arial"/>
                  <a:cs typeface="Arial"/>
                </a:defRPr>
              </a:pPr>
            </a:p>
          </c:txPr>
        </c:title>
        <c:numFmt formatCode="#,##0;[Red]-#,##0"/>
        <c:majorTickMark val="none"/>
        <c:minorTickMark val="none"/>
        <c:spPr>
          <a:ln xmlns:a="http://schemas.openxmlformats.org/drawingml/2006/main" w="9525">
            <a:solidFill>
              <a:srgbClr val="D9E3E8"/>
            </a:solidFill>
            <a:prstDash val="solid"/>
          </a:ln>
        </c:spPr>
        <c:txPr>
          <a:bodyPr xmlns:a="http://schemas.openxmlformats.org/drawingml/2006/main" anchorCtr="1"/>
          <a:lstStyle xmlns:a="http://schemas.openxmlformats.org/drawingml/2006/main"/>
          <a:p xmlns:a="http://schemas.openxmlformats.org/drawingml/2006/main">
            <a:pPr>
              <a:defRPr sz="975">
                <a:solidFill>
                  <a:srgbClr val="5D6B75"/>
                </a:solidFill>
                <a:latin typeface="Arial"/>
                <a:ea typeface="Arial"/>
                <a:cs typeface="Arial"/>
              </a:defRPr>
            </a:pPr>
          </a:p>
        </c:txPr>
        <c:crossAx val="48650112"/>
        <c:crossBetween val="between"/>
        <c:majorUnit val="10000"/>
      </c:valAx>
    </c:plotArea>
    <c:plotVisOnly val="1"/>
  </c:chart>
</c:chartSpace>
</file>

<file path=ppt/slides/slide1.xml><?xml version="1.0" encoding="utf-8"?>
<p:sld xmlns:p="http://schemas.openxmlformats.org/presentationml/2006/main">
  <p:cSld>
    <p:bg>
      <p:bgPr>
        <a:solidFill xmlns:a="http://schemas.openxmlformats.org/drawingml/2006/main">
          <a:srgbClr val="071B2C"/>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3e5b6c104e0478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A1CEAC-20D1-4B4D-B2A4-C9C0E6F2CD98}"/>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gradFill xmlns:a="http://schemas.openxmlformats.org/drawingml/2006/main">
            <a:gsLst>
              <a:gs pos="0">
                <a:srgbClr val="061624"/>
              </a:gs>
              <a:gs pos="65000">
                <a:srgbClr val="061624">
                  <a:alpha val="92000"/>
                </a:srgbClr>
              </a:gs>
              <a:gs pos="100000">
                <a:srgbClr val="061624">
                  <a:alpha val="30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75FF5D7-9AD0-4F70-B6E5-42880D97A59A}"/>
              </a:ext>
            </a:extLst>
          </p:cNvPr>
          <p:cNvSpPr>
            <a:spLocks xmlns:a="http://schemas.openxmlformats.org/drawingml/2006/main" noGrp="1"/>
          </p:cNvSpPr>
          <p:nvPr/>
        </p:nvSpPr>
        <p:spPr>
          <a:xfrm xmlns:a="http://schemas.openxmlformats.org/drawingml/2006/main">
            <a:off x="685800" y="6096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40D4E3"/>
                </a:solidFill>
                <a:latin typeface="Arial"/>
                <a:ea typeface="Arial"/>
                <a:cs typeface="Arial"/>
              </a:defRPr>
            </a:pPr>
            <a:r>
              <a:rPr sz="1350" b="1">
                <a:solidFill>
                  <a:srgbClr val="40D4E3"/>
                </a:solidFill>
                <a:latin typeface="Arial"/>
                <a:ea typeface="Arial"/>
                <a:cs typeface="Arial"/>
              </a:rPr>
              <a:t>DOSM DATATHON 2026</a:t>
            </a:r>
          </a:p>
        </p:txBody>
      </p:sp>
      <p:sp>
        <p:nvSpPr>
          <p:cNvPr id="4" name="">
            <a:extLst xmlns:a="http://schemas.openxmlformats.org/drawingml/2006/main">
              <a:ext uri="{FF2B5EF4-FFF2-40B4-BE49-F238E27FC236}">
                <a16:creationId xmlns:a16="http://schemas.microsoft.com/office/drawing/2014/main" id="{DAB772C1-06D1-4D66-B7F0-4A3D51A28D65}"/>
              </a:ext>
            </a:extLst>
          </p:cNvPr>
          <p:cNvSpPr>
            <a:spLocks xmlns:a="http://schemas.openxmlformats.org/drawingml/2006/main" noGrp="1"/>
          </p:cNvSpPr>
          <p:nvPr/>
        </p:nvSpPr>
        <p:spPr>
          <a:xfrm xmlns:a="http://schemas.openxmlformats.org/drawingml/2006/main">
            <a:off x="685800" y="1238250"/>
            <a:ext cx="5429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Geopolitical Risk and</a:t>
            </a:r>
          </a:p>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International Tourism</a:t>
            </a:r>
          </a:p>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Demand in Malaysia</a:t>
            </a:r>
          </a:p>
        </p:txBody>
      </p:sp>
      <p:sp>
        <p:nvSpPr>
          <p:cNvPr id="5" name="">
            <a:extLst xmlns:a="http://schemas.openxmlformats.org/drawingml/2006/main">
              <a:ext uri="{FF2B5EF4-FFF2-40B4-BE49-F238E27FC236}">
                <a16:creationId xmlns:a16="http://schemas.microsoft.com/office/drawing/2014/main" id="{686D77A1-DA5C-4562-8972-7F55780DBBFD}"/>
              </a:ext>
            </a:extLst>
          </p:cNvPr>
          <p:cNvSpPr>
            <a:spLocks xmlns:a="http://schemas.openxmlformats.org/drawingml/2006/main" noGrp="1"/>
          </p:cNvSpPr>
          <p:nvPr/>
        </p:nvSpPr>
        <p:spPr>
          <a:xfrm xmlns:a="http://schemas.openxmlformats.org/drawingml/2006/main">
            <a:off x="723900" y="3829050"/>
            <a:ext cx="476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D8E9F2"/>
                </a:solidFill>
                <a:latin typeface="Arial"/>
                <a:ea typeface="Arial"/>
                <a:cs typeface="Arial"/>
              </a:defRPr>
            </a:pPr>
            <a:r>
              <a:rPr sz="1800" b="0">
                <a:solidFill>
                  <a:srgbClr val="D8E9F2"/>
                </a:solidFill>
                <a:latin typeface="Arial"/>
                <a:ea typeface="Arial"/>
                <a:cs typeface="Arial"/>
              </a:rPr>
              <a:t>A machine learning forecasting framework for 20 source markets</a:t>
            </a:r>
          </a:p>
        </p:txBody>
      </p:sp>
      <p:sp>
        <p:nvSpPr>
          <p:cNvPr id="6" name="">
            <a:extLst xmlns:a="http://schemas.openxmlformats.org/drawingml/2006/main">
              <a:ext uri="{FF2B5EF4-FFF2-40B4-BE49-F238E27FC236}">
                <a16:creationId xmlns:a16="http://schemas.microsoft.com/office/drawing/2014/main" id="{FDA65362-0A80-4679-950F-4E9B97A341CB}"/>
              </a:ext>
            </a:extLst>
          </p:cNvPr>
          <p:cNvSpPr>
            <a:spLocks xmlns:a="http://schemas.openxmlformats.org/drawingml/2006/main" noGrp="1"/>
          </p:cNvSpPr>
          <p:nvPr/>
        </p:nvSpPr>
        <p:spPr>
          <a:xfrm xmlns:a="http://schemas.openxmlformats.org/drawingml/2006/main">
            <a:off x="723900" y="4705350"/>
            <a:ext cx="952500" cy="0"/>
          </a:xfrm>
          <a:prstGeom xmlns:a="http://schemas.openxmlformats.org/drawingml/2006/main" prst="line">
            <a:avLst/>
          </a:prstGeom>
          <a:noFill xmlns:a="http://schemas.openxmlformats.org/drawingml/2006/main"/>
          <a:ln xmlns:a="http://schemas.openxmlformats.org/drawingml/2006/main" w="38100">
            <a:solidFill>
              <a:srgbClr val="F2B84B"/>
            </a:solidFill>
            <a:prstDash val="solid"/>
          </a:ln>
        </p:spPr>
      </p:sp>
      <p:sp>
        <p:nvSpPr>
          <p:cNvPr id="7" name="">
            <a:extLst xmlns:a="http://schemas.openxmlformats.org/drawingml/2006/main">
              <a:ext uri="{FF2B5EF4-FFF2-40B4-BE49-F238E27FC236}">
                <a16:creationId xmlns:a16="http://schemas.microsoft.com/office/drawing/2014/main" id="{40D2DE43-76C0-4EF4-A01B-B2B983176C35}"/>
              </a:ext>
            </a:extLst>
          </p:cNvPr>
          <p:cNvSpPr>
            <a:spLocks xmlns:a="http://schemas.openxmlformats.org/drawingml/2006/main" noGrp="1"/>
          </p:cNvSpPr>
          <p:nvPr/>
        </p:nvSpPr>
        <p:spPr>
          <a:xfrm xmlns:a="http://schemas.openxmlformats.org/drawingml/2006/main">
            <a:off x="723900" y="49720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TEAM NEXORA</a:t>
            </a:r>
          </a:p>
        </p:txBody>
      </p:sp>
      <p:sp>
        <p:nvSpPr>
          <p:cNvPr id="8" name="">
            <a:extLst xmlns:a="http://schemas.openxmlformats.org/drawingml/2006/main">
              <a:ext uri="{FF2B5EF4-FFF2-40B4-BE49-F238E27FC236}">
                <a16:creationId xmlns:a16="http://schemas.microsoft.com/office/drawing/2014/main" id="{4F944F2E-BA4B-4F19-9EBF-0D1F6F8C5161}"/>
              </a:ext>
            </a:extLst>
          </p:cNvPr>
          <p:cNvSpPr>
            <a:spLocks xmlns:a="http://schemas.openxmlformats.org/drawingml/2006/main" noGrp="1"/>
          </p:cNvSpPr>
          <p:nvPr/>
        </p:nvSpPr>
        <p:spPr>
          <a:xfrm xmlns:a="http://schemas.openxmlformats.org/drawingml/2006/main">
            <a:off x="723900" y="5314950"/>
            <a:ext cx="5381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D8E9F2"/>
                </a:solidFill>
                <a:latin typeface="Arial"/>
                <a:ea typeface="Arial"/>
                <a:cs typeface="Arial"/>
              </a:defRPr>
            </a:pPr>
            <a:r>
              <a:rPr sz="1350" b="0">
                <a:solidFill>
                  <a:srgbClr val="D8E9F2"/>
                </a:solidFill>
                <a:latin typeface="Arial"/>
                <a:ea typeface="Arial"/>
                <a:cs typeface="Arial"/>
              </a:rPr>
              <a:t>Chin William, Tang Xin Yi, Janis Ong Jing Yao, Tee Xin Yee</a:t>
            </a:r>
          </a:p>
        </p:txBody>
      </p:sp>
      <p:sp>
        <p:nvSpPr>
          <p:cNvPr id="9" name="">
            <a:extLst xmlns:a="http://schemas.openxmlformats.org/drawingml/2006/main">
              <a:ext uri="{FF2B5EF4-FFF2-40B4-BE49-F238E27FC236}">
                <a16:creationId xmlns:a16="http://schemas.microsoft.com/office/drawing/2014/main" id="{737CD4F5-99A1-4152-B0C4-D953DD81A43B}"/>
              </a:ext>
            </a:extLst>
          </p:cNvPr>
          <p:cNvSpPr>
            <a:spLocks xmlns:a="http://schemas.openxmlformats.org/drawingml/2006/main" noGrp="1"/>
          </p:cNvSpPr>
          <p:nvPr/>
        </p:nvSpPr>
        <p:spPr>
          <a:xfrm xmlns:a="http://schemas.openxmlformats.org/drawingml/2006/main">
            <a:off x="723900" y="59245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B9CFDB"/>
                </a:solidFill>
                <a:latin typeface="Arial"/>
                <a:ea typeface="Arial"/>
                <a:cs typeface="Arial"/>
              </a:defRPr>
            </a:pPr>
            <a:r>
              <a:rPr sz="1200" b="0">
                <a:solidFill>
                  <a:srgbClr val="B9CFDB"/>
                </a:solidFill>
                <a:latin typeface="Arial"/>
                <a:ea typeface="Arial"/>
                <a:cs typeface="Arial"/>
              </a:rPr>
              <a:t>Guided by Dr. Kelwin Tan Seen Tiong</a:t>
            </a:r>
          </a:p>
        </p:txBody>
      </p:sp>
    </p:spTree>
    <p:extLst>
      <p:ext uri="{BB962C8B-B14F-4D97-AF65-F5344CB8AC3E}">
        <p14:creationId xmlns:p14="http://schemas.microsoft.com/office/powerpoint/2010/main" val="1174984728"/>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3" name="title-2">
            <a:extLst xmlns:a="http://schemas.openxmlformats.org/drawingml/2006/main">
              <a:ext uri="{FF2B5EF4-FFF2-40B4-BE49-F238E27FC236}">
                <a16:creationId xmlns:a16="http://schemas.microsoft.com/office/drawing/2014/main" id="{B4E90CCA-5B19-488A-8809-0B73A6A1108D}"/>
              </a:ext>
            </a:extLst>
          </p:cNvPr>
          <p:cNvSpPr>
            <a:spLocks xmlns:a="http://schemas.openxmlformats.org/drawingml/2006/main" noGrp="1"/>
          </p:cNvSpPr>
          <p:nvPr/>
        </p:nvSpPr>
        <p:spPr>
          <a:xfrm xmlns:a="http://schemas.openxmlformats.org/drawingml/2006/main">
            <a:off x="685800" y="4381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735"/>
                </a:solidFill>
                <a:latin typeface="Arial"/>
                <a:ea typeface="Arial"/>
                <a:cs typeface="Arial"/>
              </a:defRPr>
            </a:pPr>
            <a:r>
              <a:rPr sz="3300" b="1">
                <a:solidFill>
                  <a:srgbClr val="112735"/>
                </a:solidFill>
                <a:latin typeface="Arial"/>
                <a:ea typeface="Arial"/>
                <a:cs typeface="Arial"/>
              </a:rPr>
              <a:t>The planning gap is market-level visibility</a:t>
            </a:r>
          </a:p>
        </p:txBody>
      </p:sp>
      <p:sp>
        <p:nvSpPr>
          <p:cNvPr id="2" name="">
            <a:extLst xmlns:a="http://schemas.openxmlformats.org/drawingml/2006/main">
              <a:ext uri="{FF2B5EF4-FFF2-40B4-BE49-F238E27FC236}">
                <a16:creationId xmlns:a16="http://schemas.microsoft.com/office/drawing/2014/main" id="{DAC97737-DD2A-47FD-9EE7-25F668589B87}"/>
              </a:ext>
            </a:extLst>
          </p:cNvPr>
          <p:cNvSpPr>
            <a:spLocks xmlns:a="http://schemas.openxmlformats.org/drawingml/2006/main" noGrp="1"/>
          </p:cNvSpPr>
          <p:nvPr/>
        </p:nvSpPr>
        <p:spPr>
          <a:xfrm xmlns:a="http://schemas.openxmlformats.org/drawingml/2006/main">
            <a:off x="11191875" y="5143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009E9A"/>
                </a:solidFill>
                <a:latin typeface="Arial"/>
                <a:ea typeface="Arial"/>
                <a:cs typeface="Arial"/>
              </a:defRPr>
            </a:pPr>
            <a:r>
              <a:rPr sz="1200" b="1">
                <a:solidFill>
                  <a:srgbClr val="009E9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F358AFB-33B7-4DE4-BD10-1A1062B44DB3}"/>
              </a:ext>
            </a:extLst>
          </p:cNvPr>
          <p:cNvSpPr>
            <a:spLocks xmlns:a="http://schemas.openxmlformats.org/drawingml/2006/main" noGrp="1"/>
          </p:cNvSpPr>
          <p:nvPr/>
        </p:nvSpPr>
        <p:spPr>
          <a:xfrm xmlns:a="http://schemas.openxmlformats.org/drawingml/2006/main">
            <a:off x="685800" y="1066800"/>
            <a:ext cx="914400" cy="0"/>
          </a:xfrm>
          <a:prstGeom xmlns:a="http://schemas.openxmlformats.org/drawingml/2006/main" prst="line">
            <a:avLst/>
          </a:prstGeom>
          <a:noFill xmlns:a="http://schemas.openxmlformats.org/drawingml/2006/main"/>
          <a:ln xmlns:a="http://schemas.openxmlformats.org/drawingml/2006/main" w="38100">
            <a:solidFill>
              <a:srgbClr val="009E9A"/>
            </a:solidFill>
            <a:prstDash val="solid"/>
          </a:ln>
        </p:spPr>
      </p:sp>
      <p:sp>
        <p:nvSpPr>
          <p:cNvPr id="4" name="">
            <a:extLst xmlns:a="http://schemas.openxmlformats.org/drawingml/2006/main">
              <a:ext uri="{FF2B5EF4-FFF2-40B4-BE49-F238E27FC236}">
                <a16:creationId xmlns:a16="http://schemas.microsoft.com/office/drawing/2014/main" id="{CD847F56-B619-4061-BFA6-DD47EFBDC549}"/>
              </a:ext>
            </a:extLst>
          </p:cNvPr>
          <p:cNvSpPr>
            <a:spLocks xmlns:a="http://schemas.openxmlformats.org/drawingml/2006/main" noGrp="1"/>
          </p:cNvSpPr>
          <p:nvPr/>
        </p:nvSpPr>
        <p:spPr>
          <a:xfrm xmlns:a="http://schemas.openxmlformats.org/drawingml/2006/main">
            <a:off x="685800" y="1428750"/>
            <a:ext cx="76200" cy="1257300"/>
          </a:xfrm>
          <a:prstGeom xmlns:a="http://schemas.openxmlformats.org/drawingml/2006/main" prst="rect">
            <a:avLst/>
          </a:prstGeom>
          <a:solidFill xmlns:a="http://schemas.openxmlformats.org/drawingml/2006/main">
            <a:srgbClr val="009E9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D380E1F-C400-42D8-BEC8-12D6B2174A43}"/>
              </a:ext>
            </a:extLst>
          </p:cNvPr>
          <p:cNvSpPr>
            <a:spLocks xmlns:a="http://schemas.openxmlformats.org/drawingml/2006/main" noGrp="1"/>
          </p:cNvSpPr>
          <p:nvPr/>
        </p:nvSpPr>
        <p:spPr>
          <a:xfrm xmlns:a="http://schemas.openxmlformats.org/drawingml/2006/main">
            <a:off x="990600" y="1381125"/>
            <a:ext cx="51911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71B2C"/>
                </a:solidFill>
                <a:latin typeface="Arial"/>
                <a:ea typeface="Arial"/>
                <a:cs typeface="Arial"/>
              </a:defRPr>
            </a:pPr>
            <a:r>
              <a:rPr sz="2550" b="1">
                <a:solidFill>
                  <a:srgbClr val="071B2C"/>
                </a:solidFill>
                <a:latin typeface="Arial"/>
                <a:ea typeface="Arial"/>
                <a:cs typeface="Arial"/>
              </a:rPr>
              <a:t>How does geopolitical risk affect tourism demand in Malaysia?</a:t>
            </a:r>
          </a:p>
        </p:txBody>
      </p:sp>
      <p:sp>
        <p:nvSpPr>
          <p:cNvPr id="6" name="">
            <a:extLst xmlns:a="http://schemas.openxmlformats.org/drawingml/2006/main">
              <a:ext uri="{FF2B5EF4-FFF2-40B4-BE49-F238E27FC236}">
                <a16:creationId xmlns:a16="http://schemas.microsoft.com/office/drawing/2014/main" id="{F61CE382-ABFF-4013-8AD0-985B68093A8C}"/>
              </a:ext>
            </a:extLst>
          </p:cNvPr>
          <p:cNvSpPr>
            <a:spLocks xmlns:a="http://schemas.openxmlformats.org/drawingml/2006/main" noGrp="1"/>
          </p:cNvSpPr>
          <p:nvPr/>
        </p:nvSpPr>
        <p:spPr>
          <a:xfrm xmlns:a="http://schemas.openxmlformats.org/drawingml/2006/main">
            <a:off x="990600" y="2476500"/>
            <a:ext cx="504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D6B75"/>
                </a:solidFill>
                <a:latin typeface="Arial"/>
                <a:ea typeface="Arial"/>
                <a:cs typeface="Arial"/>
              </a:defRPr>
            </a:pPr>
            <a:r>
              <a:rPr sz="1650" b="0">
                <a:solidFill>
                  <a:srgbClr val="5D6B75"/>
                </a:solidFill>
                <a:latin typeface="Arial"/>
                <a:ea typeface="Arial"/>
                <a:cs typeface="Arial"/>
              </a:rPr>
              <a:t>National totals can hide source markets that move in different directions, limiting the lead time for marketing, capacity and workforce decisions.</a:t>
            </a:r>
          </a:p>
        </p:txBody>
      </p:sp>
      <p:sp>
        <p:nvSpPr>
          <p:cNvPr id="7" name="">
            <a:extLst xmlns:a="http://schemas.openxmlformats.org/drawingml/2006/main">
              <a:ext uri="{FF2B5EF4-FFF2-40B4-BE49-F238E27FC236}">
                <a16:creationId xmlns:a16="http://schemas.microsoft.com/office/drawing/2014/main" id="{0898932F-7A18-43F1-BE25-66B61FA17652}"/>
              </a:ext>
            </a:extLst>
          </p:cNvPr>
          <p:cNvSpPr>
            <a:spLocks xmlns:a="http://schemas.openxmlformats.org/drawingml/2006/main" noGrp="1"/>
          </p:cNvSpPr>
          <p:nvPr/>
        </p:nvSpPr>
        <p:spPr>
          <a:xfrm xmlns:a="http://schemas.openxmlformats.org/drawingml/2006/main">
            <a:off x="742950" y="39433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148AF2"/>
                </a:solidFill>
                <a:latin typeface="Arial"/>
                <a:ea typeface="Arial"/>
                <a:cs typeface="Arial"/>
              </a:defRPr>
            </a:pPr>
            <a:r>
              <a:rPr sz="4950" b="1">
                <a:solidFill>
                  <a:srgbClr val="148AF2"/>
                </a:solidFill>
                <a:latin typeface="Arial"/>
                <a:ea typeface="Arial"/>
                <a:cs typeface="Arial"/>
              </a:rPr>
              <a:t>15.9%</a:t>
            </a:r>
          </a:p>
        </p:txBody>
      </p:sp>
      <p:sp>
        <p:nvSpPr>
          <p:cNvPr id="8" name="">
            <a:extLst xmlns:a="http://schemas.openxmlformats.org/drawingml/2006/main">
              <a:ext uri="{FF2B5EF4-FFF2-40B4-BE49-F238E27FC236}">
                <a16:creationId xmlns:a16="http://schemas.microsoft.com/office/drawing/2014/main" id="{3464CB06-9AF0-4423-83B5-37428770081E}"/>
              </a:ext>
            </a:extLst>
          </p:cNvPr>
          <p:cNvSpPr>
            <a:spLocks xmlns:a="http://schemas.openxmlformats.org/drawingml/2006/main" noGrp="1"/>
          </p:cNvSpPr>
          <p:nvPr/>
        </p:nvSpPr>
        <p:spPr>
          <a:xfrm xmlns:a="http://schemas.openxmlformats.org/drawingml/2006/main">
            <a:off x="781050" y="4810125"/>
            <a:ext cx="22383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D6B75"/>
                </a:solidFill>
                <a:latin typeface="Arial"/>
                <a:ea typeface="Arial"/>
                <a:cs typeface="Arial"/>
              </a:defRPr>
            </a:pPr>
            <a:r>
              <a:rPr sz="1500" b="0">
                <a:solidFill>
                  <a:srgbClr val="5D6B75"/>
                </a:solidFill>
                <a:latin typeface="Arial"/>
                <a:ea typeface="Arial"/>
                <a:cs typeface="Arial"/>
              </a:rPr>
              <a:t>of GDP from tourism industries in 2025</a:t>
            </a:r>
          </a:p>
        </p:txBody>
      </p:sp>
      <p:sp>
        <p:nvSpPr>
          <p:cNvPr id="9" name="">
            <a:extLst xmlns:a="http://schemas.openxmlformats.org/drawingml/2006/main">
              <a:ext uri="{FF2B5EF4-FFF2-40B4-BE49-F238E27FC236}">
                <a16:creationId xmlns:a16="http://schemas.microsoft.com/office/drawing/2014/main" id="{68D711F4-B5CF-4133-A26E-A81BD04DF3CC}"/>
              </a:ext>
            </a:extLst>
          </p:cNvPr>
          <p:cNvSpPr>
            <a:spLocks xmlns:a="http://schemas.openxmlformats.org/drawingml/2006/main" noGrp="1"/>
          </p:cNvSpPr>
          <p:nvPr/>
        </p:nvSpPr>
        <p:spPr>
          <a:xfrm xmlns:a="http://schemas.openxmlformats.org/drawingml/2006/main">
            <a:off x="3429000" y="3943350"/>
            <a:ext cx="1952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9E9A"/>
                </a:solidFill>
                <a:latin typeface="Arial"/>
                <a:ea typeface="Arial"/>
                <a:cs typeface="Arial"/>
              </a:defRPr>
            </a:pPr>
            <a:r>
              <a:rPr sz="4950" b="1">
                <a:solidFill>
                  <a:srgbClr val="009E9A"/>
                </a:solidFill>
                <a:latin typeface="Arial"/>
                <a:ea typeface="Arial"/>
                <a:cs typeface="Arial"/>
              </a:rPr>
              <a:t>3.7M</a:t>
            </a:r>
          </a:p>
        </p:txBody>
      </p:sp>
      <p:sp>
        <p:nvSpPr>
          <p:cNvPr id="10" name="">
            <a:extLst xmlns:a="http://schemas.openxmlformats.org/drawingml/2006/main">
              <a:ext uri="{FF2B5EF4-FFF2-40B4-BE49-F238E27FC236}">
                <a16:creationId xmlns:a16="http://schemas.microsoft.com/office/drawing/2014/main" id="{A50304AA-7B76-4618-A460-D6A6664B8B3F}"/>
              </a:ext>
            </a:extLst>
          </p:cNvPr>
          <p:cNvSpPr>
            <a:spLocks xmlns:a="http://schemas.openxmlformats.org/drawingml/2006/main" noGrp="1"/>
          </p:cNvSpPr>
          <p:nvPr/>
        </p:nvSpPr>
        <p:spPr>
          <a:xfrm xmlns:a="http://schemas.openxmlformats.org/drawingml/2006/main">
            <a:off x="3467100" y="4810125"/>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D6B75"/>
                </a:solidFill>
                <a:latin typeface="Arial"/>
                <a:ea typeface="Arial"/>
                <a:cs typeface="Arial"/>
              </a:defRPr>
            </a:pPr>
            <a:r>
              <a:rPr sz="1500" b="0">
                <a:solidFill>
                  <a:srgbClr val="5D6B75"/>
                </a:solidFill>
                <a:latin typeface="Arial"/>
                <a:ea typeface="Arial"/>
                <a:cs typeface="Arial"/>
              </a:rPr>
              <a:t>tourism-related jobs in 2025</a:t>
            </a:r>
          </a:p>
        </p:txBody>
      </p:sp>
      <p:sp>
        <p:nvSpPr>
          <p:cNvPr id="11" name="">
            <a:extLst xmlns:a="http://schemas.openxmlformats.org/drawingml/2006/main">
              <a:ext uri="{FF2B5EF4-FFF2-40B4-BE49-F238E27FC236}">
                <a16:creationId xmlns:a16="http://schemas.microsoft.com/office/drawing/2014/main" id="{1DACC8FA-5F5A-4609-8324-D92F7A079C70}"/>
              </a:ext>
            </a:extLst>
          </p:cNvPr>
          <p:cNvSpPr>
            <a:spLocks xmlns:a="http://schemas.openxmlformats.org/drawingml/2006/main" noGrp="1"/>
          </p:cNvSpPr>
          <p:nvPr/>
        </p:nvSpPr>
        <p:spPr>
          <a:xfrm xmlns:a="http://schemas.openxmlformats.org/drawingml/2006/main">
            <a:off x="6858000" y="1409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09E9A"/>
                </a:solidFill>
                <a:latin typeface="Arial"/>
                <a:ea typeface="Arial"/>
                <a:cs typeface="Arial"/>
              </a:defRPr>
            </a:pPr>
            <a:r>
              <a:rPr sz="1350" b="1">
                <a:solidFill>
                  <a:srgbClr val="009E9A"/>
                </a:solidFill>
                <a:latin typeface="Arial"/>
                <a:ea typeface="Arial"/>
                <a:cs typeface="Arial"/>
              </a:rPr>
              <a:t>RESEARCH OBJECTIVES</a:t>
            </a:r>
          </a:p>
        </p:txBody>
      </p:sp>
      <p:sp>
        <p:nvSpPr>
          <p:cNvPr id="12" name="">
            <a:extLst xmlns:a="http://schemas.openxmlformats.org/drawingml/2006/main">
              <a:ext uri="{FF2B5EF4-FFF2-40B4-BE49-F238E27FC236}">
                <a16:creationId xmlns:a16="http://schemas.microsoft.com/office/drawing/2014/main" id="{396F4E69-0E16-45A5-B79F-A8FBAAE2405F}"/>
              </a:ext>
            </a:extLst>
          </p:cNvPr>
          <p:cNvSpPr>
            <a:spLocks xmlns:a="http://schemas.openxmlformats.org/drawingml/2006/main" noGrp="1"/>
          </p:cNvSpPr>
          <p:nvPr/>
        </p:nvSpPr>
        <p:spPr>
          <a:xfrm xmlns:a="http://schemas.openxmlformats.org/drawingml/2006/main">
            <a:off x="6858000" y="1952625"/>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8AF2"/>
                </a:solidFill>
                <a:latin typeface="Arial"/>
                <a:ea typeface="Arial"/>
                <a:cs typeface="Arial"/>
              </a:defRPr>
            </a:pPr>
            <a:r>
              <a:rPr sz="1950" b="1">
                <a:solidFill>
                  <a:srgbClr val="148AF2"/>
                </a:solidFill>
                <a:latin typeface="Arial"/>
                <a:ea typeface="Arial"/>
                <a:cs typeface="Arial"/>
              </a:rPr>
              <a:t>01</a:t>
            </a:r>
          </a:p>
        </p:txBody>
      </p:sp>
      <p:sp>
        <p:nvSpPr>
          <p:cNvPr id="13" name="">
            <a:extLst xmlns:a="http://schemas.openxmlformats.org/drawingml/2006/main">
              <a:ext uri="{FF2B5EF4-FFF2-40B4-BE49-F238E27FC236}">
                <a16:creationId xmlns:a16="http://schemas.microsoft.com/office/drawing/2014/main" id="{1306E795-B544-404C-870F-EFD510F16757}"/>
              </a:ext>
            </a:extLst>
          </p:cNvPr>
          <p:cNvSpPr>
            <a:spLocks xmlns:a="http://schemas.openxmlformats.org/drawingml/2006/main" noGrp="1"/>
          </p:cNvSpPr>
          <p:nvPr/>
        </p:nvSpPr>
        <p:spPr>
          <a:xfrm xmlns:a="http://schemas.openxmlformats.org/drawingml/2006/main">
            <a:off x="7620000" y="1952625"/>
            <a:ext cx="3476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2735"/>
                </a:solidFill>
                <a:latin typeface="Arial"/>
                <a:ea typeface="Arial"/>
                <a:cs typeface="Arial"/>
              </a:defRPr>
            </a:pPr>
            <a:r>
              <a:rPr sz="1950" b="1">
                <a:solidFill>
                  <a:srgbClr val="112735"/>
                </a:solidFill>
                <a:latin typeface="Arial"/>
                <a:ea typeface="Arial"/>
                <a:cs typeface="Arial"/>
              </a:rPr>
              <a:t>Traceable data</a:t>
            </a:r>
          </a:p>
        </p:txBody>
      </p:sp>
      <p:sp>
        <p:nvSpPr>
          <p:cNvPr id="14" name="">
            <a:extLst xmlns:a="http://schemas.openxmlformats.org/drawingml/2006/main">
              <a:ext uri="{FF2B5EF4-FFF2-40B4-BE49-F238E27FC236}">
                <a16:creationId xmlns:a16="http://schemas.microsoft.com/office/drawing/2014/main" id="{9C8F9557-2831-4D78-A377-24DE19751C81}"/>
              </a:ext>
            </a:extLst>
          </p:cNvPr>
          <p:cNvSpPr>
            <a:spLocks xmlns:a="http://schemas.openxmlformats.org/drawingml/2006/main" noGrp="1"/>
          </p:cNvSpPr>
          <p:nvPr/>
        </p:nvSpPr>
        <p:spPr>
          <a:xfrm xmlns:a="http://schemas.openxmlformats.org/drawingml/2006/main">
            <a:off x="7620000" y="2352675"/>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D6B75"/>
                </a:solidFill>
                <a:latin typeface="Arial"/>
                <a:ea typeface="Arial"/>
                <a:cs typeface="Arial"/>
              </a:defRPr>
            </a:pPr>
            <a:r>
              <a:rPr sz="1500" b="0">
                <a:solidFill>
                  <a:srgbClr val="5D6B75"/>
                </a:solidFill>
                <a:latin typeface="Arial"/>
                <a:ea typeface="Arial"/>
                <a:cs typeface="Arial"/>
              </a:rPr>
              <a:t>Integrate arrivals with exchange rates, energy prices and geopolitical risk.</a:t>
            </a:r>
          </a:p>
        </p:txBody>
      </p:sp>
      <p:sp>
        <p:nvSpPr>
          <p:cNvPr id="15" name="">
            <a:extLst xmlns:a="http://schemas.openxmlformats.org/drawingml/2006/main">
              <a:ext uri="{FF2B5EF4-FFF2-40B4-BE49-F238E27FC236}">
                <a16:creationId xmlns:a16="http://schemas.microsoft.com/office/drawing/2014/main" id="{6688FB09-8B8D-4B48-92A0-3EEA64B2183A}"/>
              </a:ext>
            </a:extLst>
          </p:cNvPr>
          <p:cNvSpPr>
            <a:spLocks xmlns:a="http://schemas.openxmlformats.org/drawingml/2006/main" noGrp="1"/>
          </p:cNvSpPr>
          <p:nvPr/>
        </p:nvSpPr>
        <p:spPr>
          <a:xfrm xmlns:a="http://schemas.openxmlformats.org/drawingml/2006/main">
            <a:off x="7620000" y="3076575"/>
            <a:ext cx="371475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16" name="">
            <a:extLst xmlns:a="http://schemas.openxmlformats.org/drawingml/2006/main">
              <a:ext uri="{FF2B5EF4-FFF2-40B4-BE49-F238E27FC236}">
                <a16:creationId xmlns:a16="http://schemas.microsoft.com/office/drawing/2014/main" id="{0E0B21C6-35BF-4B41-9447-B33DF859D2C4}"/>
              </a:ext>
            </a:extLst>
          </p:cNvPr>
          <p:cNvSpPr>
            <a:spLocks xmlns:a="http://schemas.openxmlformats.org/drawingml/2006/main" noGrp="1"/>
          </p:cNvSpPr>
          <p:nvPr/>
        </p:nvSpPr>
        <p:spPr>
          <a:xfrm xmlns:a="http://schemas.openxmlformats.org/drawingml/2006/main">
            <a:off x="6858000" y="3267075"/>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8AF2"/>
                </a:solidFill>
                <a:latin typeface="Arial"/>
                <a:ea typeface="Arial"/>
                <a:cs typeface="Arial"/>
              </a:defRPr>
            </a:pPr>
            <a:r>
              <a:rPr sz="1950" b="1">
                <a:solidFill>
                  <a:srgbClr val="148AF2"/>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FE1A58B9-A7CD-4C79-A74A-A4C64960F922}"/>
              </a:ext>
            </a:extLst>
          </p:cNvPr>
          <p:cNvSpPr>
            <a:spLocks xmlns:a="http://schemas.openxmlformats.org/drawingml/2006/main" noGrp="1"/>
          </p:cNvSpPr>
          <p:nvPr/>
        </p:nvSpPr>
        <p:spPr>
          <a:xfrm xmlns:a="http://schemas.openxmlformats.org/drawingml/2006/main">
            <a:off x="7620000" y="3267075"/>
            <a:ext cx="3476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2735"/>
                </a:solidFill>
                <a:latin typeface="Arial"/>
                <a:ea typeface="Arial"/>
                <a:cs typeface="Arial"/>
              </a:defRPr>
            </a:pPr>
            <a:r>
              <a:rPr sz="1950" b="1">
                <a:solidFill>
                  <a:srgbClr val="112735"/>
                </a:solidFill>
                <a:latin typeface="Arial"/>
                <a:ea typeface="Arial"/>
                <a:cs typeface="Arial"/>
              </a:rPr>
              <a:t>Short-term forecasting</a:t>
            </a:r>
          </a:p>
        </p:txBody>
      </p:sp>
      <p:sp>
        <p:nvSpPr>
          <p:cNvPr id="18" name="">
            <a:extLst xmlns:a="http://schemas.openxmlformats.org/drawingml/2006/main">
              <a:ext uri="{FF2B5EF4-FFF2-40B4-BE49-F238E27FC236}">
                <a16:creationId xmlns:a16="http://schemas.microsoft.com/office/drawing/2014/main" id="{887EFA66-02A4-4FC1-A7D9-399B1D873532}"/>
              </a:ext>
            </a:extLst>
          </p:cNvPr>
          <p:cNvSpPr>
            <a:spLocks xmlns:a="http://schemas.openxmlformats.org/drawingml/2006/main" noGrp="1"/>
          </p:cNvSpPr>
          <p:nvPr/>
        </p:nvSpPr>
        <p:spPr>
          <a:xfrm xmlns:a="http://schemas.openxmlformats.org/drawingml/2006/main">
            <a:off x="7620000" y="3667125"/>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D6B75"/>
                </a:solidFill>
                <a:latin typeface="Arial"/>
                <a:ea typeface="Arial"/>
                <a:cs typeface="Arial"/>
              </a:defRPr>
            </a:pPr>
            <a:r>
              <a:rPr sz="1500" b="0">
                <a:solidFill>
                  <a:srgbClr val="5D6B75"/>
                </a:solidFill>
                <a:latin typeface="Arial"/>
                <a:ea typeface="Arial"/>
                <a:cs typeface="Arial"/>
              </a:rPr>
              <a:t>Predict each source market one to four months ahead.</a:t>
            </a:r>
          </a:p>
        </p:txBody>
      </p:sp>
      <p:sp>
        <p:nvSpPr>
          <p:cNvPr id="19" name="">
            <a:extLst xmlns:a="http://schemas.openxmlformats.org/drawingml/2006/main">
              <a:ext uri="{FF2B5EF4-FFF2-40B4-BE49-F238E27FC236}">
                <a16:creationId xmlns:a16="http://schemas.microsoft.com/office/drawing/2014/main" id="{46317B25-E032-41EB-B149-50F1B26C6F93}"/>
              </a:ext>
            </a:extLst>
          </p:cNvPr>
          <p:cNvSpPr>
            <a:spLocks xmlns:a="http://schemas.openxmlformats.org/drawingml/2006/main" noGrp="1"/>
          </p:cNvSpPr>
          <p:nvPr/>
        </p:nvSpPr>
        <p:spPr>
          <a:xfrm xmlns:a="http://schemas.openxmlformats.org/drawingml/2006/main">
            <a:off x="7620000" y="4391025"/>
            <a:ext cx="371475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20" name="">
            <a:extLst xmlns:a="http://schemas.openxmlformats.org/drawingml/2006/main">
              <a:ext uri="{FF2B5EF4-FFF2-40B4-BE49-F238E27FC236}">
                <a16:creationId xmlns:a16="http://schemas.microsoft.com/office/drawing/2014/main" id="{BE76007A-0C5C-4AAC-A987-62E7A660EAEF}"/>
              </a:ext>
            </a:extLst>
          </p:cNvPr>
          <p:cNvSpPr>
            <a:spLocks xmlns:a="http://schemas.openxmlformats.org/drawingml/2006/main" noGrp="1"/>
          </p:cNvSpPr>
          <p:nvPr/>
        </p:nvSpPr>
        <p:spPr>
          <a:xfrm xmlns:a="http://schemas.openxmlformats.org/drawingml/2006/main">
            <a:off x="6858000" y="4581525"/>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48AF2"/>
                </a:solidFill>
                <a:latin typeface="Arial"/>
                <a:ea typeface="Arial"/>
                <a:cs typeface="Arial"/>
              </a:defRPr>
            </a:pPr>
            <a:r>
              <a:rPr sz="1950" b="1">
                <a:solidFill>
                  <a:srgbClr val="148AF2"/>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4DB92203-92BA-4629-96A9-B5914AA22CE7}"/>
              </a:ext>
            </a:extLst>
          </p:cNvPr>
          <p:cNvSpPr>
            <a:spLocks xmlns:a="http://schemas.openxmlformats.org/drawingml/2006/main" noGrp="1"/>
          </p:cNvSpPr>
          <p:nvPr/>
        </p:nvSpPr>
        <p:spPr>
          <a:xfrm xmlns:a="http://schemas.openxmlformats.org/drawingml/2006/main">
            <a:off x="7620000" y="4581525"/>
            <a:ext cx="3476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12735"/>
                </a:solidFill>
                <a:latin typeface="Arial"/>
                <a:ea typeface="Arial"/>
                <a:cs typeface="Arial"/>
              </a:defRPr>
            </a:pPr>
            <a:r>
              <a:rPr sz="1950" b="1">
                <a:solidFill>
                  <a:srgbClr val="112735"/>
                </a:solidFill>
                <a:latin typeface="Arial"/>
                <a:ea typeface="Arial"/>
                <a:cs typeface="Arial"/>
              </a:rPr>
              <a:t>Decision support</a:t>
            </a:r>
          </a:p>
        </p:txBody>
      </p:sp>
      <p:sp>
        <p:nvSpPr>
          <p:cNvPr id="22" name="">
            <a:extLst xmlns:a="http://schemas.openxmlformats.org/drawingml/2006/main">
              <a:ext uri="{FF2B5EF4-FFF2-40B4-BE49-F238E27FC236}">
                <a16:creationId xmlns:a16="http://schemas.microsoft.com/office/drawing/2014/main" id="{338F1BC9-7FC5-4C74-AC66-41C0C8B82031}"/>
              </a:ext>
            </a:extLst>
          </p:cNvPr>
          <p:cNvSpPr>
            <a:spLocks xmlns:a="http://schemas.openxmlformats.org/drawingml/2006/main" noGrp="1"/>
          </p:cNvSpPr>
          <p:nvPr/>
        </p:nvSpPr>
        <p:spPr>
          <a:xfrm xmlns:a="http://schemas.openxmlformats.org/drawingml/2006/main">
            <a:off x="7620000" y="4981575"/>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D6B75"/>
                </a:solidFill>
                <a:latin typeface="Arial"/>
                <a:ea typeface="Arial"/>
                <a:cs typeface="Arial"/>
              </a:defRPr>
            </a:pPr>
            <a:r>
              <a:rPr sz="1500" b="0">
                <a:solidFill>
                  <a:srgbClr val="5D6B75"/>
                </a:solidFill>
                <a:latin typeface="Arial"/>
                <a:ea typeface="Arial"/>
                <a:cs typeface="Arial"/>
              </a:rPr>
              <a:t>Show market differences and model reliability in Power BI.</a:t>
            </a:r>
          </a:p>
        </p:txBody>
      </p:sp>
    </p:spTree>
    <p:extLst>
      <p:ext uri="{BB962C8B-B14F-4D97-AF65-F5344CB8AC3E}">
        <p14:creationId xmlns:p14="http://schemas.microsoft.com/office/powerpoint/2010/main" val="10787903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itle-3">
            <a:extLst xmlns:a="http://schemas.openxmlformats.org/drawingml/2006/main">
              <a:ext uri="{FF2B5EF4-FFF2-40B4-BE49-F238E27FC236}">
                <a16:creationId xmlns:a16="http://schemas.microsoft.com/office/drawing/2014/main" id="{36C1850C-FA59-4C47-9C4F-A7B6957186E5}"/>
              </a:ext>
            </a:extLst>
          </p:cNvPr>
          <p:cNvSpPr>
            <a:spLocks xmlns:a="http://schemas.openxmlformats.org/drawingml/2006/main" noGrp="1"/>
          </p:cNvSpPr>
          <p:nvPr/>
        </p:nvSpPr>
        <p:spPr>
          <a:xfrm xmlns:a="http://schemas.openxmlformats.org/drawingml/2006/main">
            <a:off x="685800" y="4381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735"/>
                </a:solidFill>
                <a:latin typeface="Arial"/>
                <a:ea typeface="Arial"/>
                <a:cs typeface="Arial"/>
              </a:defRPr>
            </a:pPr>
            <a:r>
              <a:rPr sz="3300" b="1">
                <a:solidFill>
                  <a:srgbClr val="112735"/>
                </a:solidFill>
                <a:latin typeface="Arial"/>
                <a:ea typeface="Arial"/>
                <a:cs typeface="Arial"/>
              </a:rPr>
              <a:t>Data and forecasting framework</a:t>
            </a:r>
          </a:p>
        </p:txBody>
      </p:sp>
      <p:sp>
        <p:nvSpPr>
          <p:cNvPr id="2" name="">
            <a:extLst xmlns:a="http://schemas.openxmlformats.org/drawingml/2006/main">
              <a:ext uri="{FF2B5EF4-FFF2-40B4-BE49-F238E27FC236}">
                <a16:creationId xmlns:a16="http://schemas.microsoft.com/office/drawing/2014/main" id="{7D3DB686-F7A5-4C7E-93FE-CB8477B4B1AF}"/>
              </a:ext>
            </a:extLst>
          </p:cNvPr>
          <p:cNvSpPr>
            <a:spLocks xmlns:a="http://schemas.openxmlformats.org/drawingml/2006/main" noGrp="1"/>
          </p:cNvSpPr>
          <p:nvPr/>
        </p:nvSpPr>
        <p:spPr>
          <a:xfrm xmlns:a="http://schemas.openxmlformats.org/drawingml/2006/main">
            <a:off x="11191875" y="5143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009E9A"/>
                </a:solidFill>
                <a:latin typeface="Arial"/>
                <a:ea typeface="Arial"/>
                <a:cs typeface="Arial"/>
              </a:defRPr>
            </a:pPr>
            <a:r>
              <a:rPr sz="1200" b="1">
                <a:solidFill>
                  <a:srgbClr val="009E9A"/>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8815BC7-B20C-4C6F-9D68-91998831F6F6}"/>
              </a:ext>
            </a:extLst>
          </p:cNvPr>
          <p:cNvSpPr>
            <a:spLocks xmlns:a="http://schemas.openxmlformats.org/drawingml/2006/main" noGrp="1"/>
          </p:cNvSpPr>
          <p:nvPr/>
        </p:nvSpPr>
        <p:spPr>
          <a:xfrm xmlns:a="http://schemas.openxmlformats.org/drawingml/2006/main">
            <a:off x="685800" y="1066800"/>
            <a:ext cx="914400" cy="0"/>
          </a:xfrm>
          <a:prstGeom xmlns:a="http://schemas.openxmlformats.org/drawingml/2006/main" prst="line">
            <a:avLst/>
          </a:prstGeom>
          <a:noFill xmlns:a="http://schemas.openxmlformats.org/drawingml/2006/main"/>
          <a:ln xmlns:a="http://schemas.openxmlformats.org/drawingml/2006/main" w="38100">
            <a:solidFill>
              <a:srgbClr val="009E9A"/>
            </a:solidFill>
            <a:prstDash val="solid"/>
          </a:ln>
        </p:spPr>
      </p:sp>
      <p:sp>
        <p:nvSpPr>
          <p:cNvPr id="4" name="">
            <a:extLst xmlns:a="http://schemas.openxmlformats.org/drawingml/2006/main">
              <a:ext uri="{FF2B5EF4-FFF2-40B4-BE49-F238E27FC236}">
                <a16:creationId xmlns:a16="http://schemas.microsoft.com/office/drawing/2014/main" id="{2B1F8411-15ED-4999-A1D5-D38DE82D80B5}"/>
              </a:ext>
            </a:extLst>
          </p:cNvPr>
          <p:cNvSpPr>
            <a:spLocks xmlns:a="http://schemas.openxmlformats.org/drawingml/2006/main" noGrp="1"/>
          </p:cNvSpPr>
          <p:nvPr/>
        </p:nvSpPr>
        <p:spPr>
          <a:xfrm xmlns:a="http://schemas.openxmlformats.org/drawingml/2006/main">
            <a:off x="685800" y="1409700"/>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09E9A"/>
                </a:solidFill>
                <a:latin typeface="Arial"/>
                <a:ea typeface="Arial"/>
                <a:cs typeface="Arial"/>
              </a:defRPr>
            </a:pPr>
            <a:r>
              <a:rPr sz="3900" b="1">
                <a:solidFill>
                  <a:srgbClr val="009E9A"/>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EC7206C9-5B59-49E4-B3DA-CA4ACDEDB10D}"/>
              </a:ext>
            </a:extLst>
          </p:cNvPr>
          <p:cNvSpPr>
            <a:spLocks xmlns:a="http://schemas.openxmlformats.org/drawingml/2006/main" noGrp="1"/>
          </p:cNvSpPr>
          <p:nvPr/>
        </p:nvSpPr>
        <p:spPr>
          <a:xfrm xmlns:a="http://schemas.openxmlformats.org/drawingml/2006/main">
            <a:off x="685800" y="20764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D6B75"/>
                </a:solidFill>
                <a:latin typeface="Arial"/>
                <a:ea typeface="Arial"/>
                <a:cs typeface="Arial"/>
              </a:defRPr>
            </a:pPr>
            <a:r>
              <a:rPr sz="1500" b="0">
                <a:solidFill>
                  <a:srgbClr val="5D6B75"/>
                </a:solidFill>
                <a:latin typeface="Arial"/>
                <a:ea typeface="Arial"/>
                <a:cs typeface="Arial"/>
              </a:rPr>
              <a:t>source markets</a:t>
            </a:r>
          </a:p>
        </p:txBody>
      </p:sp>
      <p:sp>
        <p:nvSpPr>
          <p:cNvPr id="6" name="">
            <a:extLst xmlns:a="http://schemas.openxmlformats.org/drawingml/2006/main">
              <a:ext uri="{FF2B5EF4-FFF2-40B4-BE49-F238E27FC236}">
                <a16:creationId xmlns:a16="http://schemas.microsoft.com/office/drawing/2014/main" id="{B2F5B94A-8A50-405A-BD22-B5857A7C89D1}"/>
              </a:ext>
            </a:extLst>
          </p:cNvPr>
          <p:cNvSpPr>
            <a:spLocks xmlns:a="http://schemas.openxmlformats.org/drawingml/2006/main" noGrp="1"/>
          </p:cNvSpPr>
          <p:nvPr/>
        </p:nvSpPr>
        <p:spPr>
          <a:xfrm xmlns:a="http://schemas.openxmlformats.org/drawingml/2006/main">
            <a:off x="3162300" y="1428750"/>
            <a:ext cx="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7" name="">
            <a:extLst xmlns:a="http://schemas.openxmlformats.org/drawingml/2006/main">
              <a:ext uri="{FF2B5EF4-FFF2-40B4-BE49-F238E27FC236}">
                <a16:creationId xmlns:a16="http://schemas.microsoft.com/office/drawing/2014/main" id="{F4E5AEB6-F629-4061-9B65-DD9761633AD3}"/>
              </a:ext>
            </a:extLst>
          </p:cNvPr>
          <p:cNvSpPr>
            <a:spLocks xmlns:a="http://schemas.openxmlformats.org/drawingml/2006/main" noGrp="1"/>
          </p:cNvSpPr>
          <p:nvPr/>
        </p:nvSpPr>
        <p:spPr>
          <a:xfrm xmlns:a="http://schemas.openxmlformats.org/drawingml/2006/main">
            <a:off x="3467100" y="1409700"/>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48AF2"/>
                </a:solidFill>
                <a:latin typeface="Arial"/>
                <a:ea typeface="Arial"/>
                <a:cs typeface="Arial"/>
              </a:defRPr>
            </a:pPr>
            <a:r>
              <a:rPr sz="3900" b="1">
                <a:solidFill>
                  <a:srgbClr val="148AF2"/>
                </a:solidFill>
                <a:latin typeface="Arial"/>
                <a:ea typeface="Arial"/>
                <a:cs typeface="Arial"/>
              </a:rPr>
              <a:t>2,300</a:t>
            </a:r>
          </a:p>
        </p:txBody>
      </p:sp>
      <p:sp>
        <p:nvSpPr>
          <p:cNvPr id="8" name="">
            <a:extLst xmlns:a="http://schemas.openxmlformats.org/drawingml/2006/main">
              <a:ext uri="{FF2B5EF4-FFF2-40B4-BE49-F238E27FC236}">
                <a16:creationId xmlns:a16="http://schemas.microsoft.com/office/drawing/2014/main" id="{E326AC15-A9DC-4A71-BB30-615C454995C5}"/>
              </a:ext>
            </a:extLst>
          </p:cNvPr>
          <p:cNvSpPr>
            <a:spLocks xmlns:a="http://schemas.openxmlformats.org/drawingml/2006/main" noGrp="1"/>
          </p:cNvSpPr>
          <p:nvPr/>
        </p:nvSpPr>
        <p:spPr>
          <a:xfrm xmlns:a="http://schemas.openxmlformats.org/drawingml/2006/main">
            <a:off x="3467100" y="20764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D6B75"/>
                </a:solidFill>
                <a:latin typeface="Arial"/>
                <a:ea typeface="Arial"/>
                <a:cs typeface="Arial"/>
              </a:defRPr>
            </a:pPr>
            <a:r>
              <a:rPr sz="1500" b="0">
                <a:solidFill>
                  <a:srgbClr val="5D6B75"/>
                </a:solidFill>
                <a:latin typeface="Arial"/>
                <a:ea typeface="Arial"/>
                <a:cs typeface="Arial"/>
              </a:rPr>
              <a:t>country-months</a:t>
            </a:r>
          </a:p>
        </p:txBody>
      </p:sp>
      <p:sp>
        <p:nvSpPr>
          <p:cNvPr id="9" name="">
            <a:extLst xmlns:a="http://schemas.openxmlformats.org/drawingml/2006/main">
              <a:ext uri="{FF2B5EF4-FFF2-40B4-BE49-F238E27FC236}">
                <a16:creationId xmlns:a16="http://schemas.microsoft.com/office/drawing/2014/main" id="{8C7E5836-CFAE-4AC5-918B-F1726754A128}"/>
              </a:ext>
            </a:extLst>
          </p:cNvPr>
          <p:cNvSpPr>
            <a:spLocks xmlns:a="http://schemas.openxmlformats.org/drawingml/2006/main" noGrp="1"/>
          </p:cNvSpPr>
          <p:nvPr/>
        </p:nvSpPr>
        <p:spPr>
          <a:xfrm xmlns:a="http://schemas.openxmlformats.org/drawingml/2006/main">
            <a:off x="5943600" y="1428750"/>
            <a:ext cx="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10" name="">
            <a:extLst xmlns:a="http://schemas.openxmlformats.org/drawingml/2006/main">
              <a:ext uri="{FF2B5EF4-FFF2-40B4-BE49-F238E27FC236}">
                <a16:creationId xmlns:a16="http://schemas.microsoft.com/office/drawing/2014/main" id="{D2B3DB16-4DDD-4AA1-A434-747EDEF22FBE}"/>
              </a:ext>
            </a:extLst>
          </p:cNvPr>
          <p:cNvSpPr>
            <a:spLocks xmlns:a="http://schemas.openxmlformats.org/drawingml/2006/main" noGrp="1"/>
          </p:cNvSpPr>
          <p:nvPr/>
        </p:nvSpPr>
        <p:spPr>
          <a:xfrm xmlns:a="http://schemas.openxmlformats.org/drawingml/2006/main">
            <a:off x="6248400" y="1409700"/>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09E9A"/>
                </a:solidFill>
                <a:latin typeface="Arial"/>
                <a:ea typeface="Arial"/>
                <a:cs typeface="Arial"/>
              </a:defRPr>
            </a:pPr>
            <a:r>
              <a:rPr sz="3900" b="1">
                <a:solidFill>
                  <a:srgbClr val="009E9A"/>
                </a:solidFill>
                <a:latin typeface="Arial"/>
                <a:ea typeface="Arial"/>
                <a:cs typeface="Arial"/>
              </a:rPr>
              <a:t>19 + 1</a:t>
            </a:r>
          </a:p>
        </p:txBody>
      </p:sp>
      <p:sp>
        <p:nvSpPr>
          <p:cNvPr id="11" name="">
            <a:extLst xmlns:a="http://schemas.openxmlformats.org/drawingml/2006/main">
              <a:ext uri="{FF2B5EF4-FFF2-40B4-BE49-F238E27FC236}">
                <a16:creationId xmlns:a16="http://schemas.microsoft.com/office/drawing/2014/main" id="{17B3EE5A-3C34-4BE9-81CF-F18697B66CF9}"/>
              </a:ext>
            </a:extLst>
          </p:cNvPr>
          <p:cNvSpPr>
            <a:spLocks xmlns:a="http://schemas.openxmlformats.org/drawingml/2006/main" noGrp="1"/>
          </p:cNvSpPr>
          <p:nvPr/>
        </p:nvSpPr>
        <p:spPr>
          <a:xfrm xmlns:a="http://schemas.openxmlformats.org/drawingml/2006/main">
            <a:off x="6248400" y="20764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D6B75"/>
                </a:solidFill>
                <a:latin typeface="Arial"/>
                <a:ea typeface="Arial"/>
                <a:cs typeface="Arial"/>
              </a:defRPr>
            </a:pPr>
            <a:r>
              <a:rPr sz="1500" b="0">
                <a:solidFill>
                  <a:srgbClr val="5D6B75"/>
                </a:solidFill>
                <a:latin typeface="Arial"/>
                <a:ea typeface="Arial"/>
                <a:cs typeface="Arial"/>
              </a:rPr>
              <a:t>numeric and categorical inputs</a:t>
            </a:r>
          </a:p>
        </p:txBody>
      </p:sp>
      <p:sp>
        <p:nvSpPr>
          <p:cNvPr id="12" name="">
            <a:extLst xmlns:a="http://schemas.openxmlformats.org/drawingml/2006/main">
              <a:ext uri="{FF2B5EF4-FFF2-40B4-BE49-F238E27FC236}">
                <a16:creationId xmlns:a16="http://schemas.microsoft.com/office/drawing/2014/main" id="{83A37EBE-788E-4766-B2C5-5EDCCFEBAA4C}"/>
              </a:ext>
            </a:extLst>
          </p:cNvPr>
          <p:cNvSpPr>
            <a:spLocks xmlns:a="http://schemas.openxmlformats.org/drawingml/2006/main" noGrp="1"/>
          </p:cNvSpPr>
          <p:nvPr/>
        </p:nvSpPr>
        <p:spPr>
          <a:xfrm xmlns:a="http://schemas.openxmlformats.org/drawingml/2006/main">
            <a:off x="8724900" y="1428750"/>
            <a:ext cx="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13" name="">
            <a:extLst xmlns:a="http://schemas.openxmlformats.org/drawingml/2006/main">
              <a:ext uri="{FF2B5EF4-FFF2-40B4-BE49-F238E27FC236}">
                <a16:creationId xmlns:a16="http://schemas.microsoft.com/office/drawing/2014/main" id="{2EB6918D-D7DF-489B-884B-2382AA0CFF58}"/>
              </a:ext>
            </a:extLst>
          </p:cNvPr>
          <p:cNvSpPr>
            <a:spLocks xmlns:a="http://schemas.openxmlformats.org/drawingml/2006/main" noGrp="1"/>
          </p:cNvSpPr>
          <p:nvPr/>
        </p:nvSpPr>
        <p:spPr>
          <a:xfrm xmlns:a="http://schemas.openxmlformats.org/drawingml/2006/main">
            <a:off x="9029700" y="1409700"/>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48AF2"/>
                </a:solidFill>
                <a:latin typeface="Arial"/>
                <a:ea typeface="Arial"/>
                <a:cs typeface="Arial"/>
              </a:defRPr>
            </a:pPr>
            <a:r>
              <a:rPr sz="3900" b="1">
                <a:solidFill>
                  <a:srgbClr val="148AF2"/>
                </a:solidFill>
                <a:latin typeface="Arial"/>
                <a:ea typeface="Arial"/>
                <a:cs typeface="Arial"/>
              </a:rPr>
              <a:t>80</a:t>
            </a:r>
          </a:p>
        </p:txBody>
      </p:sp>
      <p:sp>
        <p:nvSpPr>
          <p:cNvPr id="14" name="">
            <a:extLst xmlns:a="http://schemas.openxmlformats.org/drawingml/2006/main">
              <a:ext uri="{FF2B5EF4-FFF2-40B4-BE49-F238E27FC236}">
                <a16:creationId xmlns:a16="http://schemas.microsoft.com/office/drawing/2014/main" id="{3FEB3DEA-2908-4706-958E-729E761C3955}"/>
              </a:ext>
            </a:extLst>
          </p:cNvPr>
          <p:cNvSpPr>
            <a:spLocks xmlns:a="http://schemas.openxmlformats.org/drawingml/2006/main" noGrp="1"/>
          </p:cNvSpPr>
          <p:nvPr/>
        </p:nvSpPr>
        <p:spPr>
          <a:xfrm xmlns:a="http://schemas.openxmlformats.org/drawingml/2006/main">
            <a:off x="9029700" y="2076450"/>
            <a:ext cx="2333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D6B75"/>
                </a:solidFill>
                <a:latin typeface="Arial"/>
                <a:ea typeface="Arial"/>
                <a:cs typeface="Arial"/>
              </a:defRPr>
            </a:pPr>
            <a:r>
              <a:rPr sz="1500" b="0">
                <a:solidFill>
                  <a:srgbClr val="5D6B75"/>
                </a:solidFill>
                <a:latin typeface="Arial"/>
                <a:ea typeface="Arial"/>
                <a:cs typeface="Arial"/>
              </a:rPr>
              <a:t>live forecast rows</a:t>
            </a:r>
          </a:p>
        </p:txBody>
      </p:sp>
      <p:sp>
        <p:nvSpPr>
          <p:cNvPr id="15" name="">
            <a:extLst xmlns:a="http://schemas.openxmlformats.org/drawingml/2006/main">
              <a:ext uri="{FF2B5EF4-FFF2-40B4-BE49-F238E27FC236}">
                <a16:creationId xmlns:a16="http://schemas.microsoft.com/office/drawing/2014/main" id="{03151E0A-42B5-4316-9D57-DBA62D17FAEA}"/>
              </a:ext>
            </a:extLst>
          </p:cNvPr>
          <p:cNvSpPr>
            <a:spLocks xmlns:a="http://schemas.openxmlformats.org/drawingml/2006/main" noGrp="1"/>
          </p:cNvSpPr>
          <p:nvPr/>
        </p:nvSpPr>
        <p:spPr>
          <a:xfrm xmlns:a="http://schemas.openxmlformats.org/drawingml/2006/main">
            <a:off x="685800" y="2781300"/>
            <a:ext cx="10820400" cy="0"/>
          </a:xfrm>
          <a:prstGeom xmlns:a="http://schemas.openxmlformats.org/drawingml/2006/main" prst="line">
            <a:avLst/>
          </a:prstGeom>
          <a:noFill xmlns:a="http://schemas.openxmlformats.org/drawingml/2006/main"/>
          <a:ln xmlns:a="http://schemas.openxmlformats.org/drawingml/2006/main" w="19050">
            <a:solidFill>
              <a:srgbClr val="D9E3E8"/>
            </a:solidFill>
            <a:prstDash val="solid"/>
          </a:ln>
        </p:spPr>
      </p:sp>
      <p:sp>
        <p:nvSpPr>
          <p:cNvPr id="16" name="">
            <a:extLst xmlns:a="http://schemas.openxmlformats.org/drawingml/2006/main">
              <a:ext uri="{FF2B5EF4-FFF2-40B4-BE49-F238E27FC236}">
                <a16:creationId xmlns:a16="http://schemas.microsoft.com/office/drawing/2014/main" id="{FB80E907-7C61-4D1F-8837-CB18F673BF4E}"/>
              </a:ext>
            </a:extLst>
          </p:cNvPr>
          <p:cNvSpPr>
            <a:spLocks xmlns:a="http://schemas.openxmlformats.org/drawingml/2006/main" noGrp="1"/>
          </p:cNvSpPr>
          <p:nvPr/>
        </p:nvSpPr>
        <p:spPr>
          <a:xfrm xmlns:a="http://schemas.openxmlformats.org/drawingml/2006/main">
            <a:off x="685800" y="30861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09E9A"/>
                </a:solidFill>
                <a:latin typeface="Arial"/>
                <a:ea typeface="Arial"/>
                <a:cs typeface="Arial"/>
              </a:defRPr>
            </a:pPr>
            <a:r>
              <a:rPr sz="1350" b="1">
                <a:solidFill>
                  <a:srgbClr val="009E9A"/>
                </a:solidFill>
                <a:latin typeface="Arial"/>
                <a:ea typeface="Arial"/>
                <a:cs typeface="Arial"/>
              </a:rPr>
              <a:t>SIGNALS USED</a:t>
            </a:r>
          </a:p>
        </p:txBody>
      </p:sp>
      <p:sp>
        <p:nvSpPr>
          <p:cNvPr id="17" name="">
            <a:extLst xmlns:a="http://schemas.openxmlformats.org/drawingml/2006/main">
              <a:ext uri="{FF2B5EF4-FFF2-40B4-BE49-F238E27FC236}">
                <a16:creationId xmlns:a16="http://schemas.microsoft.com/office/drawing/2014/main" id="{A9CD13C7-6CD4-47C8-8861-7FE8AC4BF7A1}"/>
              </a:ext>
            </a:extLst>
          </p:cNvPr>
          <p:cNvSpPr>
            <a:spLocks xmlns:a="http://schemas.openxmlformats.org/drawingml/2006/main" noGrp="1"/>
          </p:cNvSpPr>
          <p:nvPr/>
        </p:nvSpPr>
        <p:spPr>
          <a:xfrm xmlns:a="http://schemas.openxmlformats.org/drawingml/2006/main">
            <a:off x="685800" y="36385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2735"/>
                </a:solidFill>
                <a:latin typeface="Arial"/>
                <a:ea typeface="Arial"/>
                <a:cs typeface="Arial"/>
              </a:defRPr>
            </a:pPr>
            <a:r>
              <a:rPr sz="1725" b="1">
                <a:solidFill>
                  <a:srgbClr val="112735"/>
                </a:solidFill>
                <a:latin typeface="Arial"/>
                <a:ea typeface="Arial"/>
                <a:cs typeface="Arial"/>
              </a:rPr>
              <a:t>Arrivals history</a:t>
            </a:r>
          </a:p>
        </p:txBody>
      </p:sp>
      <p:sp>
        <p:nvSpPr>
          <p:cNvPr id="18" name="">
            <a:extLst xmlns:a="http://schemas.openxmlformats.org/drawingml/2006/main">
              <a:ext uri="{FF2B5EF4-FFF2-40B4-BE49-F238E27FC236}">
                <a16:creationId xmlns:a16="http://schemas.microsoft.com/office/drawing/2014/main" id="{BC67281F-9886-4909-9978-366F38E93CC6}"/>
              </a:ext>
            </a:extLst>
          </p:cNvPr>
          <p:cNvSpPr>
            <a:spLocks xmlns:a="http://schemas.openxmlformats.org/drawingml/2006/main" noGrp="1"/>
          </p:cNvSpPr>
          <p:nvPr/>
        </p:nvSpPr>
        <p:spPr>
          <a:xfrm xmlns:a="http://schemas.openxmlformats.org/drawingml/2006/main">
            <a:off x="685800" y="403860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D6B75"/>
                </a:solidFill>
                <a:latin typeface="Arial"/>
                <a:ea typeface="Arial"/>
                <a:cs typeface="Arial"/>
              </a:defRPr>
            </a:pPr>
            <a:r>
              <a:rPr sz="1425" b="0">
                <a:solidFill>
                  <a:srgbClr val="5D6B75"/>
                </a:solidFill>
                <a:latin typeface="Arial"/>
                <a:ea typeface="Arial"/>
                <a:cs typeface="Arial"/>
              </a:rPr>
              <a:t>Origin value, lags, rolling means and seasonality</a:t>
            </a:r>
          </a:p>
        </p:txBody>
      </p:sp>
      <p:sp>
        <p:nvSpPr>
          <p:cNvPr id="19" name="">
            <a:extLst xmlns:a="http://schemas.openxmlformats.org/drawingml/2006/main">
              <a:ext uri="{FF2B5EF4-FFF2-40B4-BE49-F238E27FC236}">
                <a16:creationId xmlns:a16="http://schemas.microsoft.com/office/drawing/2014/main" id="{AE96ADF1-56BB-457D-B626-32BF1A0DE508}"/>
              </a:ext>
            </a:extLst>
          </p:cNvPr>
          <p:cNvSpPr>
            <a:spLocks xmlns:a="http://schemas.openxmlformats.org/drawingml/2006/main" noGrp="1"/>
          </p:cNvSpPr>
          <p:nvPr/>
        </p:nvSpPr>
        <p:spPr>
          <a:xfrm xmlns:a="http://schemas.openxmlformats.org/drawingml/2006/main">
            <a:off x="3162300" y="3619500"/>
            <a:ext cx="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20" name="">
            <a:extLst xmlns:a="http://schemas.openxmlformats.org/drawingml/2006/main">
              <a:ext uri="{FF2B5EF4-FFF2-40B4-BE49-F238E27FC236}">
                <a16:creationId xmlns:a16="http://schemas.microsoft.com/office/drawing/2014/main" id="{E45C4055-8F36-458E-9E46-49932CCD8906}"/>
              </a:ext>
            </a:extLst>
          </p:cNvPr>
          <p:cNvSpPr>
            <a:spLocks xmlns:a="http://schemas.openxmlformats.org/drawingml/2006/main" noGrp="1"/>
          </p:cNvSpPr>
          <p:nvPr/>
        </p:nvSpPr>
        <p:spPr>
          <a:xfrm xmlns:a="http://schemas.openxmlformats.org/drawingml/2006/main">
            <a:off x="3467100" y="36385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2735"/>
                </a:solidFill>
                <a:latin typeface="Arial"/>
                <a:ea typeface="Arial"/>
                <a:cs typeface="Arial"/>
              </a:defRPr>
            </a:pPr>
            <a:r>
              <a:rPr sz="1725" b="1">
                <a:solidFill>
                  <a:srgbClr val="112735"/>
                </a:solidFill>
                <a:latin typeface="Arial"/>
                <a:ea typeface="Arial"/>
                <a:cs typeface="Arial"/>
              </a:rPr>
              <a:t>Affordability</a:t>
            </a:r>
          </a:p>
        </p:txBody>
      </p:sp>
      <p:sp>
        <p:nvSpPr>
          <p:cNvPr id="21" name="">
            <a:extLst xmlns:a="http://schemas.openxmlformats.org/drawingml/2006/main">
              <a:ext uri="{FF2B5EF4-FFF2-40B4-BE49-F238E27FC236}">
                <a16:creationId xmlns:a16="http://schemas.microsoft.com/office/drawing/2014/main" id="{FC682403-C469-440D-B8AE-F2F703C05712}"/>
              </a:ext>
            </a:extLst>
          </p:cNvPr>
          <p:cNvSpPr>
            <a:spLocks xmlns:a="http://schemas.openxmlformats.org/drawingml/2006/main" noGrp="1"/>
          </p:cNvSpPr>
          <p:nvPr/>
        </p:nvSpPr>
        <p:spPr>
          <a:xfrm xmlns:a="http://schemas.openxmlformats.org/drawingml/2006/main">
            <a:off x="3467100" y="403860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D6B75"/>
                </a:solidFill>
                <a:latin typeface="Arial"/>
                <a:ea typeface="Arial"/>
                <a:cs typeface="Arial"/>
              </a:defRPr>
            </a:pPr>
            <a:r>
              <a:rPr sz="1425" b="0">
                <a:solidFill>
                  <a:srgbClr val="5D6B75"/>
                </a:solidFill>
                <a:latin typeface="Arial"/>
                <a:ea typeface="Arial"/>
                <a:cs typeface="Arial"/>
              </a:rPr>
              <a:t>Monthly bilateral MYR exchange rates</a:t>
            </a:r>
          </a:p>
        </p:txBody>
      </p:sp>
      <p:sp>
        <p:nvSpPr>
          <p:cNvPr id="22" name="">
            <a:extLst xmlns:a="http://schemas.openxmlformats.org/drawingml/2006/main">
              <a:ext uri="{FF2B5EF4-FFF2-40B4-BE49-F238E27FC236}">
                <a16:creationId xmlns:a16="http://schemas.microsoft.com/office/drawing/2014/main" id="{C51F11C8-F81C-492E-98B0-C856A38F7AEA}"/>
              </a:ext>
            </a:extLst>
          </p:cNvPr>
          <p:cNvSpPr>
            <a:spLocks xmlns:a="http://schemas.openxmlformats.org/drawingml/2006/main" noGrp="1"/>
          </p:cNvSpPr>
          <p:nvPr/>
        </p:nvSpPr>
        <p:spPr>
          <a:xfrm xmlns:a="http://schemas.openxmlformats.org/drawingml/2006/main">
            <a:off x="5943600" y="3619500"/>
            <a:ext cx="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23" name="">
            <a:extLst xmlns:a="http://schemas.openxmlformats.org/drawingml/2006/main">
              <a:ext uri="{FF2B5EF4-FFF2-40B4-BE49-F238E27FC236}">
                <a16:creationId xmlns:a16="http://schemas.microsoft.com/office/drawing/2014/main" id="{E4D1854B-5305-4F7B-B086-EB1362EB3EEA}"/>
              </a:ext>
            </a:extLst>
          </p:cNvPr>
          <p:cNvSpPr>
            <a:spLocks xmlns:a="http://schemas.openxmlformats.org/drawingml/2006/main" noGrp="1"/>
          </p:cNvSpPr>
          <p:nvPr/>
        </p:nvSpPr>
        <p:spPr>
          <a:xfrm xmlns:a="http://schemas.openxmlformats.org/drawingml/2006/main">
            <a:off x="6248400" y="36385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2735"/>
                </a:solidFill>
                <a:latin typeface="Arial"/>
                <a:ea typeface="Arial"/>
                <a:cs typeface="Arial"/>
              </a:defRPr>
            </a:pPr>
            <a:r>
              <a:rPr sz="1725" b="1">
                <a:solidFill>
                  <a:srgbClr val="112735"/>
                </a:solidFill>
                <a:latin typeface="Arial"/>
                <a:ea typeface="Arial"/>
                <a:cs typeface="Arial"/>
              </a:rPr>
              <a:t>Transport cost</a:t>
            </a:r>
          </a:p>
        </p:txBody>
      </p:sp>
      <p:sp>
        <p:nvSpPr>
          <p:cNvPr id="24" name="">
            <a:extLst xmlns:a="http://schemas.openxmlformats.org/drawingml/2006/main">
              <a:ext uri="{FF2B5EF4-FFF2-40B4-BE49-F238E27FC236}">
                <a16:creationId xmlns:a16="http://schemas.microsoft.com/office/drawing/2014/main" id="{130D8C0A-258D-47E3-989A-719F2A8AD232}"/>
              </a:ext>
            </a:extLst>
          </p:cNvPr>
          <p:cNvSpPr>
            <a:spLocks xmlns:a="http://schemas.openxmlformats.org/drawingml/2006/main" noGrp="1"/>
          </p:cNvSpPr>
          <p:nvPr/>
        </p:nvSpPr>
        <p:spPr>
          <a:xfrm xmlns:a="http://schemas.openxmlformats.org/drawingml/2006/main">
            <a:off x="6248400" y="403860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D6B75"/>
                </a:solidFill>
                <a:latin typeface="Arial"/>
                <a:ea typeface="Arial"/>
                <a:cs typeface="Arial"/>
              </a:defRPr>
            </a:pPr>
            <a:r>
              <a:rPr sz="1425" b="0">
                <a:solidFill>
                  <a:srgbClr val="5D6B75"/>
                </a:solidFill>
                <a:latin typeface="Arial"/>
                <a:ea typeface="Arial"/>
                <a:cs typeface="Arial"/>
              </a:rPr>
              <a:t>Brent crude and Malaysian fuel prices</a:t>
            </a:r>
          </a:p>
        </p:txBody>
      </p:sp>
      <p:sp>
        <p:nvSpPr>
          <p:cNvPr id="25" name="">
            <a:extLst xmlns:a="http://schemas.openxmlformats.org/drawingml/2006/main">
              <a:ext uri="{FF2B5EF4-FFF2-40B4-BE49-F238E27FC236}">
                <a16:creationId xmlns:a16="http://schemas.microsoft.com/office/drawing/2014/main" id="{1D640E20-1A5E-45B0-9693-9F47338B7B29}"/>
              </a:ext>
            </a:extLst>
          </p:cNvPr>
          <p:cNvSpPr>
            <a:spLocks xmlns:a="http://schemas.openxmlformats.org/drawingml/2006/main" noGrp="1"/>
          </p:cNvSpPr>
          <p:nvPr/>
        </p:nvSpPr>
        <p:spPr>
          <a:xfrm xmlns:a="http://schemas.openxmlformats.org/drawingml/2006/main">
            <a:off x="8724900" y="3619500"/>
            <a:ext cx="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26" name="">
            <a:extLst xmlns:a="http://schemas.openxmlformats.org/drawingml/2006/main">
              <a:ext uri="{FF2B5EF4-FFF2-40B4-BE49-F238E27FC236}">
                <a16:creationId xmlns:a16="http://schemas.microsoft.com/office/drawing/2014/main" id="{83E497F1-CC16-4A6E-9F31-B6BE1E78B449}"/>
              </a:ext>
            </a:extLst>
          </p:cNvPr>
          <p:cNvSpPr>
            <a:spLocks xmlns:a="http://schemas.openxmlformats.org/drawingml/2006/main" noGrp="1"/>
          </p:cNvSpPr>
          <p:nvPr/>
        </p:nvSpPr>
        <p:spPr>
          <a:xfrm xmlns:a="http://schemas.openxmlformats.org/drawingml/2006/main">
            <a:off x="9029700" y="36385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2735"/>
                </a:solidFill>
                <a:latin typeface="Arial"/>
                <a:ea typeface="Arial"/>
                <a:cs typeface="Arial"/>
              </a:defRPr>
            </a:pPr>
            <a:r>
              <a:rPr sz="1725" b="1">
                <a:solidFill>
                  <a:srgbClr val="112735"/>
                </a:solidFill>
                <a:latin typeface="Arial"/>
                <a:ea typeface="Arial"/>
                <a:cs typeface="Arial"/>
              </a:rPr>
              <a:t>Risk</a:t>
            </a:r>
          </a:p>
        </p:txBody>
      </p:sp>
      <p:sp>
        <p:nvSpPr>
          <p:cNvPr id="27" name="">
            <a:extLst xmlns:a="http://schemas.openxmlformats.org/drawingml/2006/main">
              <a:ext uri="{FF2B5EF4-FFF2-40B4-BE49-F238E27FC236}">
                <a16:creationId xmlns:a16="http://schemas.microsoft.com/office/drawing/2014/main" id="{AFDB4871-8471-4F6C-AE24-408605A67145}"/>
              </a:ext>
            </a:extLst>
          </p:cNvPr>
          <p:cNvSpPr>
            <a:spLocks xmlns:a="http://schemas.openxmlformats.org/drawingml/2006/main" noGrp="1"/>
          </p:cNvSpPr>
          <p:nvPr/>
        </p:nvSpPr>
        <p:spPr>
          <a:xfrm xmlns:a="http://schemas.openxmlformats.org/drawingml/2006/main">
            <a:off x="9029700" y="4038600"/>
            <a:ext cx="2381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D6B75"/>
                </a:solidFill>
                <a:latin typeface="Arial"/>
                <a:ea typeface="Arial"/>
                <a:cs typeface="Arial"/>
              </a:defRPr>
            </a:pPr>
            <a:r>
              <a:rPr sz="1425" b="0">
                <a:solidFill>
                  <a:srgbClr val="5D6B75"/>
                </a:solidFill>
                <a:latin typeface="Arial"/>
                <a:ea typeface="Arial"/>
                <a:cs typeface="Arial"/>
              </a:rPr>
              <a:t>Global and Malaysia geopolitical risk indices</a:t>
            </a:r>
          </a:p>
        </p:txBody>
      </p:sp>
      <p:sp>
        <p:nvSpPr>
          <p:cNvPr id="28" name="">
            <a:extLst xmlns:a="http://schemas.openxmlformats.org/drawingml/2006/main">
              <a:ext uri="{FF2B5EF4-FFF2-40B4-BE49-F238E27FC236}">
                <a16:creationId xmlns:a16="http://schemas.microsoft.com/office/drawing/2014/main" id="{22F8895C-AB6A-43F8-95E7-5DE87C16AC6E}"/>
              </a:ext>
            </a:extLst>
          </p:cNvPr>
          <p:cNvSpPr>
            <a:spLocks xmlns:a="http://schemas.openxmlformats.org/drawingml/2006/main" noGrp="1"/>
          </p:cNvSpPr>
          <p:nvPr/>
        </p:nvSpPr>
        <p:spPr>
          <a:xfrm xmlns:a="http://schemas.openxmlformats.org/drawingml/2006/main">
            <a:off x="685800" y="5219700"/>
            <a:ext cx="10820400" cy="990600"/>
          </a:xfrm>
          <a:prstGeom xmlns:a="http://schemas.openxmlformats.org/drawingml/2006/main" prst="roundRect">
            <a:avLst>
              <a:gd name="adj" fmla="val 13462"/>
            </a:avLst>
          </a:prstGeom>
          <a:solidFill xmlns:a="http://schemas.openxmlformats.org/drawingml/2006/main">
            <a:srgbClr val="071B2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906587D-612A-4F09-BD26-64D74FCA0DF0}"/>
              </a:ext>
            </a:extLst>
          </p:cNvPr>
          <p:cNvSpPr>
            <a:spLocks xmlns:a="http://schemas.openxmlformats.org/drawingml/2006/main" noGrp="1"/>
          </p:cNvSpPr>
          <p:nvPr/>
        </p:nvSpPr>
        <p:spPr>
          <a:xfrm xmlns:a="http://schemas.openxmlformats.org/drawingml/2006/main">
            <a:off x="1066800" y="5457825"/>
            <a:ext cx="10048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One pooled, direct multi-horizon LightGBM predicts every market at 1, 2, 3 and 4 months ahead.</a:t>
            </a:r>
          </a:p>
        </p:txBody>
      </p:sp>
    </p:spTree>
    <p:extLst>
      <p:ext uri="{BB962C8B-B14F-4D97-AF65-F5344CB8AC3E}">
        <p14:creationId xmlns:p14="http://schemas.microsoft.com/office/powerpoint/2010/main" val="1398285993"/>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1" name="title-4">
            <a:extLst xmlns:a="http://schemas.openxmlformats.org/drawingml/2006/main">
              <a:ext uri="{FF2B5EF4-FFF2-40B4-BE49-F238E27FC236}">
                <a16:creationId xmlns:a16="http://schemas.microsoft.com/office/drawing/2014/main" id="{F72B360B-B9FC-4DDD-99C4-EED08FDCE4B1}"/>
              </a:ext>
            </a:extLst>
          </p:cNvPr>
          <p:cNvSpPr>
            <a:spLocks xmlns:a="http://schemas.openxmlformats.org/drawingml/2006/main" noGrp="1"/>
          </p:cNvSpPr>
          <p:nvPr/>
        </p:nvSpPr>
        <p:spPr>
          <a:xfrm xmlns:a="http://schemas.openxmlformats.org/drawingml/2006/main">
            <a:off x="685800" y="4381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735"/>
                </a:solidFill>
                <a:latin typeface="Arial"/>
                <a:ea typeface="Arial"/>
                <a:cs typeface="Arial"/>
              </a:defRPr>
            </a:pPr>
            <a:r>
              <a:rPr sz="3300" b="1">
                <a:solidFill>
                  <a:srgbClr val="112735"/>
                </a:solidFill>
                <a:latin typeface="Arial"/>
                <a:ea typeface="Arial"/>
                <a:cs typeface="Arial"/>
              </a:rPr>
              <a:t>Validation mirrors each historical forecast date</a:t>
            </a:r>
          </a:p>
        </p:txBody>
      </p:sp>
      <p:sp>
        <p:nvSpPr>
          <p:cNvPr id="2" name="">
            <a:extLst xmlns:a="http://schemas.openxmlformats.org/drawingml/2006/main">
              <a:ext uri="{FF2B5EF4-FFF2-40B4-BE49-F238E27FC236}">
                <a16:creationId xmlns:a16="http://schemas.microsoft.com/office/drawing/2014/main" id="{C664AAA0-3803-48F6-910F-333D2935DC62}"/>
              </a:ext>
            </a:extLst>
          </p:cNvPr>
          <p:cNvSpPr>
            <a:spLocks xmlns:a="http://schemas.openxmlformats.org/drawingml/2006/main" noGrp="1"/>
          </p:cNvSpPr>
          <p:nvPr/>
        </p:nvSpPr>
        <p:spPr>
          <a:xfrm xmlns:a="http://schemas.openxmlformats.org/drawingml/2006/main">
            <a:off x="11191875" y="5143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009E9A"/>
                </a:solidFill>
                <a:latin typeface="Arial"/>
                <a:ea typeface="Arial"/>
                <a:cs typeface="Arial"/>
              </a:defRPr>
            </a:pPr>
            <a:r>
              <a:rPr sz="1200" b="1">
                <a:solidFill>
                  <a:srgbClr val="009E9A"/>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800491B2-94E5-474B-B9D4-71EB53BA0730}"/>
              </a:ext>
            </a:extLst>
          </p:cNvPr>
          <p:cNvSpPr>
            <a:spLocks xmlns:a="http://schemas.openxmlformats.org/drawingml/2006/main" noGrp="1"/>
          </p:cNvSpPr>
          <p:nvPr/>
        </p:nvSpPr>
        <p:spPr>
          <a:xfrm xmlns:a="http://schemas.openxmlformats.org/drawingml/2006/main">
            <a:off x="685800" y="1066800"/>
            <a:ext cx="914400" cy="0"/>
          </a:xfrm>
          <a:prstGeom xmlns:a="http://schemas.openxmlformats.org/drawingml/2006/main" prst="line">
            <a:avLst/>
          </a:prstGeom>
          <a:noFill xmlns:a="http://schemas.openxmlformats.org/drawingml/2006/main"/>
          <a:ln xmlns:a="http://schemas.openxmlformats.org/drawingml/2006/main" w="38100">
            <a:solidFill>
              <a:srgbClr val="009E9A"/>
            </a:solidFill>
            <a:prstDash val="solid"/>
          </a:ln>
        </p:spPr>
      </p:sp>
      <p:sp>
        <p:nvSpPr>
          <p:cNvPr id="4" name="">
            <a:extLst xmlns:a="http://schemas.openxmlformats.org/drawingml/2006/main">
              <a:ext uri="{FF2B5EF4-FFF2-40B4-BE49-F238E27FC236}">
                <a16:creationId xmlns:a16="http://schemas.microsoft.com/office/drawing/2014/main" id="{4DA0FE77-8CED-4475-9B6A-9C6F0F955A07}"/>
              </a:ext>
            </a:extLst>
          </p:cNvPr>
          <p:cNvSpPr>
            <a:spLocks xmlns:a="http://schemas.openxmlformats.org/drawingml/2006/main" noGrp="1"/>
          </p:cNvSpPr>
          <p:nvPr/>
        </p:nvSpPr>
        <p:spPr>
          <a:xfrm xmlns:a="http://schemas.openxmlformats.org/drawingml/2006/main">
            <a:off x="762000" y="138112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9E9A"/>
                </a:solidFill>
                <a:latin typeface="Arial"/>
                <a:ea typeface="Arial"/>
                <a:cs typeface="Arial"/>
              </a:defRPr>
            </a:pPr>
            <a:r>
              <a:rPr sz="2250" b="1">
                <a:solidFill>
                  <a:srgbClr val="009E9A"/>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6442407-BF03-4E9E-A8F7-D7C65E6C28E9}"/>
              </a:ext>
            </a:extLst>
          </p:cNvPr>
          <p:cNvSpPr>
            <a:spLocks xmlns:a="http://schemas.openxmlformats.org/drawingml/2006/main" noGrp="1"/>
          </p:cNvSpPr>
          <p:nvPr/>
        </p:nvSpPr>
        <p:spPr>
          <a:xfrm xmlns:a="http://schemas.openxmlformats.org/drawingml/2006/main">
            <a:off x="1666875" y="1381125"/>
            <a:ext cx="3381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2735"/>
                </a:solidFill>
                <a:latin typeface="Arial"/>
                <a:ea typeface="Arial"/>
                <a:cs typeface="Arial"/>
              </a:defRPr>
            </a:pPr>
            <a:r>
              <a:rPr sz="1875" b="1">
                <a:solidFill>
                  <a:srgbClr val="112735"/>
                </a:solidFill>
                <a:latin typeface="Arial"/>
                <a:ea typeface="Arial"/>
                <a:cs typeface="Arial"/>
              </a:rPr>
              <a:t>Publication-lag alignment</a:t>
            </a:r>
          </a:p>
        </p:txBody>
      </p:sp>
      <p:sp>
        <p:nvSpPr>
          <p:cNvPr id="6" name="">
            <a:extLst xmlns:a="http://schemas.openxmlformats.org/drawingml/2006/main">
              <a:ext uri="{FF2B5EF4-FFF2-40B4-BE49-F238E27FC236}">
                <a16:creationId xmlns:a16="http://schemas.microsoft.com/office/drawing/2014/main" id="{2B64B5C6-BD58-43EC-B1BC-BE3769665C05}"/>
              </a:ext>
            </a:extLst>
          </p:cNvPr>
          <p:cNvSpPr>
            <a:spLocks xmlns:a="http://schemas.openxmlformats.org/drawingml/2006/main" noGrp="1"/>
          </p:cNvSpPr>
          <p:nvPr/>
        </p:nvSpPr>
        <p:spPr>
          <a:xfrm xmlns:a="http://schemas.openxmlformats.org/drawingml/2006/main">
            <a:off x="5191125" y="1381125"/>
            <a:ext cx="600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D6B75"/>
                </a:solidFill>
                <a:latin typeface="Arial"/>
                <a:ea typeface="Arial"/>
                <a:cs typeface="Arial"/>
              </a:defRPr>
            </a:pPr>
            <a:r>
              <a:rPr sz="1575" b="0">
                <a:solidFill>
                  <a:srgbClr val="5D6B75"/>
                </a:solidFill>
                <a:latin typeface="Arial"/>
                <a:ea typeface="Arial"/>
                <a:cs typeface="Arial"/>
              </a:rPr>
              <a:t>Each predictor uses the freshest month that would have been released at the forecast date.</a:t>
            </a:r>
          </a:p>
        </p:txBody>
      </p:sp>
      <p:sp>
        <p:nvSpPr>
          <p:cNvPr id="7" name="">
            <a:extLst xmlns:a="http://schemas.openxmlformats.org/drawingml/2006/main">
              <a:ext uri="{FF2B5EF4-FFF2-40B4-BE49-F238E27FC236}">
                <a16:creationId xmlns:a16="http://schemas.microsoft.com/office/drawing/2014/main" id="{9C2A3474-4E07-4E75-97B0-D3ADDAA0C445}"/>
              </a:ext>
            </a:extLst>
          </p:cNvPr>
          <p:cNvSpPr>
            <a:spLocks xmlns:a="http://schemas.openxmlformats.org/drawingml/2006/main" noGrp="1"/>
          </p:cNvSpPr>
          <p:nvPr/>
        </p:nvSpPr>
        <p:spPr>
          <a:xfrm xmlns:a="http://schemas.openxmlformats.org/drawingml/2006/main">
            <a:off x="1666875" y="2247900"/>
            <a:ext cx="952500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8" name="">
            <a:extLst xmlns:a="http://schemas.openxmlformats.org/drawingml/2006/main">
              <a:ext uri="{FF2B5EF4-FFF2-40B4-BE49-F238E27FC236}">
                <a16:creationId xmlns:a16="http://schemas.microsoft.com/office/drawing/2014/main" id="{2064DA73-36CC-4CC3-A498-028B3E5E4234}"/>
              </a:ext>
            </a:extLst>
          </p:cNvPr>
          <p:cNvSpPr>
            <a:spLocks xmlns:a="http://schemas.openxmlformats.org/drawingml/2006/main" noGrp="1"/>
          </p:cNvSpPr>
          <p:nvPr/>
        </p:nvSpPr>
        <p:spPr>
          <a:xfrm xmlns:a="http://schemas.openxmlformats.org/drawingml/2006/main">
            <a:off x="762000" y="247650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9E9A"/>
                </a:solidFill>
                <a:latin typeface="Arial"/>
                <a:ea typeface="Arial"/>
                <a:cs typeface="Arial"/>
              </a:defRPr>
            </a:pPr>
            <a:r>
              <a:rPr sz="2250" b="1">
                <a:solidFill>
                  <a:srgbClr val="009E9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BACFA6ED-D257-42B0-8F42-7E6514886A8B}"/>
              </a:ext>
            </a:extLst>
          </p:cNvPr>
          <p:cNvSpPr>
            <a:spLocks xmlns:a="http://schemas.openxmlformats.org/drawingml/2006/main" noGrp="1"/>
          </p:cNvSpPr>
          <p:nvPr/>
        </p:nvSpPr>
        <p:spPr>
          <a:xfrm xmlns:a="http://schemas.openxmlformats.org/drawingml/2006/main">
            <a:off x="1666875" y="2476500"/>
            <a:ext cx="3381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2735"/>
                </a:solidFill>
                <a:latin typeface="Arial"/>
                <a:ea typeface="Arial"/>
                <a:cs typeface="Arial"/>
              </a:defRPr>
            </a:pPr>
            <a:r>
              <a:rPr sz="1875" b="1">
                <a:solidFill>
                  <a:srgbClr val="112735"/>
                </a:solidFill>
                <a:latin typeface="Arial"/>
                <a:ea typeface="Arial"/>
                <a:cs typeface="Arial"/>
              </a:rPr>
              <a:t>Rolling-origin backtest</a:t>
            </a:r>
          </a:p>
        </p:txBody>
      </p:sp>
      <p:sp>
        <p:nvSpPr>
          <p:cNvPr id="10" name="">
            <a:extLst xmlns:a="http://schemas.openxmlformats.org/drawingml/2006/main">
              <a:ext uri="{FF2B5EF4-FFF2-40B4-BE49-F238E27FC236}">
                <a16:creationId xmlns:a16="http://schemas.microsoft.com/office/drawing/2014/main" id="{084C3C79-F65C-418E-A907-7BA035E06F01}"/>
              </a:ext>
            </a:extLst>
          </p:cNvPr>
          <p:cNvSpPr>
            <a:spLocks xmlns:a="http://schemas.openxmlformats.org/drawingml/2006/main" noGrp="1"/>
          </p:cNvSpPr>
          <p:nvPr/>
        </p:nvSpPr>
        <p:spPr>
          <a:xfrm xmlns:a="http://schemas.openxmlformats.org/drawingml/2006/main">
            <a:off x="5191125" y="2476500"/>
            <a:ext cx="600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D6B75"/>
                </a:solidFill>
                <a:latin typeface="Arial"/>
                <a:ea typeface="Arial"/>
                <a:cs typeface="Arial"/>
              </a:defRPr>
            </a:pPr>
            <a:r>
              <a:rPr sz="1575" b="0">
                <a:solidFill>
                  <a:srgbClr val="5D6B75"/>
                </a:solidFill>
                <a:latin typeface="Arial"/>
                <a:ea typeface="Arial"/>
                <a:cs typeface="Arial"/>
              </a:rPr>
              <a:t>Five post-recovery origins test horizons 1 to 4 with a row-level no-future-information rule.</a:t>
            </a:r>
          </a:p>
        </p:txBody>
      </p:sp>
      <p:sp>
        <p:nvSpPr>
          <p:cNvPr id="11" name="">
            <a:extLst xmlns:a="http://schemas.openxmlformats.org/drawingml/2006/main">
              <a:ext uri="{FF2B5EF4-FFF2-40B4-BE49-F238E27FC236}">
                <a16:creationId xmlns:a16="http://schemas.microsoft.com/office/drawing/2014/main" id="{06F63E61-F61B-470F-8246-79A94ECA3E12}"/>
              </a:ext>
            </a:extLst>
          </p:cNvPr>
          <p:cNvSpPr>
            <a:spLocks xmlns:a="http://schemas.openxmlformats.org/drawingml/2006/main" noGrp="1"/>
          </p:cNvSpPr>
          <p:nvPr/>
        </p:nvSpPr>
        <p:spPr>
          <a:xfrm xmlns:a="http://schemas.openxmlformats.org/drawingml/2006/main">
            <a:off x="1666875" y="3343275"/>
            <a:ext cx="952500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12" name="">
            <a:extLst xmlns:a="http://schemas.openxmlformats.org/drawingml/2006/main">
              <a:ext uri="{FF2B5EF4-FFF2-40B4-BE49-F238E27FC236}">
                <a16:creationId xmlns:a16="http://schemas.microsoft.com/office/drawing/2014/main" id="{8CE1B0C2-D17B-4386-80D8-B6CBB9824994}"/>
              </a:ext>
            </a:extLst>
          </p:cNvPr>
          <p:cNvSpPr>
            <a:spLocks xmlns:a="http://schemas.openxmlformats.org/drawingml/2006/main" noGrp="1"/>
          </p:cNvSpPr>
          <p:nvPr/>
        </p:nvSpPr>
        <p:spPr>
          <a:xfrm xmlns:a="http://schemas.openxmlformats.org/drawingml/2006/main">
            <a:off x="762000" y="3571875"/>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9E9A"/>
                </a:solidFill>
                <a:latin typeface="Arial"/>
                <a:ea typeface="Arial"/>
                <a:cs typeface="Arial"/>
              </a:defRPr>
            </a:pPr>
            <a:r>
              <a:rPr sz="2250" b="1">
                <a:solidFill>
                  <a:srgbClr val="009E9A"/>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3FED53C7-37D3-4EF4-9C3A-B112882F5A15}"/>
              </a:ext>
            </a:extLst>
          </p:cNvPr>
          <p:cNvSpPr>
            <a:spLocks xmlns:a="http://schemas.openxmlformats.org/drawingml/2006/main" noGrp="1"/>
          </p:cNvSpPr>
          <p:nvPr/>
        </p:nvSpPr>
        <p:spPr>
          <a:xfrm xmlns:a="http://schemas.openxmlformats.org/drawingml/2006/main">
            <a:off x="1666875" y="3571875"/>
            <a:ext cx="3381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2735"/>
                </a:solidFill>
                <a:latin typeface="Arial"/>
                <a:ea typeface="Arial"/>
                <a:cs typeface="Arial"/>
              </a:defRPr>
            </a:pPr>
            <a:r>
              <a:rPr sz="1875" b="1">
                <a:solidFill>
                  <a:srgbClr val="112735"/>
                </a:solidFill>
                <a:latin typeface="Arial"/>
                <a:ea typeface="Arial"/>
                <a:cs typeface="Arial"/>
              </a:rPr>
              <a:t>Separate shock test</a:t>
            </a:r>
          </a:p>
        </p:txBody>
      </p:sp>
      <p:sp>
        <p:nvSpPr>
          <p:cNvPr id="14" name="">
            <a:extLst xmlns:a="http://schemas.openxmlformats.org/drawingml/2006/main">
              <a:ext uri="{FF2B5EF4-FFF2-40B4-BE49-F238E27FC236}">
                <a16:creationId xmlns:a16="http://schemas.microsoft.com/office/drawing/2014/main" id="{10E149ED-C658-416F-B606-6AF8BB20B395}"/>
              </a:ext>
            </a:extLst>
          </p:cNvPr>
          <p:cNvSpPr>
            <a:spLocks xmlns:a="http://schemas.openxmlformats.org/drawingml/2006/main" noGrp="1"/>
          </p:cNvSpPr>
          <p:nvPr/>
        </p:nvSpPr>
        <p:spPr>
          <a:xfrm xmlns:a="http://schemas.openxmlformats.org/drawingml/2006/main">
            <a:off x="5191125" y="3571875"/>
            <a:ext cx="600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D6B75"/>
                </a:solidFill>
                <a:latin typeface="Arial"/>
                <a:ea typeface="Arial"/>
                <a:cs typeface="Arial"/>
              </a:defRPr>
            </a:pPr>
            <a:r>
              <a:rPr sz="1575" b="0">
                <a:solidFill>
                  <a:srgbClr val="5D6B75"/>
                </a:solidFill>
                <a:latin typeface="Arial"/>
                <a:ea typeface="Arial"/>
                <a:cs typeface="Arial"/>
              </a:rPr>
              <a:t>Five COVID and reopening origins reveal performance under an extreme structural break.</a:t>
            </a:r>
          </a:p>
        </p:txBody>
      </p:sp>
      <p:sp>
        <p:nvSpPr>
          <p:cNvPr id="15" name="">
            <a:extLst xmlns:a="http://schemas.openxmlformats.org/drawingml/2006/main">
              <a:ext uri="{FF2B5EF4-FFF2-40B4-BE49-F238E27FC236}">
                <a16:creationId xmlns:a16="http://schemas.microsoft.com/office/drawing/2014/main" id="{E904AD17-3E14-445C-9A49-1AB07306C062}"/>
              </a:ext>
            </a:extLst>
          </p:cNvPr>
          <p:cNvSpPr>
            <a:spLocks xmlns:a="http://schemas.openxmlformats.org/drawingml/2006/main" noGrp="1"/>
          </p:cNvSpPr>
          <p:nvPr/>
        </p:nvSpPr>
        <p:spPr>
          <a:xfrm xmlns:a="http://schemas.openxmlformats.org/drawingml/2006/main">
            <a:off x="1666875" y="4438650"/>
            <a:ext cx="952500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16" name="">
            <a:extLst xmlns:a="http://schemas.openxmlformats.org/drawingml/2006/main">
              <a:ext uri="{FF2B5EF4-FFF2-40B4-BE49-F238E27FC236}">
                <a16:creationId xmlns:a16="http://schemas.microsoft.com/office/drawing/2014/main" id="{CE699374-1C77-43CD-978A-FBD1463CD3A6}"/>
              </a:ext>
            </a:extLst>
          </p:cNvPr>
          <p:cNvSpPr>
            <a:spLocks xmlns:a="http://schemas.openxmlformats.org/drawingml/2006/main" noGrp="1"/>
          </p:cNvSpPr>
          <p:nvPr/>
        </p:nvSpPr>
        <p:spPr>
          <a:xfrm xmlns:a="http://schemas.openxmlformats.org/drawingml/2006/main">
            <a:off x="762000" y="4667250"/>
            <a:ext cx="66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9E9A"/>
                </a:solidFill>
                <a:latin typeface="Arial"/>
                <a:ea typeface="Arial"/>
                <a:cs typeface="Arial"/>
              </a:defRPr>
            </a:pPr>
            <a:r>
              <a:rPr sz="2250" b="1">
                <a:solidFill>
                  <a:srgbClr val="009E9A"/>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287A1BAD-6B2B-41B7-9734-BF27E59DB62E}"/>
              </a:ext>
            </a:extLst>
          </p:cNvPr>
          <p:cNvSpPr>
            <a:spLocks xmlns:a="http://schemas.openxmlformats.org/drawingml/2006/main" noGrp="1"/>
          </p:cNvSpPr>
          <p:nvPr/>
        </p:nvSpPr>
        <p:spPr>
          <a:xfrm xmlns:a="http://schemas.openxmlformats.org/drawingml/2006/main">
            <a:off x="1666875" y="4667250"/>
            <a:ext cx="3381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12735"/>
                </a:solidFill>
                <a:latin typeface="Arial"/>
                <a:ea typeface="Arial"/>
                <a:cs typeface="Arial"/>
              </a:defRPr>
            </a:pPr>
            <a:r>
              <a:rPr sz="1875" b="1">
                <a:solidFill>
                  <a:srgbClr val="112735"/>
                </a:solidFill>
                <a:latin typeface="Arial"/>
                <a:ea typeface="Arial"/>
                <a:cs typeface="Arial"/>
              </a:rPr>
              <a:t>Scale-aware metrics</a:t>
            </a:r>
          </a:p>
        </p:txBody>
      </p:sp>
      <p:sp>
        <p:nvSpPr>
          <p:cNvPr id="18" name="">
            <a:extLst xmlns:a="http://schemas.openxmlformats.org/drawingml/2006/main">
              <a:ext uri="{FF2B5EF4-FFF2-40B4-BE49-F238E27FC236}">
                <a16:creationId xmlns:a16="http://schemas.microsoft.com/office/drawing/2014/main" id="{8264AB2C-9368-40D1-8197-E7218D860668}"/>
              </a:ext>
            </a:extLst>
          </p:cNvPr>
          <p:cNvSpPr>
            <a:spLocks xmlns:a="http://schemas.openxmlformats.org/drawingml/2006/main" noGrp="1"/>
          </p:cNvSpPr>
          <p:nvPr/>
        </p:nvSpPr>
        <p:spPr>
          <a:xfrm xmlns:a="http://schemas.openxmlformats.org/drawingml/2006/main">
            <a:off x="5191125" y="4667250"/>
            <a:ext cx="600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D6B75"/>
                </a:solidFill>
                <a:latin typeface="Arial"/>
                <a:ea typeface="Arial"/>
                <a:cs typeface="Arial"/>
              </a:defRPr>
            </a:pPr>
            <a:r>
              <a:rPr sz="1575" b="0">
                <a:solidFill>
                  <a:srgbClr val="5D6B75"/>
                </a:solidFill>
                <a:latin typeface="Arial"/>
                <a:ea typeface="Arial"/>
                <a:cs typeface="Arial"/>
              </a:rPr>
              <a:t>MAE and RMSE avoid unstable percentage errors in small-volume markets.</a:t>
            </a:r>
          </a:p>
        </p:txBody>
      </p:sp>
      <p:sp>
        <p:nvSpPr>
          <p:cNvPr id="19" name="">
            <a:extLst xmlns:a="http://schemas.openxmlformats.org/drawingml/2006/main">
              <a:ext uri="{FF2B5EF4-FFF2-40B4-BE49-F238E27FC236}">
                <a16:creationId xmlns:a16="http://schemas.microsoft.com/office/drawing/2014/main" id="{AFF352C2-FBA4-49DB-AAD5-F497B2680A7D}"/>
              </a:ext>
            </a:extLst>
          </p:cNvPr>
          <p:cNvSpPr>
            <a:spLocks xmlns:a="http://schemas.openxmlformats.org/drawingml/2006/main" noGrp="1"/>
          </p:cNvSpPr>
          <p:nvPr/>
        </p:nvSpPr>
        <p:spPr>
          <a:xfrm xmlns:a="http://schemas.openxmlformats.org/drawingml/2006/main">
            <a:off x="5191125" y="5857875"/>
            <a:ext cx="6000750" cy="514350"/>
          </a:xfrm>
          <a:prstGeom xmlns:a="http://schemas.openxmlformats.org/drawingml/2006/main" prst="roundRect">
            <a:avLst>
              <a:gd name="adj" fmla="val 18519"/>
            </a:avLst>
          </a:prstGeom>
          <a:solidFill xmlns:a="http://schemas.openxmlformats.org/drawingml/2006/main">
            <a:srgbClr val="DFF4F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8D4C4AE-B33B-43F1-9C0F-B77B71605C52}"/>
              </a:ext>
            </a:extLst>
          </p:cNvPr>
          <p:cNvSpPr>
            <a:spLocks xmlns:a="http://schemas.openxmlformats.org/drawingml/2006/main" noGrp="1"/>
          </p:cNvSpPr>
          <p:nvPr/>
        </p:nvSpPr>
        <p:spPr>
          <a:xfrm xmlns:a="http://schemas.openxmlformats.org/drawingml/2006/main">
            <a:off x="5410200" y="5981700"/>
            <a:ext cx="561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71B2C"/>
                </a:solidFill>
                <a:latin typeface="Arial"/>
                <a:ea typeface="Arial"/>
                <a:cs typeface="Arial"/>
              </a:defRPr>
            </a:pPr>
            <a:r>
              <a:rPr sz="1350" b="1">
                <a:solidFill>
                  <a:srgbClr val="071B2C"/>
                </a:solidFill>
                <a:latin typeface="Arial"/>
                <a:ea typeface="Arial"/>
                <a:cs typeface="Arial"/>
              </a:rPr>
              <a:t>Training excludes every target that was unpublished at the simulated forecast date.</a:t>
            </a:r>
          </a:p>
        </p:txBody>
      </p:sp>
    </p:spTree>
    <p:extLst>
      <p:ext uri="{BB962C8B-B14F-4D97-AF65-F5344CB8AC3E}">
        <p14:creationId xmlns:p14="http://schemas.microsoft.com/office/powerpoint/2010/main" val="5046692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5">
            <a:extLst xmlns:a="http://schemas.openxmlformats.org/drawingml/2006/main">
              <a:ext uri="{FF2B5EF4-FFF2-40B4-BE49-F238E27FC236}">
                <a16:creationId xmlns:a16="http://schemas.microsoft.com/office/drawing/2014/main" id="{A402BBF9-2646-4315-A672-DF92EAF52943}"/>
              </a:ext>
            </a:extLst>
          </p:cNvPr>
          <p:cNvSpPr>
            <a:spLocks xmlns:a="http://schemas.openxmlformats.org/drawingml/2006/main" noGrp="1"/>
          </p:cNvSpPr>
          <p:nvPr/>
        </p:nvSpPr>
        <p:spPr>
          <a:xfrm xmlns:a="http://schemas.openxmlformats.org/drawingml/2006/main">
            <a:off x="685800" y="4381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735"/>
                </a:solidFill>
                <a:latin typeface="Arial"/>
                <a:ea typeface="Arial"/>
                <a:cs typeface="Arial"/>
              </a:defRPr>
            </a:pPr>
            <a:r>
              <a:rPr sz="3300" b="1">
                <a:solidFill>
                  <a:srgbClr val="112735"/>
                </a:solidFill>
                <a:latin typeface="Arial"/>
                <a:ea typeface="Arial"/>
                <a:cs typeface="Arial"/>
              </a:rPr>
              <a:t>LightGBM minimizes total error across all horizons</a:t>
            </a:r>
          </a:p>
        </p:txBody>
      </p:sp>
      <p:sp>
        <p:nvSpPr>
          <p:cNvPr id="2" name="">
            <a:extLst xmlns:a="http://schemas.openxmlformats.org/drawingml/2006/main">
              <a:ext uri="{FF2B5EF4-FFF2-40B4-BE49-F238E27FC236}">
                <a16:creationId xmlns:a16="http://schemas.microsoft.com/office/drawing/2014/main" id="{5FA4CDE9-714F-4FA7-88EB-972010CD3CB4}"/>
              </a:ext>
            </a:extLst>
          </p:cNvPr>
          <p:cNvSpPr>
            <a:spLocks xmlns:a="http://schemas.openxmlformats.org/drawingml/2006/main" noGrp="1"/>
          </p:cNvSpPr>
          <p:nvPr/>
        </p:nvSpPr>
        <p:spPr>
          <a:xfrm xmlns:a="http://schemas.openxmlformats.org/drawingml/2006/main">
            <a:off x="11191875" y="5143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009E9A"/>
                </a:solidFill>
                <a:latin typeface="Arial"/>
                <a:ea typeface="Arial"/>
                <a:cs typeface="Arial"/>
              </a:defRPr>
            </a:pPr>
            <a:r>
              <a:rPr sz="1200" b="1">
                <a:solidFill>
                  <a:srgbClr val="009E9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8FBC769-D028-463A-A8B5-4180C4BB2D1A}"/>
              </a:ext>
            </a:extLst>
          </p:cNvPr>
          <p:cNvSpPr>
            <a:spLocks xmlns:a="http://schemas.openxmlformats.org/drawingml/2006/main" noGrp="1"/>
          </p:cNvSpPr>
          <p:nvPr/>
        </p:nvSpPr>
        <p:spPr>
          <a:xfrm xmlns:a="http://schemas.openxmlformats.org/drawingml/2006/main">
            <a:off x="685800" y="1066800"/>
            <a:ext cx="914400" cy="0"/>
          </a:xfrm>
          <a:prstGeom xmlns:a="http://schemas.openxmlformats.org/drawingml/2006/main" prst="line">
            <a:avLst/>
          </a:prstGeom>
          <a:noFill xmlns:a="http://schemas.openxmlformats.org/drawingml/2006/main"/>
          <a:ln xmlns:a="http://schemas.openxmlformats.org/drawingml/2006/main" w="38100">
            <a:solidFill>
              <a:srgbClr val="009E9A"/>
            </a:solidFill>
            <a:prstDash val="solid"/>
          </a:ln>
        </p:spPr>
      </p:sp>
      <p:graphicFrame>
        <p:nvGraphicFramePr>
          <p:cNvPr id="14" name="Chart"/>
          <p:cNvGraphicFramePr/>
          <p:nvPr/>
        </p:nvGraphicFramePr>
        <p:xfrm>
          <a:off xmlns:a="http://schemas.openxmlformats.org/drawingml/2006/main" x="685800" y="1409700"/>
          <a:ext xmlns:a="http://schemas.openxmlformats.org/drawingml/2006/main" cx="7239000" cy="4476750"/>
        </p:xfrm>
        <a:graphic xmlns:a="http://schemas.openxmlformats.org/drawingml/2006/main">
          <a:graphicData uri="http://schemas.openxmlformats.org/drawingml/2006/chart">
            <c:chart xmlns:r="http://schemas.openxmlformats.org/officeDocument/2006/relationships" xmlns:c="http://schemas.openxmlformats.org/drawingml/2006/chart" r:id="R66e14ac9461e4fae"/>
          </a:graphicData>
        </a:graphic>
      </p:graphicFrame>
      <p:sp>
        <p:nvSpPr>
          <p:cNvPr id="5" name="">
            <a:extLst xmlns:a="http://schemas.openxmlformats.org/drawingml/2006/main">
              <a:ext uri="{FF2B5EF4-FFF2-40B4-BE49-F238E27FC236}">
                <a16:creationId xmlns:a16="http://schemas.microsoft.com/office/drawing/2014/main" id="{39E5D509-9B1A-4029-83BE-8F5D03CA9784}"/>
              </a:ext>
            </a:extLst>
          </p:cNvPr>
          <p:cNvSpPr>
            <a:spLocks xmlns:a="http://schemas.openxmlformats.org/drawingml/2006/main" noGrp="1"/>
          </p:cNvSpPr>
          <p:nvPr/>
        </p:nvSpPr>
        <p:spPr>
          <a:xfrm xmlns:a="http://schemas.openxmlformats.org/drawingml/2006/main">
            <a:off x="8572500" y="1581150"/>
            <a:ext cx="2476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009E9A"/>
                </a:solidFill>
                <a:latin typeface="Arial"/>
                <a:ea typeface="Arial"/>
                <a:cs typeface="Arial"/>
              </a:defRPr>
            </a:pPr>
            <a:r>
              <a:rPr sz="4500" b="1">
                <a:solidFill>
                  <a:srgbClr val="009E9A"/>
                </a:solidFill>
                <a:latin typeface="Arial"/>
                <a:ea typeface="Arial"/>
                <a:cs typeface="Arial"/>
              </a:rPr>
              <a:t>15,969</a:t>
            </a:r>
          </a:p>
        </p:txBody>
      </p:sp>
      <p:sp>
        <p:nvSpPr>
          <p:cNvPr id="6" name="">
            <a:extLst xmlns:a="http://schemas.openxmlformats.org/drawingml/2006/main">
              <a:ext uri="{FF2B5EF4-FFF2-40B4-BE49-F238E27FC236}">
                <a16:creationId xmlns:a16="http://schemas.microsoft.com/office/drawing/2014/main" id="{A6635A6C-F3F7-4F36-885E-57EA4B354588}"/>
              </a:ext>
            </a:extLst>
          </p:cNvPr>
          <p:cNvSpPr>
            <a:spLocks xmlns:a="http://schemas.openxmlformats.org/drawingml/2006/main" noGrp="1"/>
          </p:cNvSpPr>
          <p:nvPr/>
        </p:nvSpPr>
        <p:spPr>
          <a:xfrm xmlns:a="http://schemas.openxmlformats.org/drawingml/2006/main">
            <a:off x="8610600" y="2343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D6B75"/>
                </a:solidFill>
                <a:latin typeface="Arial"/>
                <a:ea typeface="Arial"/>
                <a:cs typeface="Arial"/>
              </a:defRPr>
            </a:pPr>
            <a:r>
              <a:rPr sz="1650" b="0">
                <a:solidFill>
                  <a:srgbClr val="5D6B75"/>
                </a:solidFill>
                <a:latin typeface="Arial"/>
                <a:ea typeface="Arial"/>
                <a:cs typeface="Arial"/>
              </a:rPr>
              <a:t>aggregate MAE</a:t>
            </a:r>
          </a:p>
        </p:txBody>
      </p:sp>
      <p:sp>
        <p:nvSpPr>
          <p:cNvPr id="7" name="">
            <a:extLst xmlns:a="http://schemas.openxmlformats.org/drawingml/2006/main">
              <a:ext uri="{FF2B5EF4-FFF2-40B4-BE49-F238E27FC236}">
                <a16:creationId xmlns:a16="http://schemas.microsoft.com/office/drawing/2014/main" id="{BC8B6768-E829-4C84-8213-E41B963C31F1}"/>
              </a:ext>
            </a:extLst>
          </p:cNvPr>
          <p:cNvSpPr>
            <a:spLocks xmlns:a="http://schemas.openxmlformats.org/drawingml/2006/main" noGrp="1"/>
          </p:cNvSpPr>
          <p:nvPr/>
        </p:nvSpPr>
        <p:spPr>
          <a:xfrm xmlns:a="http://schemas.openxmlformats.org/drawingml/2006/main">
            <a:off x="8610600" y="2971800"/>
            <a:ext cx="2286000" cy="0"/>
          </a:xfrm>
          <a:prstGeom xmlns:a="http://schemas.openxmlformats.org/drawingml/2006/main" prst="line">
            <a:avLst/>
          </a:prstGeom>
          <a:noFill xmlns:a="http://schemas.openxmlformats.org/drawingml/2006/main"/>
          <a:ln xmlns:a="http://schemas.openxmlformats.org/drawingml/2006/main" w="19050">
            <a:solidFill>
              <a:srgbClr val="D9E3E8"/>
            </a:solidFill>
            <a:prstDash val="solid"/>
          </a:ln>
        </p:spPr>
      </p:sp>
      <p:sp>
        <p:nvSpPr>
          <p:cNvPr id="8" name="">
            <a:extLst xmlns:a="http://schemas.openxmlformats.org/drawingml/2006/main">
              <a:ext uri="{FF2B5EF4-FFF2-40B4-BE49-F238E27FC236}">
                <a16:creationId xmlns:a16="http://schemas.microsoft.com/office/drawing/2014/main" id="{55E23602-1941-4EC7-8029-6978493C2145}"/>
              </a:ext>
            </a:extLst>
          </p:cNvPr>
          <p:cNvSpPr>
            <a:spLocks xmlns:a="http://schemas.openxmlformats.org/drawingml/2006/main" noGrp="1"/>
          </p:cNvSpPr>
          <p:nvPr/>
        </p:nvSpPr>
        <p:spPr>
          <a:xfrm xmlns:a="http://schemas.openxmlformats.org/drawingml/2006/main">
            <a:off x="8610600" y="32575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12735"/>
                </a:solidFill>
                <a:latin typeface="Arial"/>
                <a:ea typeface="Arial"/>
                <a:cs typeface="Arial"/>
              </a:defRPr>
            </a:pPr>
            <a:r>
              <a:rPr sz="1800" b="1">
                <a:solidFill>
                  <a:srgbClr val="112735"/>
                </a:solidFill>
                <a:latin typeface="Arial"/>
                <a:ea typeface="Arial"/>
                <a:cs typeface="Arial"/>
              </a:rPr>
              <a:t>Horizon detail</a:t>
            </a:r>
          </a:p>
        </p:txBody>
      </p:sp>
      <p:sp>
        <p:nvSpPr>
          <p:cNvPr id="9" name="">
            <a:extLst xmlns:a="http://schemas.openxmlformats.org/drawingml/2006/main">
              <a:ext uri="{FF2B5EF4-FFF2-40B4-BE49-F238E27FC236}">
                <a16:creationId xmlns:a16="http://schemas.microsoft.com/office/drawing/2014/main" id="{625FFA0A-5C77-4993-8125-519F7681A5E6}"/>
              </a:ext>
            </a:extLst>
          </p:cNvPr>
          <p:cNvSpPr>
            <a:spLocks xmlns:a="http://schemas.openxmlformats.org/drawingml/2006/main" noGrp="1"/>
          </p:cNvSpPr>
          <p:nvPr/>
        </p:nvSpPr>
        <p:spPr>
          <a:xfrm xmlns:a="http://schemas.openxmlformats.org/drawingml/2006/main">
            <a:off x="8610600" y="3714750"/>
            <a:ext cx="2619375"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D6B75"/>
                </a:solidFill>
                <a:latin typeface="Arial"/>
                <a:ea typeface="Arial"/>
                <a:cs typeface="Arial"/>
              </a:defRPr>
            </a:pPr>
            <a:r>
              <a:rPr sz="1500" b="0">
                <a:solidFill>
                  <a:srgbClr val="5D6B75"/>
                </a:solidFill>
                <a:latin typeface="Arial"/>
                <a:ea typeface="Arial"/>
                <a:cs typeface="Arial"/>
              </a:rPr>
              <a:t>LightGBM leads at months 1 and 2. Seasonal-naive leads narrowly at month 3. Ridge leads narrowly at month 4.</a:t>
            </a:r>
          </a:p>
        </p:txBody>
      </p:sp>
      <p:sp>
        <p:nvSpPr>
          <p:cNvPr id="10" name="">
            <a:extLst xmlns:a="http://schemas.openxmlformats.org/drawingml/2006/main">
              <a:ext uri="{FF2B5EF4-FFF2-40B4-BE49-F238E27FC236}">
                <a16:creationId xmlns:a16="http://schemas.microsoft.com/office/drawing/2014/main" id="{970F2E1F-65C9-471F-BF2A-2254553CC9AD}"/>
              </a:ext>
            </a:extLst>
          </p:cNvPr>
          <p:cNvSpPr>
            <a:spLocks xmlns:a="http://schemas.openxmlformats.org/drawingml/2006/main" noGrp="1"/>
          </p:cNvSpPr>
          <p:nvPr/>
        </p:nvSpPr>
        <p:spPr>
          <a:xfrm xmlns:a="http://schemas.openxmlformats.org/drawingml/2006/main">
            <a:off x="8610600" y="5257800"/>
            <a:ext cx="266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71B2C"/>
                </a:solidFill>
                <a:latin typeface="Arial"/>
                <a:ea typeface="Arial"/>
                <a:cs typeface="Arial"/>
              </a:defRPr>
            </a:pPr>
            <a:r>
              <a:rPr sz="1500" b="1">
                <a:solidFill>
                  <a:srgbClr val="071B2C"/>
                </a:solidFill>
                <a:latin typeface="Arial"/>
                <a:ea typeface="Arial"/>
                <a:cs typeface="Arial"/>
              </a:rPr>
              <a:t>The pooled criterion matches the single model used in deployment.</a:t>
            </a:r>
          </a:p>
        </p:txBody>
      </p:sp>
    </p:spTree>
    <p:extLst>
      <p:ext uri="{BB962C8B-B14F-4D97-AF65-F5344CB8AC3E}">
        <p14:creationId xmlns:p14="http://schemas.microsoft.com/office/powerpoint/2010/main" val="1859748422"/>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1" name="title-6">
            <a:extLst xmlns:a="http://schemas.openxmlformats.org/drawingml/2006/main">
              <a:ext uri="{FF2B5EF4-FFF2-40B4-BE49-F238E27FC236}">
                <a16:creationId xmlns:a16="http://schemas.microsoft.com/office/drawing/2014/main" id="{7B6C585F-2C5F-4C21-8168-8A8BAFFBA1B4}"/>
              </a:ext>
            </a:extLst>
          </p:cNvPr>
          <p:cNvSpPr>
            <a:spLocks xmlns:a="http://schemas.openxmlformats.org/drawingml/2006/main" noGrp="1"/>
          </p:cNvSpPr>
          <p:nvPr/>
        </p:nvSpPr>
        <p:spPr>
          <a:xfrm xmlns:a="http://schemas.openxmlformats.org/drawingml/2006/main">
            <a:off x="685800" y="4381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735"/>
                </a:solidFill>
                <a:latin typeface="Arial"/>
                <a:ea typeface="Arial"/>
                <a:cs typeface="Arial"/>
              </a:defRPr>
            </a:pPr>
            <a:r>
              <a:rPr sz="3300" b="1">
                <a:solidFill>
                  <a:srgbClr val="112735"/>
                </a:solidFill>
                <a:latin typeface="Arial"/>
                <a:ea typeface="Arial"/>
                <a:cs typeface="Arial"/>
              </a:rPr>
              <a:t>Forecast softens after July across the 20 markets</a:t>
            </a:r>
          </a:p>
        </p:txBody>
      </p:sp>
      <p:sp>
        <p:nvSpPr>
          <p:cNvPr id="2" name="">
            <a:extLst xmlns:a="http://schemas.openxmlformats.org/drawingml/2006/main">
              <a:ext uri="{FF2B5EF4-FFF2-40B4-BE49-F238E27FC236}">
                <a16:creationId xmlns:a16="http://schemas.microsoft.com/office/drawing/2014/main" id="{B404D243-B949-430E-ADD6-329ECF82168F}"/>
              </a:ext>
            </a:extLst>
          </p:cNvPr>
          <p:cNvSpPr>
            <a:spLocks xmlns:a="http://schemas.openxmlformats.org/drawingml/2006/main" noGrp="1"/>
          </p:cNvSpPr>
          <p:nvPr/>
        </p:nvSpPr>
        <p:spPr>
          <a:xfrm xmlns:a="http://schemas.openxmlformats.org/drawingml/2006/main">
            <a:off x="11191875" y="5143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009E9A"/>
                </a:solidFill>
                <a:latin typeface="Arial"/>
                <a:ea typeface="Arial"/>
                <a:cs typeface="Arial"/>
              </a:defRPr>
            </a:pPr>
            <a:r>
              <a:rPr sz="1200" b="1">
                <a:solidFill>
                  <a:srgbClr val="009E9A"/>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56739065-51C0-4866-BC52-25B28B69C057}"/>
              </a:ext>
            </a:extLst>
          </p:cNvPr>
          <p:cNvSpPr>
            <a:spLocks xmlns:a="http://schemas.openxmlformats.org/drawingml/2006/main" noGrp="1"/>
          </p:cNvSpPr>
          <p:nvPr/>
        </p:nvSpPr>
        <p:spPr>
          <a:xfrm xmlns:a="http://schemas.openxmlformats.org/drawingml/2006/main">
            <a:off x="685800" y="1066800"/>
            <a:ext cx="914400" cy="0"/>
          </a:xfrm>
          <a:prstGeom xmlns:a="http://schemas.openxmlformats.org/drawingml/2006/main" prst="line">
            <a:avLst/>
          </a:prstGeom>
          <a:noFill xmlns:a="http://schemas.openxmlformats.org/drawingml/2006/main"/>
          <a:ln xmlns:a="http://schemas.openxmlformats.org/drawingml/2006/main" w="38100">
            <a:solidFill>
              <a:srgbClr val="009E9A"/>
            </a:solidFill>
            <a:prstDash val="solid"/>
          </a:ln>
        </p:spPr>
      </p:sp>
      <p:graphicFrame>
        <p:nvGraphicFramePr>
          <p:cNvPr id="14" name="Chart"/>
          <p:cNvGraphicFramePr/>
          <p:nvPr/>
        </p:nvGraphicFramePr>
        <p:xfrm>
          <a:off xmlns:a="http://schemas.openxmlformats.org/drawingml/2006/main" x="685800" y="1485900"/>
          <a:ext xmlns:a="http://schemas.openxmlformats.org/drawingml/2006/main" cx="7524750" cy="4324350"/>
        </p:xfrm>
        <a:graphic xmlns:a="http://schemas.openxmlformats.org/drawingml/2006/main">
          <a:graphicData uri="http://schemas.openxmlformats.org/drawingml/2006/chart">
            <c:chart xmlns:r="http://schemas.openxmlformats.org/officeDocument/2006/relationships" xmlns:c="http://schemas.openxmlformats.org/drawingml/2006/chart" r:id="Rff469cce466a44f3"/>
          </a:graphicData>
        </a:graphic>
      </p:graphicFrame>
      <p:sp>
        <p:nvSpPr>
          <p:cNvPr id="5" name="">
            <a:extLst xmlns:a="http://schemas.openxmlformats.org/drawingml/2006/main">
              <a:ext uri="{FF2B5EF4-FFF2-40B4-BE49-F238E27FC236}">
                <a16:creationId xmlns:a16="http://schemas.microsoft.com/office/drawing/2014/main" id="{7B66571C-058D-47D4-BF98-ED6B66E74C0A}"/>
              </a:ext>
            </a:extLst>
          </p:cNvPr>
          <p:cNvSpPr>
            <a:spLocks xmlns:a="http://schemas.openxmlformats.org/drawingml/2006/main" noGrp="1"/>
          </p:cNvSpPr>
          <p:nvPr/>
        </p:nvSpPr>
        <p:spPr>
          <a:xfrm xmlns:a="http://schemas.openxmlformats.org/drawingml/2006/main">
            <a:off x="8763000" y="1695450"/>
            <a:ext cx="2333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E96655"/>
                </a:solidFill>
                <a:latin typeface="Arial"/>
                <a:ea typeface="Arial"/>
                <a:cs typeface="Arial"/>
              </a:defRPr>
            </a:pPr>
            <a:r>
              <a:rPr sz="4500" b="1">
                <a:solidFill>
                  <a:srgbClr val="E96655"/>
                </a:solidFill>
                <a:latin typeface="Arial"/>
                <a:ea typeface="Arial"/>
                <a:cs typeface="Arial"/>
              </a:rPr>
              <a:t>10.2%</a:t>
            </a:r>
          </a:p>
        </p:txBody>
      </p:sp>
      <p:sp>
        <p:nvSpPr>
          <p:cNvPr id="6" name="">
            <a:extLst xmlns:a="http://schemas.openxmlformats.org/drawingml/2006/main">
              <a:ext uri="{FF2B5EF4-FFF2-40B4-BE49-F238E27FC236}">
                <a16:creationId xmlns:a16="http://schemas.microsoft.com/office/drawing/2014/main" id="{101FBE40-8EB3-43AF-800D-0996194C10F4}"/>
              </a:ext>
            </a:extLst>
          </p:cNvPr>
          <p:cNvSpPr>
            <a:spLocks xmlns:a="http://schemas.openxmlformats.org/drawingml/2006/main" noGrp="1"/>
          </p:cNvSpPr>
          <p:nvPr/>
        </p:nvSpPr>
        <p:spPr>
          <a:xfrm xmlns:a="http://schemas.openxmlformats.org/drawingml/2006/main">
            <a:off x="8801100" y="2457450"/>
            <a:ext cx="2333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D6B75"/>
                </a:solidFill>
                <a:latin typeface="Arial"/>
                <a:ea typeface="Arial"/>
                <a:cs typeface="Arial"/>
              </a:defRPr>
            </a:pPr>
            <a:r>
              <a:rPr sz="1575" b="0">
                <a:solidFill>
                  <a:srgbClr val="5D6B75"/>
                </a:solidFill>
                <a:latin typeface="Arial"/>
                <a:ea typeface="Arial"/>
                <a:cs typeface="Arial"/>
              </a:rPr>
              <a:t>decline from the July peak to September</a:t>
            </a:r>
          </a:p>
        </p:txBody>
      </p:sp>
      <p:sp>
        <p:nvSpPr>
          <p:cNvPr id="7" name="">
            <a:extLst xmlns:a="http://schemas.openxmlformats.org/drawingml/2006/main">
              <a:ext uri="{FF2B5EF4-FFF2-40B4-BE49-F238E27FC236}">
                <a16:creationId xmlns:a16="http://schemas.microsoft.com/office/drawing/2014/main" id="{E66A2FF2-007D-434A-BD82-179418500B1F}"/>
              </a:ext>
            </a:extLst>
          </p:cNvPr>
          <p:cNvSpPr>
            <a:spLocks xmlns:a="http://schemas.openxmlformats.org/drawingml/2006/main" noGrp="1"/>
          </p:cNvSpPr>
          <p:nvPr/>
        </p:nvSpPr>
        <p:spPr>
          <a:xfrm xmlns:a="http://schemas.openxmlformats.org/drawingml/2006/main">
            <a:off x="8801100" y="3352800"/>
            <a:ext cx="2238375" cy="0"/>
          </a:xfrm>
          <a:prstGeom xmlns:a="http://schemas.openxmlformats.org/drawingml/2006/main" prst="line">
            <a:avLst/>
          </a:prstGeom>
          <a:noFill xmlns:a="http://schemas.openxmlformats.org/drawingml/2006/main"/>
          <a:ln xmlns:a="http://schemas.openxmlformats.org/drawingml/2006/main" w="19050">
            <a:solidFill>
              <a:srgbClr val="D9E3E8"/>
            </a:solidFill>
            <a:prstDash val="solid"/>
          </a:ln>
        </p:spPr>
      </p:sp>
      <p:sp>
        <p:nvSpPr>
          <p:cNvPr id="8" name="">
            <a:extLst xmlns:a="http://schemas.openxmlformats.org/drawingml/2006/main">
              <a:ext uri="{FF2B5EF4-FFF2-40B4-BE49-F238E27FC236}">
                <a16:creationId xmlns:a16="http://schemas.microsoft.com/office/drawing/2014/main" id="{8392DFAF-0274-42D7-BABC-4FB32DC8BCCA}"/>
              </a:ext>
            </a:extLst>
          </p:cNvPr>
          <p:cNvSpPr>
            <a:spLocks xmlns:a="http://schemas.openxmlformats.org/drawingml/2006/main" noGrp="1"/>
          </p:cNvSpPr>
          <p:nvPr/>
        </p:nvSpPr>
        <p:spPr>
          <a:xfrm xmlns:a="http://schemas.openxmlformats.org/drawingml/2006/main">
            <a:off x="8801100" y="3638550"/>
            <a:ext cx="2333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12735"/>
                </a:solidFill>
                <a:latin typeface="Arial"/>
                <a:ea typeface="Arial"/>
                <a:cs typeface="Arial"/>
              </a:defRPr>
            </a:pPr>
            <a:r>
              <a:rPr sz="1800" b="1">
                <a:solidFill>
                  <a:srgbClr val="112735"/>
                </a:solidFill>
                <a:latin typeface="Arial"/>
                <a:ea typeface="Arial"/>
                <a:cs typeface="Arial"/>
              </a:rPr>
              <a:t>June leaders</a:t>
            </a:r>
          </a:p>
        </p:txBody>
      </p:sp>
      <p:sp>
        <p:nvSpPr>
          <p:cNvPr id="9" name="">
            <a:extLst xmlns:a="http://schemas.openxmlformats.org/drawingml/2006/main">
              <a:ext uri="{FF2B5EF4-FFF2-40B4-BE49-F238E27FC236}">
                <a16:creationId xmlns:a16="http://schemas.microsoft.com/office/drawing/2014/main" id="{EF8D4212-29E2-46CE-86BF-DC11C2F240FC}"/>
              </a:ext>
            </a:extLst>
          </p:cNvPr>
          <p:cNvSpPr>
            <a:spLocks xmlns:a="http://schemas.openxmlformats.org/drawingml/2006/main" noGrp="1"/>
          </p:cNvSpPr>
          <p:nvPr/>
        </p:nvSpPr>
        <p:spPr>
          <a:xfrm xmlns:a="http://schemas.openxmlformats.org/drawingml/2006/main">
            <a:off x="8801100" y="4095750"/>
            <a:ext cx="2476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D6B75"/>
                </a:solidFill>
                <a:latin typeface="Arial"/>
                <a:ea typeface="Arial"/>
                <a:cs typeface="Arial"/>
              </a:defRPr>
            </a:pPr>
            <a:r>
              <a:rPr sz="1500" b="0">
                <a:solidFill>
                  <a:srgbClr val="5D6B75"/>
                </a:solidFill>
                <a:latin typeface="Arial"/>
                <a:ea typeface="Arial"/>
                <a:cs typeface="Arial"/>
              </a:rPr>
              <a:t>Singapore leads at 0.99M. China and Indonesia follow at 0.36M and 0.31M.</a:t>
            </a:r>
          </a:p>
        </p:txBody>
      </p:sp>
      <p:sp>
        <p:nvSpPr>
          <p:cNvPr id="10" name="">
            <a:extLst xmlns:a="http://schemas.openxmlformats.org/drawingml/2006/main">
              <a:ext uri="{FF2B5EF4-FFF2-40B4-BE49-F238E27FC236}">
                <a16:creationId xmlns:a16="http://schemas.microsoft.com/office/drawing/2014/main" id="{418742F7-886F-453D-B2BF-D8CD43FDFD94}"/>
              </a:ext>
            </a:extLst>
          </p:cNvPr>
          <p:cNvSpPr>
            <a:spLocks xmlns:a="http://schemas.openxmlformats.org/drawingml/2006/main" noGrp="1"/>
          </p:cNvSpPr>
          <p:nvPr/>
        </p:nvSpPr>
        <p:spPr>
          <a:xfrm xmlns:a="http://schemas.openxmlformats.org/drawingml/2006/main">
            <a:off x="8801100" y="5410200"/>
            <a:ext cx="2571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71B2C"/>
                </a:solidFill>
                <a:latin typeface="Arial"/>
                <a:ea typeface="Arial"/>
                <a:cs typeface="Arial"/>
              </a:defRPr>
            </a:pPr>
            <a:r>
              <a:rPr sz="1350" b="1">
                <a:solidFill>
                  <a:srgbClr val="071B2C"/>
                </a:solidFill>
                <a:latin typeface="Arial"/>
                <a:ea typeface="Arial"/>
                <a:cs typeface="Arial"/>
              </a:rPr>
              <a:t>Point forecasts only. The current model does not produce prediction intervals.</a:t>
            </a:r>
          </a:p>
        </p:txBody>
      </p:sp>
    </p:spTree>
    <p:extLst>
      <p:ext uri="{BB962C8B-B14F-4D97-AF65-F5344CB8AC3E}">
        <p14:creationId xmlns:p14="http://schemas.microsoft.com/office/powerpoint/2010/main" val="8123287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7">
            <a:extLst xmlns:a="http://schemas.openxmlformats.org/drawingml/2006/main">
              <a:ext uri="{FF2B5EF4-FFF2-40B4-BE49-F238E27FC236}">
                <a16:creationId xmlns:a16="http://schemas.microsoft.com/office/drawing/2014/main" id="{BD5A0A8D-D9CB-4C39-AA9D-2171E7AAD3BA}"/>
              </a:ext>
            </a:extLst>
          </p:cNvPr>
          <p:cNvSpPr>
            <a:spLocks xmlns:a="http://schemas.openxmlformats.org/drawingml/2006/main" noGrp="1"/>
          </p:cNvSpPr>
          <p:nvPr/>
        </p:nvSpPr>
        <p:spPr>
          <a:xfrm xmlns:a="http://schemas.openxmlformats.org/drawingml/2006/main">
            <a:off x="685800" y="4381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735"/>
                </a:solidFill>
                <a:latin typeface="Arial"/>
                <a:ea typeface="Arial"/>
                <a:cs typeface="Arial"/>
              </a:defRPr>
            </a:pPr>
            <a:r>
              <a:rPr sz="3300" b="1">
                <a:solidFill>
                  <a:srgbClr val="112735"/>
                </a:solidFill>
                <a:latin typeface="Arial"/>
                <a:ea typeface="Arial"/>
                <a:cs typeface="Arial"/>
              </a:rPr>
              <a:t>GPR associations differ sharply by source market</a:t>
            </a:r>
          </a:p>
        </p:txBody>
      </p:sp>
      <p:sp>
        <p:nvSpPr>
          <p:cNvPr id="2" name="">
            <a:extLst xmlns:a="http://schemas.openxmlformats.org/drawingml/2006/main">
              <a:ext uri="{FF2B5EF4-FFF2-40B4-BE49-F238E27FC236}">
                <a16:creationId xmlns:a16="http://schemas.microsoft.com/office/drawing/2014/main" id="{D9C670AE-8900-4771-BCFB-506111795166}"/>
              </a:ext>
            </a:extLst>
          </p:cNvPr>
          <p:cNvSpPr>
            <a:spLocks xmlns:a="http://schemas.openxmlformats.org/drawingml/2006/main" noGrp="1"/>
          </p:cNvSpPr>
          <p:nvPr/>
        </p:nvSpPr>
        <p:spPr>
          <a:xfrm xmlns:a="http://schemas.openxmlformats.org/drawingml/2006/main">
            <a:off x="11191875" y="5143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009E9A"/>
                </a:solidFill>
                <a:latin typeface="Arial"/>
                <a:ea typeface="Arial"/>
                <a:cs typeface="Arial"/>
              </a:defRPr>
            </a:pPr>
            <a:r>
              <a:rPr sz="1200" b="1">
                <a:solidFill>
                  <a:srgbClr val="009E9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0645814C-A959-4971-AB91-02774506371C}"/>
              </a:ext>
            </a:extLst>
          </p:cNvPr>
          <p:cNvSpPr>
            <a:spLocks xmlns:a="http://schemas.openxmlformats.org/drawingml/2006/main" noGrp="1"/>
          </p:cNvSpPr>
          <p:nvPr/>
        </p:nvSpPr>
        <p:spPr>
          <a:xfrm xmlns:a="http://schemas.openxmlformats.org/drawingml/2006/main">
            <a:off x="685800" y="1066800"/>
            <a:ext cx="914400" cy="0"/>
          </a:xfrm>
          <a:prstGeom xmlns:a="http://schemas.openxmlformats.org/drawingml/2006/main" prst="line">
            <a:avLst/>
          </a:prstGeom>
          <a:noFill xmlns:a="http://schemas.openxmlformats.org/drawingml/2006/main"/>
          <a:ln xmlns:a="http://schemas.openxmlformats.org/drawingml/2006/main" w="38100">
            <a:solidFill>
              <a:srgbClr val="009E9A"/>
            </a:solidFill>
            <a:prstDash val="solid"/>
          </a:ln>
        </p:spPr>
      </p:sp>
      <p:graphicFrame>
        <p:nvGraphicFramePr>
          <p:cNvPr id="15" name="Chart"/>
          <p:cNvGraphicFramePr/>
          <p:nvPr/>
        </p:nvGraphicFramePr>
        <p:xfrm>
          <a:off xmlns:a="http://schemas.openxmlformats.org/drawingml/2006/main" x="628650" y="1428750"/>
          <a:ext xmlns:a="http://schemas.openxmlformats.org/drawingml/2006/main" cx="8191500" cy="4762500"/>
        </p:xfrm>
        <a:graphic xmlns:a="http://schemas.openxmlformats.org/drawingml/2006/main">
          <a:graphicData uri="http://schemas.openxmlformats.org/drawingml/2006/chart">
            <c:chart xmlns:r="http://schemas.openxmlformats.org/officeDocument/2006/relationships" xmlns:c="http://schemas.openxmlformats.org/drawingml/2006/chart" r:id="R57311fba8d6f4723"/>
          </a:graphicData>
        </a:graphic>
      </p:graphicFrame>
      <p:sp>
        <p:nvSpPr>
          <p:cNvPr id="5" name="">
            <a:extLst xmlns:a="http://schemas.openxmlformats.org/drawingml/2006/main">
              <a:ext uri="{FF2B5EF4-FFF2-40B4-BE49-F238E27FC236}">
                <a16:creationId xmlns:a16="http://schemas.microsoft.com/office/drawing/2014/main" id="{DD85154D-FCAE-4E64-B7DE-AB0314651266}"/>
              </a:ext>
            </a:extLst>
          </p:cNvPr>
          <p:cNvSpPr>
            <a:spLocks xmlns:a="http://schemas.openxmlformats.org/drawingml/2006/main" noGrp="1"/>
          </p:cNvSpPr>
          <p:nvPr/>
        </p:nvSpPr>
        <p:spPr>
          <a:xfrm xmlns:a="http://schemas.openxmlformats.org/drawingml/2006/main">
            <a:off x="9182100" y="15811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E96655"/>
                </a:solidFill>
                <a:latin typeface="Arial"/>
                <a:ea typeface="Arial"/>
                <a:cs typeface="Arial"/>
              </a:defRPr>
            </a:pPr>
            <a:r>
              <a:rPr sz="4050" b="1">
                <a:solidFill>
                  <a:srgbClr val="E96655"/>
                </a:solidFill>
                <a:latin typeface="Arial"/>
                <a:ea typeface="Arial"/>
                <a:cs typeface="Arial"/>
              </a:rPr>
              <a:t>16 of 20</a:t>
            </a:r>
          </a:p>
        </p:txBody>
      </p:sp>
      <p:sp>
        <p:nvSpPr>
          <p:cNvPr id="6" name="">
            <a:extLst xmlns:a="http://schemas.openxmlformats.org/drawingml/2006/main">
              <a:ext uri="{FF2B5EF4-FFF2-40B4-BE49-F238E27FC236}">
                <a16:creationId xmlns:a16="http://schemas.microsoft.com/office/drawing/2014/main" id="{4DE178F0-0020-4A3E-B4C3-D6A1CB762D6B}"/>
              </a:ext>
            </a:extLst>
          </p:cNvPr>
          <p:cNvSpPr>
            <a:spLocks xmlns:a="http://schemas.openxmlformats.org/drawingml/2006/main" noGrp="1"/>
          </p:cNvSpPr>
          <p:nvPr/>
        </p:nvSpPr>
        <p:spPr>
          <a:xfrm xmlns:a="http://schemas.openxmlformats.org/drawingml/2006/main">
            <a:off x="9220200" y="2286000"/>
            <a:ext cx="2190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D6B75"/>
                </a:solidFill>
                <a:latin typeface="Arial"/>
                <a:ea typeface="Arial"/>
                <a:cs typeface="Arial"/>
              </a:defRPr>
            </a:pPr>
            <a:r>
              <a:rPr sz="1575" b="0">
                <a:solidFill>
                  <a:srgbClr val="5D6B75"/>
                </a:solidFill>
                <a:latin typeface="Arial"/>
                <a:ea typeface="Arial"/>
                <a:cs typeface="Arial"/>
              </a:rPr>
              <a:t>markets have a negative controlled slope</a:t>
            </a:r>
          </a:p>
        </p:txBody>
      </p:sp>
      <p:sp>
        <p:nvSpPr>
          <p:cNvPr id="7" name="">
            <a:extLst xmlns:a="http://schemas.openxmlformats.org/drawingml/2006/main">
              <a:ext uri="{FF2B5EF4-FFF2-40B4-BE49-F238E27FC236}">
                <a16:creationId xmlns:a16="http://schemas.microsoft.com/office/drawing/2014/main" id="{CE192903-136E-4015-A711-CAE19DB54BAA}"/>
              </a:ext>
            </a:extLst>
          </p:cNvPr>
          <p:cNvSpPr>
            <a:spLocks xmlns:a="http://schemas.openxmlformats.org/drawingml/2006/main" noGrp="1"/>
          </p:cNvSpPr>
          <p:nvPr/>
        </p:nvSpPr>
        <p:spPr>
          <a:xfrm xmlns:a="http://schemas.openxmlformats.org/drawingml/2006/main">
            <a:off x="9220200" y="3238500"/>
            <a:ext cx="2095500" cy="0"/>
          </a:xfrm>
          <a:prstGeom xmlns:a="http://schemas.openxmlformats.org/drawingml/2006/main" prst="line">
            <a:avLst/>
          </a:prstGeom>
          <a:noFill xmlns:a="http://schemas.openxmlformats.org/drawingml/2006/main"/>
          <a:ln xmlns:a="http://schemas.openxmlformats.org/drawingml/2006/main" w="19050">
            <a:solidFill>
              <a:srgbClr val="D9E3E8"/>
            </a:solidFill>
            <a:prstDash val="solid"/>
          </a:ln>
        </p:spPr>
      </p:sp>
      <p:sp>
        <p:nvSpPr>
          <p:cNvPr id="8" name="">
            <a:extLst xmlns:a="http://schemas.openxmlformats.org/drawingml/2006/main">
              <a:ext uri="{FF2B5EF4-FFF2-40B4-BE49-F238E27FC236}">
                <a16:creationId xmlns:a16="http://schemas.microsoft.com/office/drawing/2014/main" id="{1202F454-89B0-442B-BFA3-D194A98D2AA8}"/>
              </a:ext>
            </a:extLst>
          </p:cNvPr>
          <p:cNvSpPr>
            <a:spLocks xmlns:a="http://schemas.openxmlformats.org/drawingml/2006/main" noGrp="1"/>
          </p:cNvSpPr>
          <p:nvPr/>
        </p:nvSpPr>
        <p:spPr>
          <a:xfrm xmlns:a="http://schemas.openxmlformats.org/drawingml/2006/main">
            <a:off x="9220200" y="352425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12735"/>
                </a:solidFill>
                <a:latin typeface="Arial"/>
                <a:ea typeface="Arial"/>
                <a:cs typeface="Arial"/>
              </a:defRPr>
            </a:pPr>
            <a:r>
              <a:rPr sz="1800" b="1">
                <a:solidFill>
                  <a:srgbClr val="112735"/>
                </a:solidFill>
                <a:latin typeface="Arial"/>
                <a:ea typeface="Arial"/>
                <a:cs typeface="Arial"/>
              </a:rPr>
              <a:t>Interpretation</a:t>
            </a:r>
          </a:p>
        </p:txBody>
      </p:sp>
      <p:sp>
        <p:nvSpPr>
          <p:cNvPr id="9" name="">
            <a:extLst xmlns:a="http://schemas.openxmlformats.org/drawingml/2006/main">
              <a:ext uri="{FF2B5EF4-FFF2-40B4-BE49-F238E27FC236}">
                <a16:creationId xmlns:a16="http://schemas.microsoft.com/office/drawing/2014/main" id="{D4D565CD-C283-45CC-ACE5-06C78BD11F8A}"/>
              </a:ext>
            </a:extLst>
          </p:cNvPr>
          <p:cNvSpPr>
            <a:spLocks xmlns:a="http://schemas.openxmlformats.org/drawingml/2006/main" noGrp="1"/>
          </p:cNvSpPr>
          <p:nvPr/>
        </p:nvSpPr>
        <p:spPr>
          <a:xfrm xmlns:a="http://schemas.openxmlformats.org/drawingml/2006/main">
            <a:off x="9220200" y="3981450"/>
            <a:ext cx="21526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D6B75"/>
                </a:solidFill>
                <a:latin typeface="Arial"/>
                <a:ea typeface="Arial"/>
                <a:cs typeface="Arial"/>
              </a:defRPr>
            </a:pPr>
            <a:r>
              <a:rPr sz="1425" b="0">
                <a:solidFill>
                  <a:srgbClr val="5D6B75"/>
                </a:solidFill>
                <a:latin typeface="Arial"/>
                <a:ea typeface="Arial"/>
                <a:cs typeface="Arial"/>
              </a:rPr>
              <a:t>The direction changes after controlling for demand history, seasonality, exchange rates and energy prices.</a:t>
            </a:r>
          </a:p>
        </p:txBody>
      </p:sp>
      <p:sp>
        <p:nvSpPr>
          <p:cNvPr id="10" name="">
            <a:extLst xmlns:a="http://schemas.openxmlformats.org/drawingml/2006/main">
              <a:ext uri="{FF2B5EF4-FFF2-40B4-BE49-F238E27FC236}">
                <a16:creationId xmlns:a16="http://schemas.microsoft.com/office/drawing/2014/main" id="{EDB6E9CD-BB44-4075-8E49-7D8E3D2E9EAB}"/>
              </a:ext>
            </a:extLst>
          </p:cNvPr>
          <p:cNvSpPr>
            <a:spLocks xmlns:a="http://schemas.openxmlformats.org/drawingml/2006/main" noGrp="1"/>
          </p:cNvSpPr>
          <p:nvPr/>
        </p:nvSpPr>
        <p:spPr>
          <a:xfrm xmlns:a="http://schemas.openxmlformats.org/drawingml/2006/main">
            <a:off x="9105900" y="5381625"/>
            <a:ext cx="2381250" cy="781050"/>
          </a:xfrm>
          <a:prstGeom xmlns:a="http://schemas.openxmlformats.org/drawingml/2006/main" prst="roundRect">
            <a:avLst>
              <a:gd name="adj" fmla="val 12195"/>
            </a:avLst>
          </a:prstGeom>
          <a:solidFill xmlns:a="http://schemas.openxmlformats.org/drawingml/2006/main">
            <a:srgbClr val="FFF0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9403AE8-A212-435F-959F-526D47672EB9}"/>
              </a:ext>
            </a:extLst>
          </p:cNvPr>
          <p:cNvSpPr>
            <a:spLocks xmlns:a="http://schemas.openxmlformats.org/drawingml/2006/main" noGrp="1"/>
          </p:cNvSpPr>
          <p:nvPr/>
        </p:nvSpPr>
        <p:spPr>
          <a:xfrm xmlns:a="http://schemas.openxmlformats.org/drawingml/2006/main">
            <a:off x="9296400" y="5581650"/>
            <a:ext cx="2019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425" b="1">
                <a:solidFill>
                  <a:srgbClr val="8F3428"/>
                </a:solidFill>
                <a:latin typeface="Arial"/>
                <a:ea typeface="Arial"/>
                <a:cs typeface="Arial"/>
              </a:defRPr>
            </a:pPr>
            <a:r>
              <a:rPr sz="1425" b="1">
                <a:solidFill>
                  <a:srgbClr val="8F3428"/>
                </a:solidFill>
                <a:latin typeface="Arial"/>
                <a:ea typeface="Arial"/>
                <a:cs typeface="Arial"/>
              </a:rPr>
              <a:t>These are model associations, not causal effects.</a:t>
            </a:r>
          </a:p>
        </p:txBody>
      </p:sp>
    </p:spTree>
    <p:extLst>
      <p:ext uri="{BB962C8B-B14F-4D97-AF65-F5344CB8AC3E}">
        <p14:creationId xmlns:p14="http://schemas.microsoft.com/office/powerpoint/2010/main" val="1769813254"/>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20" name="title-8">
            <a:extLst xmlns:a="http://schemas.openxmlformats.org/drawingml/2006/main">
              <a:ext uri="{FF2B5EF4-FFF2-40B4-BE49-F238E27FC236}">
                <a16:creationId xmlns:a16="http://schemas.microsoft.com/office/drawing/2014/main" id="{19ED3AFD-5619-49FD-9E55-128D687CFBD5}"/>
              </a:ext>
            </a:extLst>
          </p:cNvPr>
          <p:cNvSpPr>
            <a:spLocks xmlns:a="http://schemas.openxmlformats.org/drawingml/2006/main" noGrp="1"/>
          </p:cNvSpPr>
          <p:nvPr/>
        </p:nvSpPr>
        <p:spPr>
          <a:xfrm xmlns:a="http://schemas.openxmlformats.org/drawingml/2006/main">
            <a:off x="685800" y="4381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735"/>
                </a:solidFill>
                <a:latin typeface="Arial"/>
                <a:ea typeface="Arial"/>
                <a:cs typeface="Arial"/>
              </a:defRPr>
            </a:pPr>
            <a:r>
              <a:rPr sz="3300" b="1">
                <a:solidFill>
                  <a:srgbClr val="112735"/>
                </a:solidFill>
                <a:latin typeface="Arial"/>
                <a:ea typeface="Arial"/>
                <a:cs typeface="Arial"/>
              </a:rPr>
              <a:t>Live dashboard demonstration</a:t>
            </a:r>
          </a:p>
        </p:txBody>
      </p:sp>
      <p:sp>
        <p:nvSpPr>
          <p:cNvPr id="2" name="">
            <a:extLst xmlns:a="http://schemas.openxmlformats.org/drawingml/2006/main">
              <a:ext uri="{FF2B5EF4-FFF2-40B4-BE49-F238E27FC236}">
                <a16:creationId xmlns:a16="http://schemas.microsoft.com/office/drawing/2014/main" id="{46CF68BD-6C8E-4EBD-A94A-65C0FFF77968}"/>
              </a:ext>
            </a:extLst>
          </p:cNvPr>
          <p:cNvSpPr>
            <a:spLocks xmlns:a="http://schemas.openxmlformats.org/drawingml/2006/main" noGrp="1"/>
          </p:cNvSpPr>
          <p:nvPr/>
        </p:nvSpPr>
        <p:spPr>
          <a:xfrm xmlns:a="http://schemas.openxmlformats.org/drawingml/2006/main">
            <a:off x="11191875" y="5143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009E9A"/>
                </a:solidFill>
                <a:latin typeface="Arial"/>
                <a:ea typeface="Arial"/>
                <a:cs typeface="Arial"/>
              </a:defRPr>
            </a:pPr>
            <a:r>
              <a:rPr sz="1200" b="1">
                <a:solidFill>
                  <a:srgbClr val="009E9A"/>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D69A2DCD-A2FA-4421-9812-2AC3B61FD4C4}"/>
              </a:ext>
            </a:extLst>
          </p:cNvPr>
          <p:cNvSpPr>
            <a:spLocks xmlns:a="http://schemas.openxmlformats.org/drawingml/2006/main" noGrp="1"/>
          </p:cNvSpPr>
          <p:nvPr/>
        </p:nvSpPr>
        <p:spPr>
          <a:xfrm xmlns:a="http://schemas.openxmlformats.org/drawingml/2006/main">
            <a:off x="685800" y="1066800"/>
            <a:ext cx="914400" cy="0"/>
          </a:xfrm>
          <a:prstGeom xmlns:a="http://schemas.openxmlformats.org/drawingml/2006/main" prst="line">
            <a:avLst/>
          </a:prstGeom>
          <a:noFill xmlns:a="http://schemas.openxmlformats.org/drawingml/2006/main"/>
          <a:ln xmlns:a="http://schemas.openxmlformats.org/drawingml/2006/main" w="38100">
            <a:solidFill>
              <a:srgbClr val="009E9A"/>
            </a:solidFill>
            <a:prstDash val="solid"/>
          </a:ln>
        </p:spPr>
      </p:sp>
      <p:sp>
        <p:nvSpPr>
          <p:cNvPr id="4" name="">
            <a:extLst xmlns:a="http://schemas.openxmlformats.org/drawingml/2006/main">
              <a:ext uri="{FF2B5EF4-FFF2-40B4-BE49-F238E27FC236}">
                <a16:creationId xmlns:a16="http://schemas.microsoft.com/office/drawing/2014/main" id="{8090D098-E917-4BC8-ABEB-61BEF35F7FE1}"/>
              </a:ext>
            </a:extLst>
          </p:cNvPr>
          <p:cNvSpPr>
            <a:spLocks xmlns:a="http://schemas.openxmlformats.org/drawingml/2006/main" noGrp="1"/>
          </p:cNvSpPr>
          <p:nvPr/>
        </p:nvSpPr>
        <p:spPr>
          <a:xfrm xmlns:a="http://schemas.openxmlformats.org/drawingml/2006/main">
            <a:off x="590550" y="1295400"/>
            <a:ext cx="7981950" cy="4629150"/>
          </a:xfrm>
          <a:prstGeom xmlns:a="http://schemas.openxmlformats.org/drawingml/2006/main" prst="roundRect">
            <a:avLst>
              <a:gd name="adj" fmla="val 2469"/>
            </a:avLst>
          </a:prstGeom>
          <a:solidFill xmlns:a="http://schemas.openxmlformats.org/drawingml/2006/main">
            <a:srgbClr val="FFFFFF"/>
          </a:solidFill>
          <a:ln xmlns:a="http://schemas.openxmlformats.org/drawingml/2006/main" w="9525">
            <a:solidFill>
              <a:srgbClr val="D9E3E8"/>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9f1a339f8dc4df8"/>
          <a:stretch xmlns:a="http://schemas.openxmlformats.org/drawingml/2006/main"/>
        </p:blipFill>
        <p:spPr>
          <a:xfrm xmlns:a="http://schemas.openxmlformats.org/drawingml/2006/main">
            <a:off x="776883" y="1409700"/>
            <a:ext cx="7609284" cy="4400550"/>
          </a:xfrm>
          <a:prstGeom xmlns:a="http://schemas.openxmlformats.org/drawingml/2006/main" prst="roundRect">
            <a:avLst>
              <a:gd name="adj" fmla="val 1732"/>
            </a:avLst>
          </a:prstGeom>
        </p:spPr>
      </p:pic>
      <p:sp>
        <p:nvSpPr>
          <p:cNvPr id="6" name="">
            <a:extLst xmlns:a="http://schemas.openxmlformats.org/drawingml/2006/main">
              <a:ext uri="{FF2B5EF4-FFF2-40B4-BE49-F238E27FC236}">
                <a16:creationId xmlns:a16="http://schemas.microsoft.com/office/drawing/2014/main" id="{AC7A68A9-F673-453C-8371-F07DD2A70C7F}"/>
              </a:ext>
            </a:extLst>
          </p:cNvPr>
          <p:cNvSpPr>
            <a:spLocks xmlns:a="http://schemas.openxmlformats.org/drawingml/2006/main" noGrp="1"/>
          </p:cNvSpPr>
          <p:nvPr/>
        </p:nvSpPr>
        <p:spPr>
          <a:xfrm xmlns:a="http://schemas.openxmlformats.org/drawingml/2006/main">
            <a:off x="8991600" y="1390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09E9A"/>
                </a:solidFill>
                <a:latin typeface="Arial"/>
                <a:ea typeface="Arial"/>
                <a:cs typeface="Arial"/>
              </a:defRPr>
            </a:pPr>
            <a:r>
              <a:rPr sz="1350" b="1">
                <a:solidFill>
                  <a:srgbClr val="009E9A"/>
                </a:solidFill>
                <a:latin typeface="Arial"/>
                <a:ea typeface="Arial"/>
                <a:cs typeface="Arial"/>
              </a:rPr>
              <a:t>DEMO PATH</a:t>
            </a:r>
          </a:p>
        </p:txBody>
      </p:sp>
      <p:sp>
        <p:nvSpPr>
          <p:cNvPr id="7" name="">
            <a:extLst xmlns:a="http://schemas.openxmlformats.org/drawingml/2006/main">
              <a:ext uri="{FF2B5EF4-FFF2-40B4-BE49-F238E27FC236}">
                <a16:creationId xmlns:a16="http://schemas.microsoft.com/office/drawing/2014/main" id="{517592AD-DF3D-460D-9090-66B0F09C35D7}"/>
              </a:ext>
            </a:extLst>
          </p:cNvPr>
          <p:cNvSpPr>
            <a:spLocks xmlns:a="http://schemas.openxmlformats.org/drawingml/2006/main" noGrp="1"/>
          </p:cNvSpPr>
          <p:nvPr/>
        </p:nvSpPr>
        <p:spPr>
          <a:xfrm xmlns:a="http://schemas.openxmlformats.org/drawingml/2006/main">
            <a:off x="8991600" y="190500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8AF2"/>
                </a:solidFill>
                <a:latin typeface="Arial"/>
                <a:ea typeface="Arial"/>
                <a:cs typeface="Arial"/>
              </a:defRPr>
            </a:pPr>
            <a:r>
              <a:rPr sz="1650" b="1">
                <a:solidFill>
                  <a:srgbClr val="148AF2"/>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2B593E81-7FCA-46EC-BD6D-2D3FCBBB81A3}"/>
              </a:ext>
            </a:extLst>
          </p:cNvPr>
          <p:cNvSpPr>
            <a:spLocks xmlns:a="http://schemas.openxmlformats.org/drawingml/2006/main" noGrp="1"/>
          </p:cNvSpPr>
          <p:nvPr/>
        </p:nvSpPr>
        <p:spPr>
          <a:xfrm xmlns:a="http://schemas.openxmlformats.org/drawingml/2006/main">
            <a:off x="9601200" y="190500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12735"/>
                </a:solidFill>
                <a:latin typeface="Arial"/>
                <a:ea typeface="Arial"/>
                <a:cs typeface="Arial"/>
              </a:defRPr>
            </a:pPr>
            <a:r>
              <a:rPr sz="1425" b="1">
                <a:solidFill>
                  <a:srgbClr val="112735"/>
                </a:solidFill>
                <a:latin typeface="Arial"/>
                <a:ea typeface="Arial"/>
                <a:cs typeface="Arial"/>
              </a:rPr>
              <a:t>Filter market segment and source country</a:t>
            </a:r>
          </a:p>
        </p:txBody>
      </p:sp>
      <p:sp>
        <p:nvSpPr>
          <p:cNvPr id="9" name="">
            <a:extLst xmlns:a="http://schemas.openxmlformats.org/drawingml/2006/main">
              <a:ext uri="{FF2B5EF4-FFF2-40B4-BE49-F238E27FC236}">
                <a16:creationId xmlns:a16="http://schemas.microsoft.com/office/drawing/2014/main" id="{60C5B525-0723-4D0E-805B-3B8FE3CE07BB}"/>
              </a:ext>
            </a:extLst>
          </p:cNvPr>
          <p:cNvSpPr>
            <a:spLocks xmlns:a="http://schemas.openxmlformats.org/drawingml/2006/main" noGrp="1"/>
          </p:cNvSpPr>
          <p:nvPr/>
        </p:nvSpPr>
        <p:spPr>
          <a:xfrm xmlns:a="http://schemas.openxmlformats.org/drawingml/2006/main">
            <a:off x="9601200" y="2609850"/>
            <a:ext cx="190500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10" name="">
            <a:extLst xmlns:a="http://schemas.openxmlformats.org/drawingml/2006/main">
              <a:ext uri="{FF2B5EF4-FFF2-40B4-BE49-F238E27FC236}">
                <a16:creationId xmlns:a16="http://schemas.microsoft.com/office/drawing/2014/main" id="{41032039-DD43-402A-A50E-E897554DBDFB}"/>
              </a:ext>
            </a:extLst>
          </p:cNvPr>
          <p:cNvSpPr>
            <a:spLocks xmlns:a="http://schemas.openxmlformats.org/drawingml/2006/main" noGrp="1"/>
          </p:cNvSpPr>
          <p:nvPr/>
        </p:nvSpPr>
        <p:spPr>
          <a:xfrm xmlns:a="http://schemas.openxmlformats.org/drawingml/2006/main">
            <a:off x="8991600" y="28384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8AF2"/>
                </a:solidFill>
                <a:latin typeface="Arial"/>
                <a:ea typeface="Arial"/>
                <a:cs typeface="Arial"/>
              </a:defRPr>
            </a:pPr>
            <a:r>
              <a:rPr sz="1650" b="1">
                <a:solidFill>
                  <a:srgbClr val="148AF2"/>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32102AB3-6D97-4EF0-B151-DE920F5DBE5A}"/>
              </a:ext>
            </a:extLst>
          </p:cNvPr>
          <p:cNvSpPr>
            <a:spLocks xmlns:a="http://schemas.openxmlformats.org/drawingml/2006/main" noGrp="1"/>
          </p:cNvSpPr>
          <p:nvPr/>
        </p:nvSpPr>
        <p:spPr>
          <a:xfrm xmlns:a="http://schemas.openxmlformats.org/drawingml/2006/main">
            <a:off x="9601200" y="28384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12735"/>
                </a:solidFill>
                <a:latin typeface="Arial"/>
                <a:ea typeface="Arial"/>
                <a:cs typeface="Arial"/>
              </a:defRPr>
            </a:pPr>
            <a:r>
              <a:rPr sz="1425" b="1">
                <a:solidFill>
                  <a:srgbClr val="112735"/>
                </a:solidFill>
                <a:latin typeface="Arial"/>
                <a:ea typeface="Arial"/>
                <a:cs typeface="Arial"/>
              </a:rPr>
              <a:t>Click a visual to cross-filter the page</a:t>
            </a:r>
          </a:p>
        </p:txBody>
      </p:sp>
      <p:sp>
        <p:nvSpPr>
          <p:cNvPr id="12" name="">
            <a:extLst xmlns:a="http://schemas.openxmlformats.org/drawingml/2006/main">
              <a:ext uri="{FF2B5EF4-FFF2-40B4-BE49-F238E27FC236}">
                <a16:creationId xmlns:a16="http://schemas.microsoft.com/office/drawing/2014/main" id="{CD8C8035-AAA3-4F80-9265-6C301393D98A}"/>
              </a:ext>
            </a:extLst>
          </p:cNvPr>
          <p:cNvSpPr>
            <a:spLocks xmlns:a="http://schemas.openxmlformats.org/drawingml/2006/main" noGrp="1"/>
          </p:cNvSpPr>
          <p:nvPr/>
        </p:nvSpPr>
        <p:spPr>
          <a:xfrm xmlns:a="http://schemas.openxmlformats.org/drawingml/2006/main">
            <a:off x="9601200" y="3543300"/>
            <a:ext cx="190500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13" name="">
            <a:extLst xmlns:a="http://schemas.openxmlformats.org/drawingml/2006/main">
              <a:ext uri="{FF2B5EF4-FFF2-40B4-BE49-F238E27FC236}">
                <a16:creationId xmlns:a16="http://schemas.microsoft.com/office/drawing/2014/main" id="{84BEB166-0012-4BAA-9D38-7D98FD452C8C}"/>
              </a:ext>
            </a:extLst>
          </p:cNvPr>
          <p:cNvSpPr>
            <a:spLocks xmlns:a="http://schemas.openxmlformats.org/drawingml/2006/main" noGrp="1"/>
          </p:cNvSpPr>
          <p:nvPr/>
        </p:nvSpPr>
        <p:spPr>
          <a:xfrm xmlns:a="http://schemas.openxmlformats.org/drawingml/2006/main">
            <a:off x="8991600" y="377190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8AF2"/>
                </a:solidFill>
                <a:latin typeface="Arial"/>
                <a:ea typeface="Arial"/>
                <a:cs typeface="Arial"/>
              </a:defRPr>
            </a:pPr>
            <a:r>
              <a:rPr sz="1650" b="1">
                <a:solidFill>
                  <a:srgbClr val="148AF2"/>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3CE78B4C-1ACD-4083-8045-F801AA2B8269}"/>
              </a:ext>
            </a:extLst>
          </p:cNvPr>
          <p:cNvSpPr>
            <a:spLocks xmlns:a="http://schemas.openxmlformats.org/drawingml/2006/main" noGrp="1"/>
          </p:cNvSpPr>
          <p:nvPr/>
        </p:nvSpPr>
        <p:spPr>
          <a:xfrm xmlns:a="http://schemas.openxmlformats.org/drawingml/2006/main">
            <a:off x="9601200" y="377190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12735"/>
                </a:solidFill>
                <a:latin typeface="Arial"/>
                <a:ea typeface="Arial"/>
                <a:cs typeface="Arial"/>
              </a:defRPr>
            </a:pPr>
            <a:r>
              <a:rPr sz="1425" b="1">
                <a:solidFill>
                  <a:srgbClr val="112735"/>
                </a:solidFill>
                <a:latin typeface="Arial"/>
                <a:ea typeface="Arial"/>
                <a:cs typeface="Arial"/>
              </a:rPr>
              <a:t>Hover for monthly FX, Brent and GPR</a:t>
            </a:r>
          </a:p>
        </p:txBody>
      </p:sp>
      <p:sp>
        <p:nvSpPr>
          <p:cNvPr id="15" name="">
            <a:extLst xmlns:a="http://schemas.openxmlformats.org/drawingml/2006/main">
              <a:ext uri="{FF2B5EF4-FFF2-40B4-BE49-F238E27FC236}">
                <a16:creationId xmlns:a16="http://schemas.microsoft.com/office/drawing/2014/main" id="{B760654D-F271-4CC7-8FCD-EDB2B2EB3168}"/>
              </a:ext>
            </a:extLst>
          </p:cNvPr>
          <p:cNvSpPr>
            <a:spLocks xmlns:a="http://schemas.openxmlformats.org/drawingml/2006/main" noGrp="1"/>
          </p:cNvSpPr>
          <p:nvPr/>
        </p:nvSpPr>
        <p:spPr>
          <a:xfrm xmlns:a="http://schemas.openxmlformats.org/drawingml/2006/main">
            <a:off x="9601200" y="4476750"/>
            <a:ext cx="1905000" cy="0"/>
          </a:xfrm>
          <a:prstGeom xmlns:a="http://schemas.openxmlformats.org/drawingml/2006/main" prst="line">
            <a:avLst/>
          </a:prstGeom>
          <a:noFill xmlns:a="http://schemas.openxmlformats.org/drawingml/2006/main"/>
          <a:ln xmlns:a="http://schemas.openxmlformats.org/drawingml/2006/main" w="9525">
            <a:solidFill>
              <a:srgbClr val="D9E3E8"/>
            </a:solidFill>
            <a:prstDash val="solid"/>
          </a:ln>
        </p:spPr>
      </p:sp>
      <p:sp>
        <p:nvSpPr>
          <p:cNvPr id="16" name="">
            <a:extLst xmlns:a="http://schemas.openxmlformats.org/drawingml/2006/main">
              <a:ext uri="{FF2B5EF4-FFF2-40B4-BE49-F238E27FC236}">
                <a16:creationId xmlns:a16="http://schemas.microsoft.com/office/drawing/2014/main" id="{E997CCAA-07D6-43D1-8534-85B34A0972FF}"/>
              </a:ext>
            </a:extLst>
          </p:cNvPr>
          <p:cNvSpPr>
            <a:spLocks xmlns:a="http://schemas.openxmlformats.org/drawingml/2006/main" noGrp="1"/>
          </p:cNvSpPr>
          <p:nvPr/>
        </p:nvSpPr>
        <p:spPr>
          <a:xfrm xmlns:a="http://schemas.openxmlformats.org/drawingml/2006/main">
            <a:off x="8991600" y="47053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48AF2"/>
                </a:solidFill>
                <a:latin typeface="Arial"/>
                <a:ea typeface="Arial"/>
                <a:cs typeface="Arial"/>
              </a:defRPr>
            </a:pPr>
            <a:r>
              <a:rPr sz="1650" b="1">
                <a:solidFill>
                  <a:srgbClr val="148AF2"/>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46446415-2EE6-4992-B97B-750F898282E0}"/>
              </a:ext>
            </a:extLst>
          </p:cNvPr>
          <p:cNvSpPr>
            <a:spLocks xmlns:a="http://schemas.openxmlformats.org/drawingml/2006/main" noGrp="1"/>
          </p:cNvSpPr>
          <p:nvPr/>
        </p:nvSpPr>
        <p:spPr>
          <a:xfrm xmlns:a="http://schemas.openxmlformats.org/drawingml/2006/main">
            <a:off x="9601200" y="47053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12735"/>
                </a:solidFill>
                <a:latin typeface="Arial"/>
                <a:ea typeface="Arial"/>
                <a:cs typeface="Arial"/>
              </a:defRPr>
            </a:pPr>
            <a:r>
              <a:rPr sz="1425" b="1">
                <a:solidFill>
                  <a:srgbClr val="112735"/>
                </a:solidFill>
                <a:latin typeface="Arial"/>
                <a:ea typeface="Arial"/>
                <a:cs typeface="Arial"/>
              </a:rPr>
              <a:t>Open Forecast to compare models and stress tests</a:t>
            </a:r>
          </a:p>
        </p:txBody>
      </p:sp>
      <p:sp>
        <p:nvSpPr>
          <p:cNvPr id="18" name="">
            <a:extLst xmlns:a="http://schemas.openxmlformats.org/drawingml/2006/main">
              <a:ext uri="{FF2B5EF4-FFF2-40B4-BE49-F238E27FC236}">
                <a16:creationId xmlns:a16="http://schemas.microsoft.com/office/drawing/2014/main" id="{B948BFFA-7B63-4ED4-9600-4598E0BC8659}"/>
              </a:ext>
            </a:extLst>
          </p:cNvPr>
          <p:cNvSpPr>
            <a:spLocks xmlns:a="http://schemas.openxmlformats.org/drawingml/2006/main" noGrp="1"/>
          </p:cNvSpPr>
          <p:nvPr/>
        </p:nvSpPr>
        <p:spPr>
          <a:xfrm xmlns:a="http://schemas.openxmlformats.org/drawingml/2006/main">
            <a:off x="8896350" y="5734050"/>
            <a:ext cx="2705100" cy="609600"/>
          </a:xfrm>
          <a:prstGeom xmlns:a="http://schemas.openxmlformats.org/drawingml/2006/main" prst="roundRect">
            <a:avLst>
              <a:gd name="adj" fmla="val 15625"/>
            </a:avLst>
          </a:prstGeom>
          <a:solidFill xmlns:a="http://schemas.openxmlformats.org/drawingml/2006/main">
            <a:srgbClr val="071B2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912392F-F6EA-48F7-B485-6F4002658977}"/>
              </a:ext>
            </a:extLst>
          </p:cNvPr>
          <p:cNvSpPr>
            <a:spLocks xmlns:a="http://schemas.openxmlformats.org/drawingml/2006/main" noGrp="1"/>
          </p:cNvSpPr>
          <p:nvPr/>
        </p:nvSpPr>
        <p:spPr>
          <a:xfrm xmlns:a="http://schemas.openxmlformats.org/drawingml/2006/main">
            <a:off x="9067800" y="5876925"/>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Native Power BI visuals with no external add-ons</a:t>
            </a:r>
          </a:p>
        </p:txBody>
      </p:sp>
    </p:spTree>
    <p:extLst>
      <p:ext uri="{BB962C8B-B14F-4D97-AF65-F5344CB8AC3E}">
        <p14:creationId xmlns:p14="http://schemas.microsoft.com/office/powerpoint/2010/main" val="660050581"/>
      </p:ext>
    </p:extLst>
  </p:cSld>
</p:sld>
</file>

<file path=ppt/slides/slide9.xml><?xml version="1.0" encoding="utf-8"?>
<p:sld xmlns:p="http://schemas.openxmlformats.org/presentationml/2006/main">
  <p:cSld>
    <p:bg>
      <p:bgPr>
        <a:solidFill xmlns:a="http://schemas.openxmlformats.org/drawingml/2006/main">
          <a:srgbClr val="071B2C"/>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72fc68cc24c4e0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DCC33C-1581-47D4-9BD4-E04D0341F7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4131F">
              <a:alpha val="78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D55222A-FD10-45ED-A944-B7E8B388D8D3}"/>
              </a:ext>
            </a:extLst>
          </p:cNvPr>
          <p:cNvSpPr>
            <a:spLocks xmlns:a="http://schemas.openxmlformats.org/drawingml/2006/main" noGrp="1"/>
          </p:cNvSpPr>
          <p:nvPr/>
        </p:nvSpPr>
        <p:spPr>
          <a:xfrm xmlns:a="http://schemas.openxmlformats.org/drawingml/2006/main">
            <a:off x="685800" y="781050"/>
            <a:ext cx="7667625"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Market-level forecasts support earlier, more targeted decisions</a:t>
            </a:r>
          </a:p>
        </p:txBody>
      </p:sp>
      <p:sp>
        <p:nvSpPr>
          <p:cNvPr id="4" name="">
            <a:extLst xmlns:a="http://schemas.openxmlformats.org/drawingml/2006/main">
              <a:ext uri="{FF2B5EF4-FFF2-40B4-BE49-F238E27FC236}">
                <a16:creationId xmlns:a16="http://schemas.microsoft.com/office/drawing/2014/main" id="{0CE0F027-4FF2-4574-9EE4-CCC917A3404B}"/>
              </a:ext>
            </a:extLst>
          </p:cNvPr>
          <p:cNvSpPr>
            <a:spLocks xmlns:a="http://schemas.openxmlformats.org/drawingml/2006/main" noGrp="1"/>
          </p:cNvSpPr>
          <p:nvPr/>
        </p:nvSpPr>
        <p:spPr>
          <a:xfrm xmlns:a="http://schemas.openxmlformats.org/drawingml/2006/main">
            <a:off x="723900" y="2362200"/>
            <a:ext cx="952500" cy="0"/>
          </a:xfrm>
          <a:prstGeom xmlns:a="http://schemas.openxmlformats.org/drawingml/2006/main" prst="line">
            <a:avLst/>
          </a:prstGeom>
          <a:noFill xmlns:a="http://schemas.openxmlformats.org/drawingml/2006/main"/>
          <a:ln xmlns:a="http://schemas.openxmlformats.org/drawingml/2006/main" w="38100">
            <a:solidFill>
              <a:srgbClr val="F2B84B"/>
            </a:solidFill>
            <a:prstDash val="solid"/>
          </a:ln>
        </p:spPr>
      </p:sp>
      <p:sp>
        <p:nvSpPr>
          <p:cNvPr id="5" name="">
            <a:extLst xmlns:a="http://schemas.openxmlformats.org/drawingml/2006/main">
              <a:ext uri="{FF2B5EF4-FFF2-40B4-BE49-F238E27FC236}">
                <a16:creationId xmlns:a16="http://schemas.microsoft.com/office/drawing/2014/main" id="{E5271443-9FB2-40D0-95DA-CA74EF6C14C0}"/>
              </a:ext>
            </a:extLst>
          </p:cNvPr>
          <p:cNvSpPr>
            <a:spLocks xmlns:a="http://schemas.openxmlformats.org/drawingml/2006/main" noGrp="1"/>
          </p:cNvSpPr>
          <p:nvPr/>
        </p:nvSpPr>
        <p:spPr>
          <a:xfrm xmlns:a="http://schemas.openxmlformats.org/drawingml/2006/main">
            <a:off x="723900" y="2857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40D4E3"/>
                </a:solidFill>
                <a:latin typeface="Arial"/>
                <a:ea typeface="Arial"/>
                <a:cs typeface="Arial"/>
              </a:defRPr>
            </a:pPr>
            <a:r>
              <a:rPr sz="1275" b="1">
                <a:solidFill>
                  <a:srgbClr val="40D4E3"/>
                </a:solidFill>
                <a:latin typeface="Arial"/>
                <a:ea typeface="Arial"/>
                <a:cs typeface="Arial"/>
              </a:rPr>
              <a:t>FORECAST</a:t>
            </a:r>
          </a:p>
        </p:txBody>
      </p:sp>
      <p:sp>
        <p:nvSpPr>
          <p:cNvPr id="6" name="">
            <a:extLst xmlns:a="http://schemas.openxmlformats.org/drawingml/2006/main">
              <a:ext uri="{FF2B5EF4-FFF2-40B4-BE49-F238E27FC236}">
                <a16:creationId xmlns:a16="http://schemas.microsoft.com/office/drawing/2014/main" id="{27470E7D-8B0D-47BF-B1C5-8F960902C1E1}"/>
              </a:ext>
            </a:extLst>
          </p:cNvPr>
          <p:cNvSpPr>
            <a:spLocks xmlns:a="http://schemas.openxmlformats.org/drawingml/2006/main" noGrp="1"/>
          </p:cNvSpPr>
          <p:nvPr/>
        </p:nvSpPr>
        <p:spPr>
          <a:xfrm xmlns:a="http://schemas.openxmlformats.org/drawingml/2006/main">
            <a:off x="2038350" y="2838450"/>
            <a:ext cx="628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Arrivals stay near 2.28M in June and July, then soften toward September.</a:t>
            </a:r>
          </a:p>
        </p:txBody>
      </p:sp>
      <p:sp>
        <p:nvSpPr>
          <p:cNvPr id="7" name="">
            <a:extLst xmlns:a="http://schemas.openxmlformats.org/drawingml/2006/main">
              <a:ext uri="{FF2B5EF4-FFF2-40B4-BE49-F238E27FC236}">
                <a16:creationId xmlns:a16="http://schemas.microsoft.com/office/drawing/2014/main" id="{B33593D8-A844-4411-9BD6-CDF033E39F48}"/>
              </a:ext>
            </a:extLst>
          </p:cNvPr>
          <p:cNvSpPr>
            <a:spLocks xmlns:a="http://schemas.openxmlformats.org/drawingml/2006/main" noGrp="1"/>
          </p:cNvSpPr>
          <p:nvPr/>
        </p:nvSpPr>
        <p:spPr>
          <a:xfrm xmlns:a="http://schemas.openxmlformats.org/drawingml/2006/main">
            <a:off x="723900" y="39243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40D4E3"/>
                </a:solidFill>
                <a:latin typeface="Arial"/>
                <a:ea typeface="Arial"/>
                <a:cs typeface="Arial"/>
              </a:defRPr>
            </a:pPr>
            <a:r>
              <a:rPr sz="1275" b="1">
                <a:solidFill>
                  <a:srgbClr val="40D4E3"/>
                </a:solidFill>
                <a:latin typeface="Arial"/>
                <a:ea typeface="Arial"/>
                <a:cs typeface="Arial"/>
              </a:rPr>
              <a:t>RISK</a:t>
            </a:r>
          </a:p>
        </p:txBody>
      </p:sp>
      <p:sp>
        <p:nvSpPr>
          <p:cNvPr id="8" name="">
            <a:extLst xmlns:a="http://schemas.openxmlformats.org/drawingml/2006/main">
              <a:ext uri="{FF2B5EF4-FFF2-40B4-BE49-F238E27FC236}">
                <a16:creationId xmlns:a16="http://schemas.microsoft.com/office/drawing/2014/main" id="{CB8BE3E5-E4D2-477F-8DDB-7A13D4AF1AC7}"/>
              </a:ext>
            </a:extLst>
          </p:cNvPr>
          <p:cNvSpPr>
            <a:spLocks xmlns:a="http://schemas.openxmlformats.org/drawingml/2006/main" noGrp="1"/>
          </p:cNvSpPr>
          <p:nvPr/>
        </p:nvSpPr>
        <p:spPr>
          <a:xfrm xmlns:a="http://schemas.openxmlformats.org/drawingml/2006/main">
            <a:off x="2038350" y="3905250"/>
            <a:ext cx="628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GPR associations vary across markets, while extreme shocks can overwhelm every model.</a:t>
            </a:r>
          </a:p>
        </p:txBody>
      </p:sp>
      <p:sp>
        <p:nvSpPr>
          <p:cNvPr id="9" name="">
            <a:extLst xmlns:a="http://schemas.openxmlformats.org/drawingml/2006/main">
              <a:ext uri="{FF2B5EF4-FFF2-40B4-BE49-F238E27FC236}">
                <a16:creationId xmlns:a16="http://schemas.microsoft.com/office/drawing/2014/main" id="{BE1E6EB2-4122-4DA3-A5E3-0ECDAA16AD74}"/>
              </a:ext>
            </a:extLst>
          </p:cNvPr>
          <p:cNvSpPr>
            <a:spLocks xmlns:a="http://schemas.openxmlformats.org/drawingml/2006/main" noGrp="1"/>
          </p:cNvSpPr>
          <p:nvPr/>
        </p:nvSpPr>
        <p:spPr>
          <a:xfrm xmlns:a="http://schemas.openxmlformats.org/drawingml/2006/main">
            <a:off x="723900" y="4991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40D4E3"/>
                </a:solidFill>
                <a:latin typeface="Arial"/>
                <a:ea typeface="Arial"/>
                <a:cs typeface="Arial"/>
              </a:defRPr>
            </a:pPr>
            <a:r>
              <a:rPr sz="1275" b="1">
                <a:solidFill>
                  <a:srgbClr val="40D4E3"/>
                </a:solidFill>
                <a:latin typeface="Arial"/>
                <a:ea typeface="Arial"/>
                <a:cs typeface="Arial"/>
              </a:rPr>
              <a:t>SCALE</a:t>
            </a:r>
          </a:p>
        </p:txBody>
      </p:sp>
      <p:sp>
        <p:nvSpPr>
          <p:cNvPr id="10" name="">
            <a:extLst xmlns:a="http://schemas.openxmlformats.org/drawingml/2006/main">
              <a:ext uri="{FF2B5EF4-FFF2-40B4-BE49-F238E27FC236}">
                <a16:creationId xmlns:a16="http://schemas.microsoft.com/office/drawing/2014/main" id="{415DCF11-3F5C-48F7-8580-6092A5638923}"/>
              </a:ext>
            </a:extLst>
          </p:cNvPr>
          <p:cNvSpPr>
            <a:spLocks xmlns:a="http://schemas.openxmlformats.org/drawingml/2006/main" noGrp="1"/>
          </p:cNvSpPr>
          <p:nvPr/>
        </p:nvSpPr>
        <p:spPr>
          <a:xfrm xmlns:a="http://schemas.openxmlformats.org/drawingml/2006/main">
            <a:off x="2038350" y="4972050"/>
            <a:ext cx="6286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Monthly retraining, prediction intervals and wider market coverage extend the framework.</a:t>
            </a:r>
          </a:p>
        </p:txBody>
      </p:sp>
      <p:sp>
        <p:nvSpPr>
          <p:cNvPr id="11" name="">
            <a:extLst xmlns:a="http://schemas.openxmlformats.org/drawingml/2006/main">
              <a:ext uri="{FF2B5EF4-FFF2-40B4-BE49-F238E27FC236}">
                <a16:creationId xmlns:a16="http://schemas.microsoft.com/office/drawing/2014/main" id="{938F21FA-699D-4DA8-A4DC-A178C24CF6B6}"/>
              </a:ext>
            </a:extLst>
          </p:cNvPr>
          <p:cNvSpPr>
            <a:spLocks xmlns:a="http://schemas.openxmlformats.org/drawingml/2006/main" noGrp="1"/>
          </p:cNvSpPr>
          <p:nvPr/>
        </p:nvSpPr>
        <p:spPr>
          <a:xfrm xmlns:a="http://schemas.openxmlformats.org/drawingml/2006/main">
            <a:off x="9525000" y="5734050"/>
            <a:ext cx="190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2250" b="1">
                <a:solidFill>
                  <a:srgbClr val="FFFFFF"/>
                </a:solidFill>
                <a:latin typeface="Arial"/>
                <a:ea typeface="Arial"/>
                <a:cs typeface="Arial"/>
              </a:defRPr>
            </a:pPr>
            <a:r>
              <a:rPr sz="2250" b="1">
                <a:solidFill>
                  <a:srgbClr val="FFFFFF"/>
                </a:solidFill>
                <a:latin typeface="Arial"/>
                <a:ea typeface="Arial"/>
                <a:cs typeface="Arial"/>
              </a:rPr>
              <a:t>Thank you</a:t>
            </a:r>
          </a:p>
        </p:txBody>
      </p:sp>
      <p:sp>
        <p:nvSpPr>
          <p:cNvPr id="12" name="">
            <a:extLst xmlns:a="http://schemas.openxmlformats.org/drawingml/2006/main">
              <a:ext uri="{FF2B5EF4-FFF2-40B4-BE49-F238E27FC236}">
                <a16:creationId xmlns:a16="http://schemas.microsoft.com/office/drawing/2014/main" id="{E45A0DF9-5BC5-42BB-958E-B8C6616ACA42}"/>
              </a:ext>
            </a:extLst>
          </p:cNvPr>
          <p:cNvSpPr>
            <a:spLocks xmlns:a="http://schemas.openxmlformats.org/drawingml/2006/main" noGrp="1"/>
          </p:cNvSpPr>
          <p:nvPr/>
        </p:nvSpPr>
        <p:spPr>
          <a:xfrm xmlns:a="http://schemas.openxmlformats.org/drawingml/2006/main">
            <a:off x="9525000" y="62103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1">
                <a:solidFill>
                  <a:srgbClr val="40D4E3"/>
                </a:solidFill>
                <a:latin typeface="Arial"/>
                <a:ea typeface="Arial"/>
                <a:cs typeface="Arial"/>
              </a:defRPr>
            </a:pPr>
            <a:r>
              <a:rPr sz="1125" b="1">
                <a:solidFill>
                  <a:srgbClr val="40D4E3"/>
                </a:solidFill>
                <a:latin typeface="Arial"/>
                <a:ea typeface="Arial"/>
                <a:cs typeface="Arial"/>
              </a:rPr>
              <a:t>TEAM NEXORA</a:t>
            </a:r>
          </a:p>
        </p:txBody>
      </p:sp>
    </p:spTree>
    <p:extLst>
      <p:ext uri="{BB962C8B-B14F-4D97-AF65-F5344CB8AC3E}">
        <p14:creationId xmlns:p14="http://schemas.microsoft.com/office/powerpoint/2010/main" val="15509099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2026-09-22T04:23:35.8040000Z</dcterms:created>
  <dcterms:modified xsi:type="dcterms:W3CDTF">2026-09-22T04:23:35.8050000Z</dcterms:modified>
</coreProperties>
</file>