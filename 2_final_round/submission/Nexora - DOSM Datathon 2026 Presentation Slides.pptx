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68" r:id="rId14"/>
    <p:sldId id="269" r:id="rId15"/>
    <p:sldId id="270" r:id="rId16"/>
    <p:sldId id="271" r:id="rId17"/>
  </p:sldIdLst>
  <p:sldSz cx="12192000" cy="6858000"/>
  <p:notesSz cx="6858000" cy="9144000"/>
  <p:defaultTextStyle>
    <a:defPPr>
      <a:defRPr lang="en"/>
    </a:defPPr>
    <a:lvl1pPr marL="0" algn="l" defTabSz="457200" rtl="0" eaLnBrk="1" latinLnBrk="0" hangingPunct="1">
      <a:defRPr lang="en" sz="1800" kern="1200">
        <a:solidFill>
          <a:schemeClr val="tx1"/>
        </a:solidFill>
        <a:latin typeface="+mn-lt"/>
        <a:ea typeface="+mn-ea"/>
        <a:cs typeface="+mn-cs"/>
      </a:defRPr>
    </a:lvl1pPr>
    <a:lvl2pPr marL="457200" algn="l" defTabSz="457200" rtl="0" eaLnBrk="1" latinLnBrk="0" hangingPunct="1">
      <a:defRPr lang="en" sz="1800" kern="1200">
        <a:solidFill>
          <a:schemeClr val="tx1"/>
        </a:solidFill>
        <a:latin typeface="+mn-lt"/>
        <a:ea typeface="+mn-ea"/>
        <a:cs typeface="+mn-cs"/>
      </a:defRPr>
    </a:lvl2pPr>
    <a:lvl3pPr marL="914400" algn="l" defTabSz="457200" rtl="0" eaLnBrk="1" latinLnBrk="0" hangingPunct="1">
      <a:defRPr lang="en" sz="1800" kern="1200">
        <a:solidFill>
          <a:schemeClr val="tx1"/>
        </a:solidFill>
        <a:latin typeface="+mn-lt"/>
        <a:ea typeface="+mn-ea"/>
        <a:cs typeface="+mn-cs"/>
      </a:defRPr>
    </a:lvl3pPr>
    <a:lvl4pPr marL="1371600" algn="l" defTabSz="457200" rtl="0" eaLnBrk="1" latinLnBrk="0" hangingPunct="1">
      <a:defRPr lang="en" sz="1800" kern="1200">
        <a:solidFill>
          <a:schemeClr val="tx1"/>
        </a:solidFill>
        <a:latin typeface="+mn-lt"/>
        <a:ea typeface="+mn-ea"/>
        <a:cs typeface="+mn-cs"/>
      </a:defRPr>
    </a:lvl4pPr>
    <a:lvl5pPr marL="1828800" algn="l" defTabSz="457200" rtl="0" eaLnBrk="1" latinLnBrk="0" hangingPunct="1">
      <a:defRPr lang="en" sz="1800" kern="1200">
        <a:solidFill>
          <a:schemeClr val="tx1"/>
        </a:solidFill>
        <a:latin typeface="+mn-lt"/>
        <a:ea typeface="+mn-ea"/>
        <a:cs typeface="+mn-cs"/>
      </a:defRPr>
    </a:lvl5pPr>
    <a:lvl6pPr marL="2286000" algn="l" defTabSz="457200" rtl="0" eaLnBrk="1" latinLnBrk="0" hangingPunct="1">
      <a:defRPr lang="en" sz="1800" kern="1200">
        <a:solidFill>
          <a:schemeClr val="tx1"/>
        </a:solidFill>
        <a:latin typeface="+mn-lt"/>
        <a:ea typeface="+mn-ea"/>
        <a:cs typeface="+mn-cs"/>
      </a:defRPr>
    </a:lvl6pPr>
    <a:lvl7pPr marL="2743200" algn="l" defTabSz="457200" rtl="0" eaLnBrk="1" latinLnBrk="0" hangingPunct="1">
      <a:defRPr lang="en" sz="1800" kern="1200">
        <a:solidFill>
          <a:schemeClr val="tx1"/>
        </a:solidFill>
        <a:latin typeface="+mn-lt"/>
        <a:ea typeface="+mn-ea"/>
        <a:cs typeface="+mn-cs"/>
      </a:defRPr>
    </a:lvl7pPr>
    <a:lvl8pPr marL="3200400" algn="l" defTabSz="457200" rtl="0" eaLnBrk="1" latinLnBrk="0" hangingPunct="1">
      <a:defRPr lang="en" sz="1800" kern="1200">
        <a:solidFill>
          <a:schemeClr val="tx1"/>
        </a:solidFill>
        <a:latin typeface="+mn-lt"/>
        <a:ea typeface="+mn-ea"/>
        <a:cs typeface="+mn-cs"/>
      </a:defRPr>
    </a:lvl8pPr>
    <a:lvl9pPr marL="3657600" algn="l" defTabSz="457200" rtl="0" eaLnBrk="1" latinLnBrk="0" hangingPunct="1">
      <a:defRPr lang="e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78" y="10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4482758620699999"/>
          <c:y val="1.8181818181800001E-2"/>
          <c:w val="0.62068965517200003"/>
          <c:h val="0.94545454545499996"/>
        </c:manualLayout>
      </c:layout>
      <c:barChart>
        <c:barDir val="bar"/>
        <c:grouping val="clustered"/>
        <c:varyColors val="1"/>
        <c:ser>
          <c:idx val="0"/>
          <c:order val="0"/>
          <c:tx>
            <c:strRef>
              <c:f>Sheet1!$B$1</c:f>
              <c:strCache>
                <c:ptCount val="1"/>
                <c:pt idx="0">
                  <c:v>Average error</c:v>
                </c:pt>
              </c:strCache>
            </c:strRef>
          </c:tx>
          <c:spPr>
            <a:solidFill>
              <a:srgbClr val="4472C4"/>
            </a:solidFill>
            <a:ln>
              <a:solidFill>
                <a:srgbClr val="4472C4"/>
              </a:solidFill>
            </a:ln>
          </c:spPr>
          <c:invertIfNegative val="0"/>
          <c:dPt>
            <c:idx val="0"/>
            <c:invertIfNegative val="0"/>
            <c:bubble3D val="0"/>
            <c:spPr>
              <a:solidFill>
                <a:schemeClr val="accent3"/>
              </a:solidFill>
              <a:ln>
                <a:solidFill>
                  <a:schemeClr val="accent3"/>
                </a:solidFill>
              </a:ln>
            </c:spPr>
            <c:extLst>
              <c:ext xmlns:c16="http://schemas.microsoft.com/office/drawing/2014/chart" uri="{C3380CC4-5D6E-409C-BE32-E72D297353CC}">
                <c16:uniqueId val="{00000001-E185-4880-84D3-F155245B324D}"/>
              </c:ext>
            </c:extLst>
          </c:dPt>
          <c:dPt>
            <c:idx val="1"/>
            <c:invertIfNegative val="0"/>
            <c:bubble3D val="0"/>
            <c:spPr>
              <a:solidFill>
                <a:srgbClr val="8A94AB"/>
              </a:solidFill>
              <a:ln>
                <a:solidFill>
                  <a:srgbClr val="8A94AB"/>
                </a:solidFill>
              </a:ln>
            </c:spPr>
            <c:extLst>
              <c:ext xmlns:c16="http://schemas.microsoft.com/office/drawing/2014/chart" uri="{C3380CC4-5D6E-409C-BE32-E72D297353CC}">
                <c16:uniqueId val="{00000003-E185-4880-84D3-F155245B324D}"/>
              </c:ext>
            </c:extLst>
          </c:dPt>
          <c:dPt>
            <c:idx val="2"/>
            <c:invertIfNegative val="0"/>
            <c:bubble3D val="0"/>
            <c:spPr>
              <a:solidFill>
                <a:srgbClr val="8A94AB"/>
              </a:solidFill>
              <a:ln>
                <a:solidFill>
                  <a:srgbClr val="8A94AB"/>
                </a:solidFill>
              </a:ln>
            </c:spPr>
            <c:extLst>
              <c:ext xmlns:c16="http://schemas.microsoft.com/office/drawing/2014/chart" uri="{C3380CC4-5D6E-409C-BE32-E72D297353CC}">
                <c16:uniqueId val="{00000005-E185-4880-84D3-F155245B324D}"/>
              </c:ext>
            </c:extLst>
          </c:dPt>
          <c:dPt>
            <c:idx val="3"/>
            <c:invertIfNegative val="0"/>
            <c:bubble3D val="0"/>
            <c:spPr>
              <a:solidFill>
                <a:srgbClr val="8A94AB"/>
              </a:solidFill>
              <a:ln>
                <a:solidFill>
                  <a:srgbClr val="8A94AB"/>
                </a:solidFill>
              </a:ln>
            </c:spPr>
            <c:extLst>
              <c:ext xmlns:c16="http://schemas.microsoft.com/office/drawing/2014/chart" uri="{C3380CC4-5D6E-409C-BE32-E72D297353CC}">
                <c16:uniqueId val="{00000007-E185-4880-84D3-F155245B324D}"/>
              </c:ext>
            </c:extLst>
          </c:dPt>
          <c:dLbls>
            <c:numFmt formatCode="#,##0" sourceLinked="0"/>
            <c:spPr>
              <a:noFill/>
              <a:ln>
                <a:noFill/>
              </a:ln>
              <a:effectLst/>
            </c:spPr>
            <c:txPr>
              <a:bodyPr/>
              <a:lstStyle/>
              <a:p>
                <a:pPr>
                  <a:defRPr lang="en" sz="2250">
                    <a:solidFill>
                      <a:schemeClr val="accent1"/>
                    </a:solidFill>
                    <a:latin typeface="Segoe UI"/>
                    <a:ea typeface="Microsoft YaHei"/>
                    <a:cs typeface="Segoe UI"/>
                  </a:defRPr>
                </a:pPr>
                <a:endParaRPr lang="e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LightGBM</c:v>
                </c:pt>
                <c:pt idx="1">
                  <c:v>Ridge</c:v>
                </c:pt>
                <c:pt idx="2">
                  <c:v>Repeat last month</c:v>
                </c:pt>
                <c:pt idx="3">
                  <c:v>Repeat last year</c:v>
                </c:pt>
              </c:strCache>
            </c:strRef>
          </c:cat>
          <c:val>
            <c:numRef>
              <c:f>Sheet1!$B$2:$B$5</c:f>
              <c:numCache>
                <c:formatCode>General</c:formatCode>
                <c:ptCount val="4"/>
                <c:pt idx="0">
                  <c:v>15969</c:v>
                </c:pt>
                <c:pt idx="1">
                  <c:v>16727</c:v>
                </c:pt>
                <c:pt idx="2">
                  <c:v>17188</c:v>
                </c:pt>
                <c:pt idx="3">
                  <c:v>22702</c:v>
                </c:pt>
              </c:numCache>
            </c:numRef>
          </c:val>
          <c:extLst>
            <c:ext xmlns:c16="http://schemas.microsoft.com/office/drawing/2014/chart" uri="{C3380CC4-5D6E-409C-BE32-E72D297353CC}">
              <c16:uniqueId val="{00000008-E185-4880-84D3-F155245B324D}"/>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axMin"/>
        </c:scaling>
        <c:delete val="0"/>
        <c:axPos val="l"/>
        <c:numFmt formatCode="General" sourceLinked="0"/>
        <c:majorTickMark val="none"/>
        <c:minorTickMark val="none"/>
        <c:tickLblPos val="nextTo"/>
        <c:spPr>
          <a:ln w="9525" cap="flat" cmpd="sng" algn="ctr">
            <a:solidFill>
              <a:srgbClr val="8A94AB"/>
            </a:solidFill>
            <a:round/>
          </a:ln>
        </c:spPr>
        <c:txPr>
          <a:bodyPr/>
          <a:lstStyle/>
          <a:p>
            <a:pPr>
              <a:defRPr lang="en" sz="2250">
                <a:solidFill>
                  <a:schemeClr val="accent1"/>
                </a:solidFill>
                <a:latin typeface="Segoe UI"/>
                <a:ea typeface="Microsoft YaHei"/>
                <a:cs typeface="Segoe UI"/>
              </a:defRPr>
            </a:pPr>
            <a:endParaRPr lang="en"/>
          </a:p>
        </c:txPr>
        <c:crossAx val="2113994440"/>
        <c:crosses val="autoZero"/>
        <c:auto val="1"/>
        <c:lblAlgn val="ctr"/>
        <c:lblOffset val="100"/>
        <c:noMultiLvlLbl val="0"/>
      </c:catAx>
      <c:valAx>
        <c:axId val="2113994440"/>
        <c:scaling>
          <c:orientation val="minMax"/>
          <c:max val="25000"/>
          <c:min val="0"/>
        </c:scaling>
        <c:delete val="1"/>
        <c:axPos val="b"/>
        <c:numFmt formatCode="General" sourceLinked="1"/>
        <c:majorTickMark val="none"/>
        <c:minorTickMark val="none"/>
        <c:tickLblPos val="nextTo"/>
        <c:crossAx val="2068027336"/>
        <c:crosses val="max"/>
        <c:crossBetween val="between"/>
        <c:majorUnit val="5000"/>
      </c:valAx>
      <c:spPr>
        <a:noFill/>
        <a:ln>
          <a:noFill/>
        </a:ln>
      </c:spPr>
    </c:plotArea>
    <c:plotVisOnly val="1"/>
    <c:dispBlanksAs val="gap"/>
    <c:showDLblsOverMax val="1"/>
  </c:chart>
  <c:spPr>
    <a:noFill/>
    <a:ln>
      <a:noFill/>
    </a:ln>
  </c:spPr>
  <c:txPr>
    <a:bodyPr/>
    <a:lstStyle/>
    <a:p>
      <a:pPr>
        <a:defRPr lang="en" sz="2250">
          <a:solidFill>
            <a:schemeClr val="accent1"/>
          </a:solidFill>
          <a:latin typeface="Segoe UI"/>
          <a:ea typeface="Microsoft YaHei"/>
          <a:cs typeface="Segoe UI"/>
        </a:defRPr>
      </a:pPr>
      <a:endParaRPr lang="e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17391304348"/>
          <c:y val="4.1152263374499998E-3"/>
          <c:w val="0.59782608695700001"/>
          <c:h val="0.98765432098799999"/>
        </c:manualLayout>
      </c:layout>
      <c:barChart>
        <c:barDir val="bar"/>
        <c:grouping val="clustered"/>
        <c:varyColors val="1"/>
        <c:ser>
          <c:idx val="0"/>
          <c:order val="0"/>
          <c:tx>
            <c:strRef>
              <c:f>Sheet1!$B$1</c:f>
              <c:strCache>
                <c:ptCount val="1"/>
                <c:pt idx="0">
                  <c:v>GPR slope</c:v>
                </c:pt>
              </c:strCache>
            </c:strRef>
          </c:tx>
          <c:spPr>
            <a:solidFill>
              <a:srgbClr val="4472C4"/>
            </a:solidFill>
            <a:ln>
              <a:solidFill>
                <a:srgbClr val="4472C4"/>
              </a:solidFill>
            </a:ln>
          </c:spPr>
          <c:invertIfNegative val="0"/>
          <c:dPt>
            <c:idx val="0"/>
            <c:invertIfNegative val="0"/>
            <c:bubble3D val="0"/>
            <c:spPr>
              <a:solidFill>
                <a:schemeClr val="accent3"/>
              </a:solidFill>
              <a:ln>
                <a:solidFill>
                  <a:schemeClr val="accent3"/>
                </a:solidFill>
              </a:ln>
            </c:spPr>
            <c:extLst>
              <c:ext xmlns:c16="http://schemas.microsoft.com/office/drawing/2014/chart" uri="{C3380CC4-5D6E-409C-BE32-E72D297353CC}">
                <c16:uniqueId val="{00000001-C0F2-41D6-B09B-FC5377E2291C}"/>
              </c:ext>
            </c:extLst>
          </c:dPt>
          <c:dPt>
            <c:idx val="1"/>
            <c:invertIfNegative val="0"/>
            <c:bubble3D val="0"/>
            <c:spPr>
              <a:solidFill>
                <a:schemeClr val="accent3"/>
              </a:solidFill>
              <a:ln>
                <a:solidFill>
                  <a:schemeClr val="accent3"/>
                </a:solidFill>
              </a:ln>
            </c:spPr>
            <c:extLst>
              <c:ext xmlns:c16="http://schemas.microsoft.com/office/drawing/2014/chart" uri="{C3380CC4-5D6E-409C-BE32-E72D297353CC}">
                <c16:uniqueId val="{00000003-C0F2-41D6-B09B-FC5377E2291C}"/>
              </c:ext>
            </c:extLst>
          </c:dPt>
          <c:dPt>
            <c:idx val="2"/>
            <c:invertIfNegative val="0"/>
            <c:bubble3D val="0"/>
            <c:spPr>
              <a:solidFill>
                <a:schemeClr val="accent3"/>
              </a:solidFill>
              <a:ln>
                <a:solidFill>
                  <a:schemeClr val="accent3"/>
                </a:solidFill>
              </a:ln>
            </c:spPr>
            <c:extLst>
              <c:ext xmlns:c16="http://schemas.microsoft.com/office/drawing/2014/chart" uri="{C3380CC4-5D6E-409C-BE32-E72D297353CC}">
                <c16:uniqueId val="{00000005-C0F2-41D6-B09B-FC5377E2291C}"/>
              </c:ext>
            </c:extLst>
          </c:dPt>
          <c:dPt>
            <c:idx val="3"/>
            <c:invertIfNegative val="0"/>
            <c:bubble3D val="0"/>
            <c:spPr>
              <a:solidFill>
                <a:srgbClr val="8A94AB"/>
              </a:solidFill>
              <a:ln>
                <a:solidFill>
                  <a:srgbClr val="8A94AB"/>
                </a:solidFill>
              </a:ln>
            </c:spPr>
            <c:extLst>
              <c:ext xmlns:c16="http://schemas.microsoft.com/office/drawing/2014/chart" uri="{C3380CC4-5D6E-409C-BE32-E72D297353CC}">
                <c16:uniqueId val="{00000007-C0F2-41D6-B09B-FC5377E2291C}"/>
              </c:ext>
            </c:extLst>
          </c:dPt>
          <c:dPt>
            <c:idx val="4"/>
            <c:invertIfNegative val="0"/>
            <c:bubble3D val="0"/>
            <c:spPr>
              <a:solidFill>
                <a:srgbClr val="E21F26"/>
              </a:solidFill>
              <a:ln>
                <a:solidFill>
                  <a:srgbClr val="E21F26"/>
                </a:solidFill>
              </a:ln>
            </c:spPr>
            <c:extLst>
              <c:ext xmlns:c16="http://schemas.microsoft.com/office/drawing/2014/chart" uri="{C3380CC4-5D6E-409C-BE32-E72D297353CC}">
                <c16:uniqueId val="{00000009-C0F2-41D6-B09B-FC5377E2291C}"/>
              </c:ext>
            </c:extLst>
          </c:dPt>
          <c:dPt>
            <c:idx val="5"/>
            <c:invertIfNegative val="0"/>
            <c:bubble3D val="0"/>
            <c:spPr>
              <a:solidFill>
                <a:srgbClr val="E21F26"/>
              </a:solidFill>
              <a:ln>
                <a:solidFill>
                  <a:srgbClr val="E21F26"/>
                </a:solidFill>
              </a:ln>
            </c:spPr>
            <c:extLst>
              <c:ext xmlns:c16="http://schemas.microsoft.com/office/drawing/2014/chart" uri="{C3380CC4-5D6E-409C-BE32-E72D297353CC}">
                <c16:uniqueId val="{0000000B-C0F2-41D6-B09B-FC5377E2291C}"/>
              </c:ext>
            </c:extLst>
          </c:dPt>
          <c:dPt>
            <c:idx val="6"/>
            <c:invertIfNegative val="0"/>
            <c:bubble3D val="0"/>
            <c:spPr>
              <a:solidFill>
                <a:srgbClr val="E21F26"/>
              </a:solidFill>
              <a:ln>
                <a:solidFill>
                  <a:srgbClr val="E21F26"/>
                </a:solidFill>
              </a:ln>
            </c:spPr>
            <c:extLst>
              <c:ext xmlns:c16="http://schemas.microsoft.com/office/drawing/2014/chart" uri="{C3380CC4-5D6E-409C-BE32-E72D297353CC}">
                <c16:uniqueId val="{0000000D-C0F2-41D6-B09B-FC5377E2291C}"/>
              </c:ext>
            </c:extLst>
          </c:dPt>
          <c:dPt>
            <c:idx val="7"/>
            <c:invertIfNegative val="0"/>
            <c:bubble3D val="0"/>
            <c:spPr>
              <a:solidFill>
                <a:srgbClr val="E21F26"/>
              </a:solidFill>
              <a:ln>
                <a:solidFill>
                  <a:srgbClr val="E21F26"/>
                </a:solidFill>
              </a:ln>
            </c:spPr>
            <c:extLst>
              <c:ext xmlns:c16="http://schemas.microsoft.com/office/drawing/2014/chart" uri="{C3380CC4-5D6E-409C-BE32-E72D297353CC}">
                <c16:uniqueId val="{0000000F-C0F2-41D6-B09B-FC5377E2291C}"/>
              </c:ext>
            </c:extLst>
          </c:dPt>
          <c:dPt>
            <c:idx val="8"/>
            <c:invertIfNegative val="0"/>
            <c:bubble3D val="0"/>
            <c:spPr>
              <a:solidFill>
                <a:srgbClr val="E21F26"/>
              </a:solidFill>
              <a:ln>
                <a:solidFill>
                  <a:srgbClr val="E21F26"/>
                </a:solidFill>
              </a:ln>
            </c:spPr>
            <c:extLst>
              <c:ext xmlns:c16="http://schemas.microsoft.com/office/drawing/2014/chart" uri="{C3380CC4-5D6E-409C-BE32-E72D297353CC}">
                <c16:uniqueId val="{00000011-C0F2-41D6-B09B-FC5377E2291C}"/>
              </c:ext>
            </c:extLst>
          </c:dPt>
          <c:dPt>
            <c:idx val="9"/>
            <c:invertIfNegative val="0"/>
            <c:bubble3D val="0"/>
            <c:spPr>
              <a:solidFill>
                <a:srgbClr val="E21F26"/>
              </a:solidFill>
              <a:ln>
                <a:solidFill>
                  <a:srgbClr val="E21F26"/>
                </a:solidFill>
              </a:ln>
            </c:spPr>
            <c:extLst>
              <c:ext xmlns:c16="http://schemas.microsoft.com/office/drawing/2014/chart" uri="{C3380CC4-5D6E-409C-BE32-E72D297353CC}">
                <c16:uniqueId val="{00000013-C0F2-41D6-B09B-FC5377E2291C}"/>
              </c:ext>
            </c:extLst>
          </c:dPt>
          <c:dPt>
            <c:idx val="10"/>
            <c:invertIfNegative val="0"/>
            <c:bubble3D val="0"/>
            <c:spPr>
              <a:solidFill>
                <a:srgbClr val="E21F26"/>
              </a:solidFill>
              <a:ln>
                <a:solidFill>
                  <a:srgbClr val="E21F26"/>
                </a:solidFill>
              </a:ln>
            </c:spPr>
            <c:extLst>
              <c:ext xmlns:c16="http://schemas.microsoft.com/office/drawing/2014/chart" uri="{C3380CC4-5D6E-409C-BE32-E72D297353CC}">
                <c16:uniqueId val="{00000015-C0F2-41D6-B09B-FC5377E2291C}"/>
              </c:ext>
            </c:extLst>
          </c:dPt>
          <c:dPt>
            <c:idx val="11"/>
            <c:invertIfNegative val="0"/>
            <c:bubble3D val="0"/>
            <c:spPr>
              <a:solidFill>
                <a:srgbClr val="E21F26"/>
              </a:solidFill>
              <a:ln>
                <a:solidFill>
                  <a:srgbClr val="E21F26"/>
                </a:solidFill>
              </a:ln>
            </c:spPr>
            <c:extLst>
              <c:ext xmlns:c16="http://schemas.microsoft.com/office/drawing/2014/chart" uri="{C3380CC4-5D6E-409C-BE32-E72D297353CC}">
                <c16:uniqueId val="{00000017-C0F2-41D6-B09B-FC5377E2291C}"/>
              </c:ext>
            </c:extLst>
          </c:dPt>
          <c:dPt>
            <c:idx val="12"/>
            <c:invertIfNegative val="0"/>
            <c:bubble3D val="0"/>
            <c:spPr>
              <a:solidFill>
                <a:srgbClr val="E21F26"/>
              </a:solidFill>
              <a:ln>
                <a:solidFill>
                  <a:srgbClr val="E21F26"/>
                </a:solidFill>
              </a:ln>
            </c:spPr>
            <c:extLst>
              <c:ext xmlns:c16="http://schemas.microsoft.com/office/drawing/2014/chart" uri="{C3380CC4-5D6E-409C-BE32-E72D297353CC}">
                <c16:uniqueId val="{00000019-C0F2-41D6-B09B-FC5377E2291C}"/>
              </c:ext>
            </c:extLst>
          </c:dPt>
          <c:dPt>
            <c:idx val="13"/>
            <c:invertIfNegative val="0"/>
            <c:bubble3D val="0"/>
            <c:spPr>
              <a:solidFill>
                <a:srgbClr val="E21F26"/>
              </a:solidFill>
              <a:ln>
                <a:solidFill>
                  <a:srgbClr val="E21F26"/>
                </a:solidFill>
              </a:ln>
            </c:spPr>
            <c:extLst>
              <c:ext xmlns:c16="http://schemas.microsoft.com/office/drawing/2014/chart" uri="{C3380CC4-5D6E-409C-BE32-E72D297353CC}">
                <c16:uniqueId val="{0000001B-C0F2-41D6-B09B-FC5377E2291C}"/>
              </c:ext>
            </c:extLst>
          </c:dPt>
          <c:dPt>
            <c:idx val="14"/>
            <c:invertIfNegative val="0"/>
            <c:bubble3D val="0"/>
            <c:spPr>
              <a:solidFill>
                <a:srgbClr val="E21F26"/>
              </a:solidFill>
              <a:ln>
                <a:solidFill>
                  <a:srgbClr val="E21F26"/>
                </a:solidFill>
              </a:ln>
            </c:spPr>
            <c:extLst>
              <c:ext xmlns:c16="http://schemas.microsoft.com/office/drawing/2014/chart" uri="{C3380CC4-5D6E-409C-BE32-E72D297353CC}">
                <c16:uniqueId val="{0000001D-C0F2-41D6-B09B-FC5377E2291C}"/>
              </c:ext>
            </c:extLst>
          </c:dPt>
          <c:dPt>
            <c:idx val="15"/>
            <c:invertIfNegative val="0"/>
            <c:bubble3D val="0"/>
            <c:spPr>
              <a:solidFill>
                <a:srgbClr val="E21F26"/>
              </a:solidFill>
              <a:ln>
                <a:solidFill>
                  <a:srgbClr val="E21F26"/>
                </a:solidFill>
              </a:ln>
            </c:spPr>
            <c:extLst>
              <c:ext xmlns:c16="http://schemas.microsoft.com/office/drawing/2014/chart" uri="{C3380CC4-5D6E-409C-BE32-E72D297353CC}">
                <c16:uniqueId val="{0000001F-C0F2-41D6-B09B-FC5377E2291C}"/>
              </c:ext>
            </c:extLst>
          </c:dPt>
          <c:dPt>
            <c:idx val="16"/>
            <c:invertIfNegative val="0"/>
            <c:bubble3D val="0"/>
            <c:spPr>
              <a:solidFill>
                <a:srgbClr val="E21F26"/>
              </a:solidFill>
              <a:ln>
                <a:solidFill>
                  <a:srgbClr val="E21F26"/>
                </a:solidFill>
              </a:ln>
            </c:spPr>
            <c:extLst>
              <c:ext xmlns:c16="http://schemas.microsoft.com/office/drawing/2014/chart" uri="{C3380CC4-5D6E-409C-BE32-E72D297353CC}">
                <c16:uniqueId val="{00000021-C0F2-41D6-B09B-FC5377E2291C}"/>
              </c:ext>
            </c:extLst>
          </c:dPt>
          <c:dPt>
            <c:idx val="17"/>
            <c:invertIfNegative val="0"/>
            <c:bubble3D val="0"/>
            <c:spPr>
              <a:solidFill>
                <a:srgbClr val="E21F26"/>
              </a:solidFill>
              <a:ln>
                <a:solidFill>
                  <a:srgbClr val="E21F26"/>
                </a:solidFill>
              </a:ln>
            </c:spPr>
            <c:extLst>
              <c:ext xmlns:c16="http://schemas.microsoft.com/office/drawing/2014/chart" uri="{C3380CC4-5D6E-409C-BE32-E72D297353CC}">
                <c16:uniqueId val="{00000023-C0F2-41D6-B09B-FC5377E2291C}"/>
              </c:ext>
            </c:extLst>
          </c:dPt>
          <c:dPt>
            <c:idx val="18"/>
            <c:invertIfNegative val="0"/>
            <c:bubble3D val="0"/>
            <c:spPr>
              <a:solidFill>
                <a:srgbClr val="E21F26"/>
              </a:solidFill>
              <a:ln>
                <a:solidFill>
                  <a:srgbClr val="E21F26"/>
                </a:solidFill>
              </a:ln>
            </c:spPr>
            <c:extLst>
              <c:ext xmlns:c16="http://schemas.microsoft.com/office/drawing/2014/chart" uri="{C3380CC4-5D6E-409C-BE32-E72D297353CC}">
                <c16:uniqueId val="{00000025-C0F2-41D6-B09B-FC5377E2291C}"/>
              </c:ext>
            </c:extLst>
          </c:dPt>
          <c:dPt>
            <c:idx val="19"/>
            <c:invertIfNegative val="0"/>
            <c:bubble3D val="0"/>
            <c:spPr>
              <a:solidFill>
                <a:srgbClr val="E21F26"/>
              </a:solidFill>
              <a:ln>
                <a:solidFill>
                  <a:srgbClr val="E21F26"/>
                </a:solidFill>
              </a:ln>
            </c:spPr>
            <c:extLst>
              <c:ext xmlns:c16="http://schemas.microsoft.com/office/drawing/2014/chart" uri="{C3380CC4-5D6E-409C-BE32-E72D297353CC}">
                <c16:uniqueId val="{00000027-C0F2-41D6-B09B-FC5377E2291C}"/>
              </c:ext>
            </c:extLst>
          </c:dPt>
          <c:dLbls>
            <c:dLbl>
              <c:idx val="0"/>
              <c:delete val="1"/>
              <c:extLst>
                <c:ext xmlns:c15="http://schemas.microsoft.com/office/drawing/2012/chart" uri="{CE6537A1-D6FC-4f65-9D91-7224C49458BB}"/>
                <c:ext xmlns:c16="http://schemas.microsoft.com/office/drawing/2014/chart" uri="{C3380CC4-5D6E-409C-BE32-E72D297353CC}">
                  <c16:uniqueId val="{00000001-C0F2-41D6-B09B-FC5377E2291C}"/>
                </c:ext>
              </c:extLst>
            </c:dLbl>
            <c:numFmt formatCode="#,##0" sourceLinked="0"/>
            <c:spPr>
              <a:noFill/>
              <a:ln>
                <a:noFill/>
              </a:ln>
              <a:effectLst/>
            </c:spPr>
            <c:txPr>
              <a:bodyPr/>
              <a:lstStyle/>
              <a:p>
                <a:pPr>
                  <a:defRPr lang="en" sz="1650">
                    <a:solidFill>
                      <a:schemeClr val="accent1"/>
                    </a:solidFill>
                    <a:latin typeface="Segoe UI"/>
                    <a:ea typeface="Microsoft YaHei"/>
                    <a:cs typeface="Segoe UI"/>
                  </a:defRPr>
                </a:pPr>
                <a:endParaRPr lang="e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Sheet1!$A$2:$A$21</c:f>
              <c:strCache>
                <c:ptCount val="20"/>
                <c:pt idx="0">
                  <c:v>Singapore</c:v>
                </c:pt>
                <c:pt idx="1">
                  <c:v>Indonesia</c:v>
                </c:pt>
                <c:pt idx="2">
                  <c:v>China</c:v>
                </c:pt>
                <c:pt idx="3">
                  <c:v>Thailand</c:v>
                </c:pt>
                <c:pt idx="4">
                  <c:v>India</c:v>
                </c:pt>
                <c:pt idx="5">
                  <c:v>USA (ref.)</c:v>
                </c:pt>
                <c:pt idx="6">
                  <c:v>Philippines</c:v>
                </c:pt>
                <c:pt idx="7">
                  <c:v>Brunei</c:v>
                </c:pt>
                <c:pt idx="8">
                  <c:v>Vietnam</c:v>
                </c:pt>
                <c:pt idx="9">
                  <c:v>Taiwan</c:v>
                </c:pt>
                <c:pt idx="10">
                  <c:v>UK</c:v>
                </c:pt>
                <c:pt idx="11">
                  <c:v>France</c:v>
                </c:pt>
                <c:pt idx="12">
                  <c:v>Australia</c:v>
                </c:pt>
                <c:pt idx="13">
                  <c:v>Japan</c:v>
                </c:pt>
                <c:pt idx="14">
                  <c:v>Myanmar</c:v>
                </c:pt>
                <c:pt idx="15">
                  <c:v>Bangladesh</c:v>
                </c:pt>
                <c:pt idx="16">
                  <c:v>Pakistan</c:v>
                </c:pt>
                <c:pt idx="17">
                  <c:v>Germany</c:v>
                </c:pt>
                <c:pt idx="18">
                  <c:v>South Korea</c:v>
                </c:pt>
                <c:pt idx="19">
                  <c:v>Nepal</c:v>
                </c:pt>
              </c:strCache>
            </c:strRef>
          </c:cat>
          <c:val>
            <c:numRef>
              <c:f>Sheet1!$B$2:$B$21</c:f>
              <c:numCache>
                <c:formatCode>General</c:formatCode>
                <c:ptCount val="20"/>
                <c:pt idx="0">
                  <c:v>38626</c:v>
                </c:pt>
                <c:pt idx="1">
                  <c:v>8175</c:v>
                </c:pt>
                <c:pt idx="2">
                  <c:v>6751</c:v>
                </c:pt>
                <c:pt idx="3">
                  <c:v>297</c:v>
                </c:pt>
                <c:pt idx="4">
                  <c:v>-563</c:v>
                </c:pt>
                <c:pt idx="5">
                  <c:v>-2084</c:v>
                </c:pt>
                <c:pt idx="6">
                  <c:v>-3168</c:v>
                </c:pt>
                <c:pt idx="7">
                  <c:v>-3364</c:v>
                </c:pt>
                <c:pt idx="8">
                  <c:v>-3406</c:v>
                </c:pt>
                <c:pt idx="9">
                  <c:v>-3563</c:v>
                </c:pt>
                <c:pt idx="10">
                  <c:v>-3580</c:v>
                </c:pt>
                <c:pt idx="11">
                  <c:v>-3767</c:v>
                </c:pt>
                <c:pt idx="12">
                  <c:v>-3834</c:v>
                </c:pt>
                <c:pt idx="13">
                  <c:v>-4102</c:v>
                </c:pt>
                <c:pt idx="14">
                  <c:v>-4151</c:v>
                </c:pt>
                <c:pt idx="15">
                  <c:v>-4300</c:v>
                </c:pt>
                <c:pt idx="16">
                  <c:v>-4447</c:v>
                </c:pt>
                <c:pt idx="17">
                  <c:v>-4666</c:v>
                </c:pt>
                <c:pt idx="18">
                  <c:v>-4669</c:v>
                </c:pt>
                <c:pt idx="19">
                  <c:v>-4807</c:v>
                </c:pt>
              </c:numCache>
            </c:numRef>
          </c:val>
          <c:extLst>
            <c:ext xmlns:c16="http://schemas.microsoft.com/office/drawing/2014/chart" uri="{C3380CC4-5D6E-409C-BE32-E72D297353CC}">
              <c16:uniqueId val="{00000028-C0F2-41D6-B09B-FC5377E2291C}"/>
            </c:ext>
          </c:extLst>
        </c:ser>
        <c:dLbls>
          <c:showLegendKey val="0"/>
          <c:showVal val="0"/>
          <c:showCatName val="0"/>
          <c:showSerName val="0"/>
          <c:showPercent val="0"/>
          <c:showBubbleSize val="0"/>
        </c:dLbls>
        <c:gapWidth val="63"/>
        <c:axId val="2068027336"/>
        <c:axId val="2113994440"/>
      </c:barChart>
      <c:catAx>
        <c:axId val="2068027336"/>
        <c:scaling>
          <c:orientation val="maxMin"/>
        </c:scaling>
        <c:delete val="0"/>
        <c:axPos val="l"/>
        <c:numFmt formatCode="General" sourceLinked="0"/>
        <c:majorTickMark val="none"/>
        <c:minorTickMark val="none"/>
        <c:tickLblPos val="low"/>
        <c:spPr>
          <a:ln w="9525" cap="flat" cmpd="sng" algn="ctr">
            <a:solidFill>
              <a:srgbClr val="8A94AB"/>
            </a:solidFill>
            <a:round/>
          </a:ln>
        </c:spPr>
        <c:txPr>
          <a:bodyPr/>
          <a:lstStyle/>
          <a:p>
            <a:pPr>
              <a:defRPr lang="en" sz="1650">
                <a:solidFill>
                  <a:schemeClr val="accent1"/>
                </a:solidFill>
                <a:latin typeface="Segoe UI"/>
                <a:ea typeface="Microsoft YaHei"/>
                <a:cs typeface="Segoe UI"/>
              </a:defRPr>
            </a:pPr>
            <a:endParaRPr lang="en"/>
          </a:p>
        </c:txPr>
        <c:crossAx val="2113994440"/>
        <c:crosses val="autoZero"/>
        <c:auto val="1"/>
        <c:lblAlgn val="ctr"/>
        <c:lblOffset val="100"/>
        <c:tickLblSkip val="1"/>
        <c:noMultiLvlLbl val="0"/>
      </c:catAx>
      <c:valAx>
        <c:axId val="2113994440"/>
        <c:scaling>
          <c:orientation val="minMax"/>
          <c:max val="10000"/>
          <c:min val="-8000"/>
        </c:scaling>
        <c:delete val="1"/>
        <c:axPos val="b"/>
        <c:numFmt formatCode="General" sourceLinked="1"/>
        <c:majorTickMark val="none"/>
        <c:minorTickMark val="none"/>
        <c:tickLblPos val="nextTo"/>
        <c:crossAx val="2068027336"/>
        <c:crosses val="max"/>
        <c:crossBetween val="between"/>
        <c:majorUnit val="2000"/>
      </c:valAx>
      <c:spPr>
        <a:noFill/>
        <a:ln>
          <a:noFill/>
        </a:ln>
      </c:spPr>
    </c:plotArea>
    <c:plotVisOnly val="1"/>
    <c:dispBlanksAs val="gap"/>
    <c:showDLblsOverMax val="1"/>
  </c:chart>
  <c:spPr>
    <a:noFill/>
    <a:ln>
      <a:noFill/>
    </a:ln>
  </c:spPr>
  <c:txPr>
    <a:bodyPr/>
    <a:lstStyle/>
    <a:p>
      <a:pPr>
        <a:defRPr lang="en" sz="1650">
          <a:solidFill>
            <a:schemeClr val="accent1"/>
          </a:solidFill>
          <a:latin typeface="Segoe UI"/>
          <a:ea typeface="Microsoft YaHei"/>
          <a:cs typeface="Segoe UI"/>
        </a:defRPr>
      </a:pPr>
      <a:endParaRPr lang="e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
          </a:p>
        </p:txBody>
      </p:sp>
    </p:spTree>
  </p:cSld>
  <p:clrMap bg1="lt1" tx1="dk1" bg2="lt2" tx2="dk2" accent1="accent1" accent2="accent2" accent3="accent3" accent4="accent4" accent5="accent5" accent6="accent6" hlink="hlink" folHlink="folHlink"/>
  <p:hf/>
  <p:notesStyle>
    <a:lvl1pPr marL="0" algn="l">
      <a:defRPr lang="e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[Script §1 | 0:00–0:25 | 25 s | Speaker A | PJT1, INV2, INV3]</a:t>
            </a:r>
          </a:p>
          <a:p>
            <a:endParaRPr lang="en" dirty="0"/>
          </a:p>
          <a:p>
            <a:r>
              <a:rPr lang="en" dirty="0"/>
              <a:t>Good morning, judges. We are Team Nexora, four students from UTAR, with our advisor Dr. Kelwin Tan.</a:t>
            </a:r>
          </a:p>
          <a:p>
            <a:endParaRPr lang="en" dirty="0"/>
          </a:p>
          <a:p>
            <a:r>
              <a:rPr lang="en" dirty="0"/>
              <a:t>Our question is simple: how does geopolitical risk, like wars, conflicts and political tension, affect the number of tourists coming to Malaysia? To answer it, we used official data and machine learning on Malaysia's top 20 source markets.</a:t>
            </a:r>
          </a:p>
          <a:p>
            <a:endParaRPr lang="en" dirty="0"/>
          </a:p>
          <a:p>
            <a:r>
              <a:rPr lang="en" dirty="0"/>
              <a:t>[Next slide]</a:t>
            </a:r>
          </a:p>
          <a:p>
            <a:endParaRPr lang="en" dirty="0"/>
          </a:p>
          <a:p>
            <a:r>
              <a:rPr lang="en" dirty="0"/>
              <a:t>Sources: report cover (team, advisor, UTAR); report title.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§2, part 1 | 0:25–1:05 | 40 s | Speaker A | IMP2, PJT2, ANL1, INV1]</a:t>
            </a:r>
          </a:p>
          <a:p>
            <a:endParaRPr lang="en" dirty="0"/>
          </a:p>
          <a:p>
            <a:r>
              <a:rPr lang="en" dirty="0"/>
              <a:t>Tourism is very important to Malaysia. It makes up 15.9 percent of our GDP and supports 3.7 million jobs. So when risk goes up somewhere in the world, it can reach our hotels, airlines and homestays.</a:t>
            </a:r>
          </a:p>
          <a:p>
            <a:endParaRPr lang="en" dirty="0"/>
          </a:p>
          <a:p>
            <a:r>
              <a:rPr lang="en" dirty="0"/>
              <a:t>[Click] But here is the problem. If you look at Malaysia as one national number, the link between risk and tourist arrivals is only plus 0.08. That is almost zero.</a:t>
            </a:r>
          </a:p>
          <a:p>
            <a:endParaRPr lang="en" dirty="0"/>
          </a:p>
          <a:p>
            <a:r>
              <a:rPr lang="en" dirty="0"/>
              <a:t>[Click] Past research, by Lee and others in 2021, also found no link at the national level. And nobody had checked each country separately.</a:t>
            </a:r>
          </a:p>
          <a:p>
            <a:endParaRPr lang="en" dirty="0"/>
          </a:p>
          <a:p>
            <a:r>
              <a:rPr lang="en" dirty="0"/>
              <a:t>[Next slide]</a:t>
            </a:r>
          </a:p>
          <a:p>
            <a:endParaRPr lang="en" dirty="0"/>
          </a:p>
          <a:p>
            <a:r>
              <a:rPr lang="en" dirty="0"/>
              <a:t>Sources: report §1.1 (DOSM Tourism Satellite Account 2025: 15.9% of GDP, 3.7 million employed); report §4.2 (raw correlation +0.08); report §2 (Lee et al., 2021).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§2, part 2 | 1:05–1:25 | 20 s | Speaker A | PJT2, ANL1]</a:t>
            </a:r>
          </a:p>
          <a:p>
            <a:endParaRPr lang="en" dirty="0"/>
          </a:p>
          <a:p>
            <a:r>
              <a:rPr lang="en" dirty="0"/>
              <a:t>So our objective was to test how geopolitical risk links to arrivals from each of our top 20 markets, and to forecast arrivals one to four months ahead.</a:t>
            </a:r>
          </a:p>
          <a:p>
            <a:endParaRPr lang="en" dirty="0"/>
          </a:p>
          <a:p>
            <a:r>
              <a:rPr lang="en" dirty="0"/>
              <a:t>Just think about this for a moment: when risk goes up, do tourists come less, come more, or both? My teammate will now explain how we found out.</a:t>
            </a:r>
          </a:p>
          <a:p>
            <a:endParaRPr lang="en" dirty="0"/>
          </a:p>
          <a:p>
            <a:r>
              <a:rPr lang="en" dirty="0"/>
              <a:t>[Optional: click A, B and C on the slide as you say "less", "more", "both"; each badge pulses.]</a:t>
            </a:r>
          </a:p>
          <a:p>
            <a:endParaRPr lang="en" dirty="0"/>
          </a:p>
          <a:p>
            <a:r>
              <a:rPr lang="en" dirty="0"/>
              <a:t>[Next slide — hand over to Speaker B]</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§3 | 1:25–2:15 | 50 s | Speaker B | PJT4, ANL2, ANL4, INV5]</a:t>
            </a:r>
          </a:p>
          <a:p>
            <a:endParaRPr lang="en" dirty="0"/>
          </a:p>
          <a:p>
            <a:r>
              <a:rPr lang="en" dirty="0"/>
              <a:t>Thank you. We did this in four steps.</a:t>
            </a:r>
          </a:p>
          <a:p>
            <a:endParaRPr lang="en" dirty="0"/>
          </a:p>
          <a:p>
            <a:r>
              <a:rPr lang="en" dirty="0"/>
              <a:t>[Click] Step one, we collected official open data: about 69 thousand daily rows, which we turned into 2,300 country-months.</a:t>
            </a:r>
          </a:p>
          <a:p>
            <a:endParaRPr lang="en" dirty="0"/>
          </a:p>
          <a:p>
            <a:r>
              <a:rPr lang="en" dirty="0"/>
              <a:t>[Click] Step two, we dated every number by the day it is actually published, not the day it happened.</a:t>
            </a:r>
          </a:p>
          <a:p>
            <a:endParaRPr lang="en" dirty="0"/>
          </a:p>
          <a:p>
            <a:r>
              <a:rPr lang="en" dirty="0"/>
              <a:t>[Click] Step three, we used Ridge regression to measure the link with each market, and a LightGBM model to forecast one to four months ahead.</a:t>
            </a:r>
          </a:p>
          <a:p>
            <a:endParaRPr lang="en" dirty="0"/>
          </a:p>
          <a:p>
            <a:r>
              <a:rPr lang="en" dirty="0"/>
              <a:t>[Click] Step four, we tested it fairly, with five rolling tests on past years and a COVID stress test, and put the results in a Power BI dashboard.</a:t>
            </a:r>
          </a:p>
          <a:p>
            <a:endParaRPr lang="en" dirty="0"/>
          </a:p>
          <a:p>
            <a:r>
              <a:rPr lang="en" dirty="0"/>
              <a:t>[Click] Our main rule: the model only learns from numbers that were already published, so it never sees the future.</a:t>
            </a:r>
          </a:p>
          <a:p>
            <a:endParaRPr lang="en" dirty="0"/>
          </a:p>
          <a:p>
            <a:r>
              <a:rPr lang="en" dirty="0"/>
              <a:t>[Next slide]</a:t>
            </a:r>
          </a:p>
          <a:p>
            <a:endParaRPr lang="en" dirty="0"/>
          </a:p>
          <a:p>
            <a:r>
              <a:rPr lang="en" dirty="0"/>
              <a:t>Likely question: "How do you stop the model from seeing the future?" Answer: Every input is delayed by its real publishing time. The model only learns from arrivals that were already published on the forecast date. Source: report §3 (publication-lag alignment, row-level eligibility rule).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§4, part 1 | 2:15–2:50 | 35 s | Speaker B | ANL3, ANL5, PJT4]</a:t>
            </a:r>
          </a:p>
          <a:p>
            <a:endParaRPr lang="en" dirty="0"/>
          </a:p>
          <a:p>
            <a:r>
              <a:rPr lang="en" dirty="0"/>
              <a:t>Now our first finding. Back to the question: does risk push tourists away, or bring more in? Our answer is: both.</a:t>
            </a:r>
          </a:p>
          <a:p>
            <a:endParaRPr lang="en" dirty="0"/>
          </a:p>
          <a:p>
            <a:r>
              <a:rPr lang="en" dirty="0"/>
              <a:t>When we look at each country one by one, we see three groups.</a:t>
            </a:r>
          </a:p>
          <a:p>
            <a:endParaRPr lang="en" dirty="0"/>
          </a:p>
          <a:p>
            <a:r>
              <a:rPr lang="en" dirty="0"/>
              <a:t>[Click] For 16 of our 20 markets, like Nepal, South Korea and Germany, when risk goes up, fewer tourists come.</a:t>
            </a:r>
          </a:p>
          <a:p>
            <a:endParaRPr lang="en" dirty="0"/>
          </a:p>
          <a:p>
            <a:r>
              <a:rPr lang="en" dirty="0"/>
              <a:t>[Click] For 3 markets, Singapore, Indonesia and China, when risk goes up, more tourists come.</a:t>
            </a:r>
          </a:p>
          <a:p>
            <a:endParaRPr lang="en" dirty="0"/>
          </a:p>
          <a:p>
            <a:r>
              <a:rPr lang="en" dirty="0"/>
              <a:t>[Click] And for Thailand, there is almost no change.</a:t>
            </a:r>
          </a:p>
          <a:p>
            <a:endParaRPr lang="en" dirty="0"/>
          </a:p>
          <a:p>
            <a:r>
              <a:rPr lang="en" dirty="0"/>
              <a:t>[Next slide]</a:t>
            </a:r>
          </a:p>
          <a:p>
            <a:endParaRPr lang="en" dirty="0"/>
          </a:p>
          <a:p>
            <a:r>
              <a:rPr lang="en" dirty="0"/>
              <a:t>Likely question: "Why do Singapore, Indonesia and China go up when risk goes up?" Answer: We don't claim risk causes it. Risk went up in the same years that tourism recovered after COVID, so we think it is mostly the recovery trend. Source: report §4.2 (Table 5 and caveats); backup B.</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§4, part 2 | 2:50–3:10 | 20 s | Speaker B | ANL5, INV1, ANL3]</a:t>
            </a:r>
          </a:p>
          <a:p>
            <a:endParaRPr lang="en" dirty="0"/>
          </a:p>
          <a:p>
            <a:r>
              <a:rPr lang="en" dirty="0"/>
              <a:t>Here is our key insight. The drops and the rises cancel each other out. That is why the national link is only plus 0.08.</a:t>
            </a:r>
          </a:p>
          <a:p>
            <a:endParaRPr lang="en" dirty="0"/>
          </a:p>
          <a:p>
            <a:r>
              <a:rPr lang="en" dirty="0"/>
              <a:t>[Click] One national number hides what is really happening, so risk must be watched market by market.</a:t>
            </a:r>
          </a:p>
          <a:p>
            <a:endParaRPr lang="en" dirty="0"/>
          </a:p>
          <a:p>
            <a:r>
              <a:rPr lang="en" dirty="0"/>
              <a:t>We are careful here: these are patterns, not proof that risk causes the change.</a:t>
            </a:r>
          </a:p>
          <a:p>
            <a:endParaRPr lang="en" dirty="0"/>
          </a:p>
          <a:p>
            <a:r>
              <a:rPr lang="en" dirty="0"/>
              <a:t>[Next slide]</a:t>
            </a:r>
          </a:p>
          <a:p>
            <a:endParaRPr lang="en" dirty="0"/>
          </a:p>
          <a:p>
            <a:r>
              <a:rPr lang="en" dirty="0"/>
              <a:t>Likely question: "How important is geopolitical risk in the model?" Answer: It is the 6th most used input. Past arrivals and season matter more, which makes sense. Source: report §4.1 (feature importance); backup B.</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[Script §5, part 1 | 3:10–3:30 | 20 s | Speaker B | ANL2, ANL3, ANL4]</a:t>
            </a:r>
          </a:p>
          <a:p>
            <a:endParaRPr lang="en" dirty="0"/>
          </a:p>
          <a:p>
            <a:r>
              <a:rPr lang="en" dirty="0"/>
              <a:t>Our second finding is about forecasting. We tested every model on past data, as if it were live.</a:t>
            </a:r>
          </a:p>
          <a:p>
            <a:endParaRPr lang="en" dirty="0"/>
          </a:p>
          <a:p>
            <a:r>
              <a:rPr lang="en" dirty="0"/>
              <a:t>Our LightGBM model had the smallest error, about 16 thousand arrivals per market per month. It beat Ridge, it beat repeating last month, and it beat repeating last year.</a:t>
            </a:r>
          </a:p>
          <a:p>
            <a:endParaRPr lang="en" dirty="0"/>
          </a:p>
          <a:p>
            <a:r>
              <a:rPr lang="en" dirty="0"/>
              <a:t>[Next slide]</a:t>
            </a:r>
          </a:p>
          <a:p>
            <a:endParaRPr lang="en" dirty="0"/>
          </a:p>
          <a:p>
            <a:r>
              <a:rPr lang="en" dirty="0"/>
              <a:t>Likely question: "Is LightGBM really better than Ridge?" Answer: It had the lowest overall error, 15,969, and the lowest RMSE. But Ridge won 7 of the 20 test cells, so our choice is reasonable, not a big win. Source: report §4.1 Table 1; backup 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§5, part 2 | 3:30–3:50 | 20 s | Speaker B | ANL3, ANL5, PJT4]</a:t>
            </a:r>
          </a:p>
          <a:p>
            <a:endParaRPr lang="en" dirty="0"/>
          </a:p>
          <a:p>
            <a:r>
              <a:rPr lang="en" dirty="0"/>
              <a:t>Forecasts are most reliable one and two months ahead, with error under 12 thousand. At three and four months, the error about doubles.</a:t>
            </a:r>
          </a:p>
          <a:p>
            <a:endParaRPr lang="en" dirty="0"/>
          </a:p>
          <a:p>
            <a:r>
              <a:rPr lang="en" dirty="0"/>
              <a:t>[Click] And one honest result: during COVID, simply repeating last month beat our model, because no model can learn a shock it has never seen.</a:t>
            </a:r>
          </a:p>
          <a:p>
            <a:endParaRPr lang="en" dirty="0"/>
          </a:p>
          <a:p>
            <a:r>
              <a:rPr lang="en" dirty="0"/>
              <a:t>[Next slide]</a:t>
            </a:r>
          </a:p>
          <a:p>
            <a:endParaRPr lang="en" dirty="0"/>
          </a:p>
          <a:p>
            <a:r>
              <a:rPr lang="en" dirty="0"/>
              <a:t>Likely question: "What if the arrivals data is published later than you assumed?" Answer: We tested a 3-month and a 4-month delay. The best model stayed the same. Source: report §4.1 (lag-sensitivity paragraph); backup 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§6 | 3:50–6:40 | 2 min 50 s | Speaker B | DEM1, DEM2, DEM3, DEM4, DEM5, INV4]</a:t>
            </a:r>
          </a:p>
          <a:p>
            <a:endParaRPr lang="en" dirty="0"/>
          </a:p>
          <a:p>
            <a:r>
              <a:rPr lang="en" dirty="0"/>
              <a:t>Now let me show you our dashboard. It follows the four pages on the left.</a:t>
            </a:r>
          </a:p>
          <a:p>
            <a:endParaRPr lang="en" dirty="0"/>
          </a:p>
          <a:p>
            <a:r>
              <a:rPr lang="en" dirty="0"/>
              <a:t>[Alt+Tab to Power BI. It should already be open on Malaysia Tourism Overview, full screen, both slicers set to All.]</a:t>
            </a:r>
          </a:p>
          <a:p>
            <a:endParaRPr lang="en" dirty="0"/>
          </a:p>
          <a:p>
            <a:r>
              <a:rPr lang="en" dirty="0"/>
              <a:t>Overview (20 s). [Point at the four cards, then the Top 5 Source Countries chart.] This page gives the big picture: the latest month, the year so far, and our top five source countries. Everything here covers our 20 markets, not all of Malaysia.</a:t>
            </a:r>
          </a:p>
          <a:p>
            <a:endParaRPr lang="en" dirty="0"/>
          </a:p>
          <a:p>
            <a:r>
              <a:rPr lang="en" dirty="0"/>
              <a:t>1. Which markets matter? (35 s). [Click Market Analysis, then click the Non-ASEAN part of the donut.] ASEAN countries bring most of our tourists, led by Singapore, Indonesia and China. When I click Non-ASEAN, the page shows only those markets. But being big is not the same as being sensitive to risk. [Click blank space to clear.]</a:t>
            </a:r>
          </a:p>
          <a:p>
            <a:endParaRPr lang="en" dirty="0"/>
          </a:p>
          <a:p>
            <a:r>
              <a:rPr lang="en" dirty="0"/>
              <a:t>2. What moves arrivals? (35 s). [Click Tourism Drivers, set Source Country to Singapore, then back to All.] Here you can compare arrivals with oil prices, the exchange rate and geopolitical risk, for any market. Each chart carries a short note, because these are associations, not causes.</a:t>
            </a:r>
          </a:p>
          <a:p>
            <a:endParaRPr lang="en" dirty="0"/>
          </a:p>
          <a:p>
            <a:r>
              <a:rPr lang="en" dirty="0"/>
              <a:t>3. What do we forecast? (35 s). [Click Forecast and point at Forecast Arrivals 2026.] Our model forecasts about 2.28 million arrivals from our 20 markets in June 2026. It stays steady in July, then slowly drops through September. [Set source_country_name to Singapore, then back to All.] You can also see the forecast for a single market.</a:t>
            </a:r>
          </a:p>
          <a:p>
            <a:endParaRPr lang="en" dirty="0"/>
          </a:p>
          <a:p>
            <a:r>
              <a:rPr lang="en" dirty="0"/>
              <a:t>4. How accurate is it? (30 s). [Point at Model Accuracy | Avg MAE (K), then the COVID Stress Test chart.] LightGBM has the lowest average error of the four models. During COVID the simplest method won, and we show that openly.</a:t>
            </a:r>
          </a:p>
          <a:p>
            <a:endParaRPr lang="en" dirty="0"/>
          </a:p>
          <a:p>
            <a:r>
              <a:rPr lang="en" dirty="0"/>
              <a:t>[Alt+Tab back to the slides and hand over to Speaker A. If Power BI freezes, click Demo backup and talk through the screenshots instead.]</a:t>
            </a:r>
          </a:p>
          <a:p>
            <a:endParaRPr lang="en" dirty="0"/>
          </a:p>
          <a:p>
            <a:r>
              <a:rPr lang="en" dirty="0"/>
              <a:t>[Next slide — hand over to Speaker A]</a:t>
            </a:r>
          </a:p>
          <a:p>
            <a:endParaRPr lang="en" dirty="0"/>
          </a:p>
          <a:p>
            <a:r>
              <a:rPr lang="en" dirty="0"/>
              <a:t>Likely question: "Can it run without your laptop?" Answer: Yes. The Power BI file has its data built in, the data file is included, and the Python pipeline updates with one command. Code is on GitHub: github.com/william20808/nexora_dosm.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§7 | 6:40–7:30 | 50 s | Speaker A | IMP1, IMP2, IMP3, IMP4, IMP5]</a:t>
            </a:r>
          </a:p>
          <a:p>
            <a:endParaRPr lang="en" dirty="0"/>
          </a:p>
          <a:p>
            <a:r>
              <a:rPr lang="en" dirty="0"/>
              <a:t>So why does this matter?</a:t>
            </a:r>
          </a:p>
          <a:p>
            <a:endParaRPr lang="en" dirty="0"/>
          </a:p>
          <a:p>
            <a:r>
              <a:rPr lang="en" dirty="0"/>
              <a:t>[Click] First, who could use it. Tourism Malaysia could decide which markets to promote in, and when. DOSM could add a market-level view next to the national number. And hotels, airlines and homestays could plan their staff earlier.</a:t>
            </a:r>
          </a:p>
          <a:p>
            <a:endParaRPr lang="en" dirty="0"/>
          </a:p>
          <a:p>
            <a:r>
              <a:rPr lang="en" dirty="0"/>
              <a:t>[Click] Second, it fits this year's theme, machine learning for sustainable tourism. It links to SDG 8.9 on tourism jobs and local culture, SDG 12.b on tools to monitor tourism, and the National Tourism Policy 2020 to 2030.</a:t>
            </a:r>
          </a:p>
          <a:p>
            <a:endParaRPr lang="en" dirty="0"/>
          </a:p>
          <a:p>
            <a:r>
              <a:rPr lang="en" dirty="0"/>
              <a:t>[Click] Third, it is realistic. It uses only open, official data, it updates every month with one command, and it can grow to more markets and states.</a:t>
            </a:r>
          </a:p>
          <a:p>
            <a:endParaRPr lang="en" dirty="0"/>
          </a:p>
          <a:p>
            <a:r>
              <a:rPr lang="en" dirty="0"/>
              <a:t>To be clear, we show how it could support decisions. We have not measured that impact yet.</a:t>
            </a:r>
          </a:p>
          <a:p>
            <a:endParaRPr lang="en" dirty="0"/>
          </a:p>
          <a:p>
            <a:r>
              <a:rPr lang="en" dirty="0"/>
              <a:t>[Next slide]</a:t>
            </a:r>
          </a:p>
          <a:p>
            <a:endParaRPr lang="en" dirty="0"/>
          </a:p>
          <a:p>
            <a:r>
              <a:rPr lang="en" dirty="0"/>
              <a:t>Likely question: "How would you measure SDG impact?" Answer: Our report lists indicators, such as tourism jobs, wages and local SME participation for SDG 8.9, and energy, water, waste and traffic for SDG 12.b. Source: report §5; backup C.</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[Script §8 | 7:30–8:00 | 30 s | Speaker A | ANL5, PJT2, PJT3]</a:t>
            </a:r>
          </a:p>
          <a:p>
            <a:endParaRPr lang="en" dirty="0"/>
          </a:p>
          <a:p>
            <a:r>
              <a:rPr lang="en" dirty="0"/>
              <a:t>To conclude, we found three things. Geopolitical risk affects each market differently.</a:t>
            </a:r>
          </a:p>
          <a:p>
            <a:endParaRPr lang="en" dirty="0"/>
          </a:p>
          <a:p>
            <a:r>
              <a:rPr lang="en" dirty="0"/>
              <a:t>[Click] Looking market by market shows what the national number hides.</a:t>
            </a:r>
          </a:p>
          <a:p>
            <a:endParaRPr lang="en" dirty="0"/>
          </a:p>
          <a:p>
            <a:r>
              <a:rPr lang="en" dirty="0"/>
              <a:t>[Click] And our model forecasts best one to two months ahead.</a:t>
            </a:r>
          </a:p>
          <a:p>
            <a:endParaRPr lang="en" dirty="0"/>
          </a:p>
          <a:p>
            <a:r>
              <a:rPr lang="en" dirty="0"/>
              <a:t>[Click] We are also honest about our limits. These are patterns, not causes. Sudden shocks like COVID cannot be predicted. And we only cover 20 markets, so forecast ranges are our next step.</a:t>
            </a:r>
          </a:p>
          <a:p>
            <a:endParaRPr lang="en" dirty="0"/>
          </a:p>
          <a:p>
            <a:r>
              <a:rPr lang="en" dirty="0"/>
              <a:t>[Next slide]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[Script §9 | 8:00–8:20 | 20 s | Speaker A | PJT1, PJT3, INV3; Q&amp;A: PJT5]</a:t>
            </a:r>
          </a:p>
          <a:p>
            <a:endParaRPr lang="en" dirty="0"/>
          </a:p>
          <a:p>
            <a:r>
              <a:rPr lang="en" dirty="0"/>
              <a:t>So, how does geopolitical risk affect tourism in Malaysia? For 16 of our 20 markets, higher risk means fewer tourists, but not for all of them. That is why looking market by market matters.</a:t>
            </a:r>
          </a:p>
          <a:p>
            <a:endParaRPr lang="en" dirty="0"/>
          </a:p>
          <a:p>
            <a:r>
              <a:rPr lang="en" dirty="0"/>
              <a:t>[Click] Terima kasih. We are happy to take your questions.</a:t>
            </a:r>
          </a:p>
          <a:p>
            <a:endParaRPr lang="en" dirty="0"/>
          </a:p>
          <a:p>
            <a:r>
              <a:rPr lang="en" dirty="0"/>
              <a:t>[Q&amp;A: short answers in simple English. Backup slides: A for accuracy, B for markets, C for data, D for the demo screenshots — click the buttons on this slide.]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[Backup A · Accuracy | Q&amp;A]</a:t>
            </a:r>
          </a:p>
          <a:p>
            <a:endParaRPr lang="en" dirty="0"/>
          </a:p>
          <a:p>
            <a:r>
              <a:rPr lang="en" dirty="0"/>
              <a:t>Is LightGBM really better than Ridge? It had the lowest overall error, 15,969, and the lowest RMSE. But Ridge won 7 of the 20 test cells, so our choice is reasonable, not a big win.</a:t>
            </a:r>
          </a:p>
          <a:p>
            <a:endParaRPr lang="en" dirty="0"/>
          </a:p>
          <a:p>
            <a:r>
              <a:rPr lang="en" dirty="0"/>
              <a:t>What if the arrivals data is published later than you assumed? We tested a 3-month and a 4-month delay. The best model stayed the same.</a:t>
            </a:r>
          </a:p>
          <a:p>
            <a:endParaRPr lang="en" dirty="0"/>
          </a:p>
          <a:p>
            <a:r>
              <a:rPr lang="en" dirty="0"/>
              <a:t>Sources: report §4.1 Tables 1–2 and the lag-sensitivity paragraph; backtest_accuracy_by_horizon.csv; covid_stress_test_summary.csv; L3_vs_L4_sensitivity_summary.csv.</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 dirty="0"/>
              <a:t>[Backup B · Markets | Q&amp;A]</a:t>
            </a:r>
          </a:p>
          <a:p>
            <a:endParaRPr lang="en" dirty="0"/>
          </a:p>
          <a:p>
            <a:r>
              <a:rPr lang="en" dirty="0"/>
              <a:t>Why do Singapore, Indonesia and China go up when risk goes up? We don't claim risk causes it. Risk went up in the same years that tourism recovered after COVID, so we think it is mostly the recovery trend.</a:t>
            </a:r>
          </a:p>
          <a:p>
            <a:endParaRPr lang="en" dirty="0"/>
          </a:p>
          <a:p>
            <a:r>
              <a:rPr lang="en" dirty="0"/>
              <a:t>How important is geopolitical risk in the model? It is the 6th most used input. Past arrivals and season matter more, which makes sense.</a:t>
            </a:r>
          </a:p>
          <a:p>
            <a:endParaRPr lang="en" dirty="0"/>
          </a:p>
          <a:p>
            <a:r>
              <a:rPr lang="en" dirty="0"/>
              <a:t>Sources: report §4.2 Table 5; report §4.1 feature importance; gpr_country_ridge_interaction.csv; lightgbm_feature_importance.csv.</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[Backup C · Data &amp; design | Q&amp;A]</a:t>
            </a:r>
          </a:p>
          <a:p>
            <a:endParaRPr lang="en" dirty="0"/>
          </a:p>
          <a:p>
            <a:r>
              <a:rPr lang="en" dirty="0"/>
              <a:t>How do you stop the model from seeing the future? Every input is delayed by its real publishing time. The model only learns from arrivals that were already published on the forecast date.</a:t>
            </a:r>
          </a:p>
          <a:p>
            <a:endParaRPr lang="en" dirty="0"/>
          </a:p>
          <a:p>
            <a:r>
              <a:rPr lang="en" dirty="0"/>
              <a:t>How would you measure SDG impact? Our report lists indicators, such as tourism jobs, wages and local SME participation for SDG 8.9, and energy, water, waste and traffic for SDG 12.b.</a:t>
            </a:r>
          </a:p>
          <a:p>
            <a:endParaRPr lang="en" dirty="0"/>
          </a:p>
          <a:p>
            <a:r>
              <a:rPr lang="en" dirty="0"/>
              <a:t>Can it run without your laptop? Yes. The Power BI file has its data built in, the data file is included, and the Python pipeline updates with one command. Code is on GitHub: github.com/william20808/nexora_dosm.</a:t>
            </a:r>
          </a:p>
          <a:p>
            <a:endParaRPr lang="en" dirty="0"/>
          </a:p>
          <a:p>
            <a:r>
              <a:rPr lang="en" dirty="0"/>
              <a:t>Sources: report §3 (data, provenance and publication lags); report §5 (SDG indicators).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 dirty="0"/>
              <a:t>[Backup D · Demo screenshots | fallback if Power BI freezes]</a:t>
            </a:r>
          </a:p>
          <a:p>
            <a:endParaRPr lang="en" dirty="0"/>
          </a:p>
          <a:p>
            <a:r>
              <a:rPr lang="en" dirty="0"/>
              <a:t>Talk through the same four questions in the same order: start on the Overview, then 1. Which markets matter? (Market Analysis), 2. What moves arrivals? (Tourism Drivers), 3. What do we forecast? and 4. How accurate is it? (Forecast). Use the same sentences as the live demo, then click "Back to demo" or go to the next slide.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nexora_pitch_v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10/13/2026</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nexora_pitch_v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 sz="1200">
                <a:solidFill>
                  <a:schemeClr val="tx1">
                    <a:tint val="75000"/>
                  </a:schemeClr>
                </a:solidFill>
              </a:defRPr>
            </a:lvl1pPr>
          </a:lstStyle>
          <a:p>
            <a:fld id="{5BCAD085-E8A6-8845-BD4E-CB4CCA059FC4}" type="datetimeFigureOut">
              <a:rPr lang="en" smtClean="0"/>
              <a:t>10/13/2026</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 sz="1200">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 sz="1200">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en" sz="49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en" sz="28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en" sz="26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en" sz="25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en" sz="23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en" sz="21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en" sz="1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en"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en" sz="16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en" sz="1400" kern="1200">
          <a:solidFill>
            <a:schemeClr val="tx1"/>
          </a:solidFill>
          <a:latin typeface="+mn-lt"/>
          <a:ea typeface="+mn-ea"/>
          <a:cs typeface="+mn-cs"/>
        </a:defRPr>
      </a:lvl9pPr>
    </p:bodyStyle>
    <p:otherStyle>
      <a:defPPr>
        <a:defRPr lang="en"/>
      </a:defPPr>
      <a:lvl1pPr marL="0" algn="l" defTabSz="457200" rtl="0" eaLnBrk="1" latinLnBrk="0" hangingPunct="1">
        <a:defRPr lang="en" sz="2850" kern="1200">
          <a:solidFill>
            <a:schemeClr val="tx1"/>
          </a:solidFill>
          <a:latin typeface="+mn-lt"/>
          <a:ea typeface="+mn-ea"/>
          <a:cs typeface="+mn-cs"/>
        </a:defRPr>
      </a:lvl1pPr>
      <a:lvl2pPr marL="457200" algn="l" defTabSz="457200" rtl="0" eaLnBrk="1" latinLnBrk="0" hangingPunct="1">
        <a:defRPr lang="en" sz="2650" kern="1200">
          <a:solidFill>
            <a:schemeClr val="tx1"/>
          </a:solidFill>
          <a:latin typeface="+mn-lt"/>
          <a:ea typeface="+mn-ea"/>
          <a:cs typeface="+mn-cs"/>
        </a:defRPr>
      </a:lvl2pPr>
      <a:lvl3pPr marL="914400" algn="l" defTabSz="457200" rtl="0" eaLnBrk="1" latinLnBrk="0" hangingPunct="1">
        <a:defRPr lang="en" sz="2500" kern="1200">
          <a:solidFill>
            <a:schemeClr val="tx1"/>
          </a:solidFill>
          <a:latin typeface="+mn-lt"/>
          <a:ea typeface="+mn-ea"/>
          <a:cs typeface="+mn-cs"/>
        </a:defRPr>
      </a:lvl3pPr>
      <a:lvl4pPr marL="1371600" algn="l" defTabSz="457200" rtl="0" eaLnBrk="1" latinLnBrk="0" hangingPunct="1">
        <a:defRPr lang="en" sz="2300" kern="1200">
          <a:solidFill>
            <a:schemeClr val="tx1"/>
          </a:solidFill>
          <a:latin typeface="+mn-lt"/>
          <a:ea typeface="+mn-ea"/>
          <a:cs typeface="+mn-cs"/>
        </a:defRPr>
      </a:lvl4pPr>
      <a:lvl5pPr marL="1828800" algn="l" defTabSz="457200" rtl="0" eaLnBrk="1" latinLnBrk="0" hangingPunct="1">
        <a:defRPr lang="en" sz="2150" kern="1200">
          <a:solidFill>
            <a:schemeClr val="tx1"/>
          </a:solidFill>
          <a:latin typeface="+mn-lt"/>
          <a:ea typeface="+mn-ea"/>
          <a:cs typeface="+mn-cs"/>
        </a:defRPr>
      </a:lvl5pPr>
      <a:lvl6pPr marL="2286000" algn="l" defTabSz="457200" rtl="0" eaLnBrk="1" latinLnBrk="0" hangingPunct="1">
        <a:defRPr lang="en" sz="1950" kern="1200">
          <a:solidFill>
            <a:schemeClr val="tx1"/>
          </a:solidFill>
          <a:latin typeface="+mn-lt"/>
          <a:ea typeface="+mn-ea"/>
          <a:cs typeface="+mn-cs"/>
        </a:defRPr>
      </a:lvl6pPr>
      <a:lvl7pPr marL="2743200" algn="l" defTabSz="457200" rtl="0" eaLnBrk="1" latinLnBrk="0" hangingPunct="1">
        <a:defRPr lang="en" sz="1800" kern="1200">
          <a:solidFill>
            <a:schemeClr val="tx1"/>
          </a:solidFill>
          <a:latin typeface="+mn-lt"/>
          <a:ea typeface="+mn-ea"/>
          <a:cs typeface="+mn-cs"/>
        </a:defRPr>
      </a:lvl7pPr>
      <a:lvl8pPr marL="3200400" algn="l" defTabSz="457200" rtl="0" eaLnBrk="1" latinLnBrk="0" hangingPunct="1">
        <a:defRPr lang="en" sz="1600" kern="1200">
          <a:solidFill>
            <a:schemeClr val="tx1"/>
          </a:solidFill>
          <a:latin typeface="+mn-lt"/>
          <a:ea typeface="+mn-ea"/>
          <a:cs typeface="+mn-cs"/>
        </a:defRPr>
      </a:lvl8pPr>
      <a:lvl9pPr marL="3657600" algn="l" defTabSz="457200" rtl="0" eaLnBrk="1" latinLnBrk="0" hangingPunct="1">
        <a:defRPr lang="en"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jp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slide" Target="slide16.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Layout" Target="../slideLayouts/slideLayout1.xml"/><Relationship Id="rId7" Type="http://schemas.openxmlformats.org/officeDocument/2006/relationships/slide" Target="slide13.xml"/><Relationship Id="rId2" Type="http://schemas.microsoft.com/office/2007/relationships/media" Target="../media/media2.mp4"/><Relationship Id="rId1" Type="http://schemas.openxmlformats.org/officeDocument/2006/relationships/video" Target="NULL" TargetMode="External"/><Relationship Id="rId6" Type="http://schemas.openxmlformats.org/officeDocument/2006/relationships/image" Target="../media/image2.png"/><Relationship Id="rId11" Type="http://schemas.openxmlformats.org/officeDocument/2006/relationships/hyperlink" Target="https://github.com/william20808/nexora_dosm" TargetMode="External"/><Relationship Id="rId5" Type="http://schemas.openxmlformats.org/officeDocument/2006/relationships/image" Target="../media/image17.png"/><Relationship Id="rId10" Type="http://schemas.openxmlformats.org/officeDocument/2006/relationships/slide" Target="slide16.xml"/><Relationship Id="rId4" Type="http://schemas.openxmlformats.org/officeDocument/2006/relationships/notesSlide" Target="../notesSlides/notesSlide12.xml"/><Relationship Id="rId9" Type="http://schemas.openxmlformats.org/officeDocument/2006/relationships/slide" Target="slide15.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slide" Target="slide12.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21.jp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slide" Target="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3" name="p01-cover-video">
            <a:hlinkClick r:id="" action="ppaction://media"/>
            <a:extLst>
              <a:ext uri="{FF2B5EF4-FFF2-40B4-BE49-F238E27FC236}">
                <a16:creationId xmlns:a16="http://schemas.microsoft.com/office/drawing/2014/main" id="{CF907560-F58B-4E8A-240D-3C29C6B5849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3" name="p01-fade"/>
          <p:cNvSpPr/>
          <p:nvPr/>
        </p:nvSpPr>
        <p:spPr>
          <a:xfrm>
            <a:off x="0" y="0"/>
            <a:ext cx="7429500" cy="6858000"/>
          </a:xfrm>
          <a:prstGeom prst="rect">
            <a:avLst/>
          </a:prstGeom>
          <a:gradFill>
            <a:gsLst>
              <a:gs pos="0">
                <a:schemeClr val="lt1"/>
              </a:gs>
              <a:gs pos="69000">
                <a:schemeClr val="lt1"/>
              </a:gs>
              <a:gs pos="85000">
                <a:schemeClr val="lt1">
                  <a:alpha val="55000"/>
                </a:schemeClr>
              </a:gs>
              <a:gs pos="100000">
                <a:schemeClr val="lt1">
                  <a:alpha val="0"/>
                </a:schemeClr>
              </a:gs>
            </a:gsLst>
            <a:lin ang="0" scaled="1"/>
          </a:gradFill>
          <a:ln>
            <a:noFill/>
          </a:ln>
        </p:spPr>
        <p:txBody>
          <a:bodyPr/>
          <a:lstStyle/>
          <a:p>
            <a:endParaRPr lang="en-US"/>
          </a:p>
        </p:txBody>
      </p:sp>
      <p:pic>
        <p:nvPicPr>
          <p:cNvPr id="4" name="p01-batik-sprig"/>
          <p:cNvPicPr>
            <a:picLocks noChangeAspect="1"/>
          </p:cNvPicPr>
          <p:nvPr/>
        </p:nvPicPr>
        <p:blipFill>
          <a:blip r:embed="rId6">
            <a:alphaModFix amt="60000"/>
          </a:blip>
          <a:stretch>
            <a:fillRect/>
          </a:stretch>
        </p:blipFill>
        <p:spPr>
          <a:xfrm>
            <a:off x="612969" y="6419850"/>
            <a:ext cx="945762" cy="381000"/>
          </a:xfrm>
          <a:prstGeom prst="rect">
            <a:avLst/>
          </a:prstGeom>
        </p:spPr>
      </p:pic>
      <p:grpSp>
        <p:nvGrpSpPr>
          <p:cNvPr id="7" name="cover-title"/>
          <p:cNvGrpSpPr/>
          <p:nvPr/>
        </p:nvGrpSpPr>
        <p:grpSpPr>
          <a:xfrm>
            <a:off x="590550" y="787400"/>
            <a:ext cx="5091532" cy="3330575"/>
            <a:chOff x="590550" y="787400"/>
            <a:chExt cx="5091532" cy="3330575"/>
          </a:xfrm>
        </p:grpSpPr>
        <p:sp>
          <p:nvSpPr>
            <p:cNvPr id="5" name="TextBox 5"/>
            <p:cNvSpPr txBox="1"/>
            <p:nvPr/>
          </p:nvSpPr>
          <p:spPr>
            <a:xfrm>
              <a:off x="601218" y="787400"/>
              <a:ext cx="5080864"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TEAM NEXORA · DOSM DATATHON 2026</a:t>
              </a:r>
            </a:p>
          </p:txBody>
        </p:sp>
        <p:sp>
          <p:nvSpPr>
            <p:cNvPr id="6" name="TextBox 6"/>
            <p:cNvSpPr txBox="1"/>
            <p:nvPr/>
          </p:nvSpPr>
          <p:spPr>
            <a:xfrm>
              <a:off x="590550" y="1289050"/>
              <a:ext cx="4510088" cy="2828925"/>
            </a:xfrm>
            <a:prstGeom prst="rect">
              <a:avLst/>
            </a:prstGeom>
            <a:noFill/>
            <a:ln>
              <a:noFill/>
            </a:ln>
          </p:spPr>
          <p:txBody>
            <a:bodyPr wrap="none" lIns="0" tIns="0" rIns="0" bIns="0" anchor="t" anchorCtr="0">
              <a:spAutoFit/>
            </a:bodyPr>
            <a:lstStyle/>
            <a:p>
              <a:pPr algn="l">
                <a:lnSpc>
                  <a:spcPts val="4125"/>
                </a:lnSpc>
              </a:pPr>
              <a:r>
                <a:rPr lang="en" sz="3750" spc="150" dirty="0">
                  <a:solidFill>
                    <a:schemeClr val="dk1"/>
                  </a:solidFill>
                  <a:latin typeface="+mj-lt"/>
                  <a:ea typeface="+mj-ea"/>
                  <a:cs typeface="+mj-cs"/>
                </a:rPr>
                <a:t>HOW DOES</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GEOPOLITICAL RISK</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AFFECT TOURIST</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ARRIVALS TO</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MALAYSIA?</a:t>
              </a:r>
            </a:p>
          </p:txBody>
        </p:sp>
      </p:grpSp>
      <p:grpSp>
        <p:nvGrpSpPr>
          <p:cNvPr id="10" name="cover-sub"/>
          <p:cNvGrpSpPr/>
          <p:nvPr/>
        </p:nvGrpSpPr>
        <p:grpSpPr>
          <a:xfrm>
            <a:off x="598170" y="4114800"/>
            <a:ext cx="5137785" cy="1062355"/>
            <a:chOff x="598170" y="4114800"/>
            <a:chExt cx="5137785" cy="1062355"/>
          </a:xfrm>
        </p:grpSpPr>
        <p:sp>
          <p:nvSpPr>
            <p:cNvPr id="8" name="Rectangle 8"/>
            <p:cNvSpPr/>
            <p:nvPr/>
          </p:nvSpPr>
          <p:spPr>
            <a:xfrm>
              <a:off x="609600" y="4114800"/>
              <a:ext cx="914400" cy="38100"/>
            </a:xfrm>
            <a:prstGeom prst="rect">
              <a:avLst/>
            </a:prstGeom>
            <a:solidFill>
              <a:schemeClr val="accent2"/>
            </a:solidFill>
            <a:ln>
              <a:noFill/>
            </a:ln>
          </p:spPr>
          <p:txBody>
            <a:bodyPr/>
            <a:lstStyle/>
            <a:p>
              <a:endParaRPr lang="en-US"/>
            </a:p>
          </p:txBody>
        </p:sp>
        <p:sp>
          <p:nvSpPr>
            <p:cNvPr id="9" name="TextBox 9"/>
            <p:cNvSpPr txBox="1"/>
            <p:nvPr/>
          </p:nvSpPr>
          <p:spPr>
            <a:xfrm>
              <a:off x="598170" y="4356100"/>
              <a:ext cx="5137785" cy="821055"/>
            </a:xfrm>
            <a:prstGeom prst="rect">
              <a:avLst/>
            </a:prstGeom>
            <a:noFill/>
            <a:ln>
              <a:noFill/>
            </a:ln>
          </p:spPr>
          <p:txBody>
            <a:bodyPr wrap="none" lIns="0" tIns="0" rIns="0" bIns="0" anchor="t" anchorCtr="0">
              <a:spAutoFit/>
            </a:bodyPr>
            <a:lstStyle/>
            <a:p>
              <a:pPr algn="l">
                <a:lnSpc>
                  <a:spcPts val="3000"/>
                </a:lnSpc>
              </a:pPr>
              <a:r>
                <a:rPr lang="en" sz="2250" dirty="0">
                  <a:solidFill>
                    <a:schemeClr val="dk1"/>
                  </a:solidFill>
                  <a:latin typeface="+mn-lt"/>
                  <a:ea typeface="+mn-ea"/>
                  <a:cs typeface="+mn-cs"/>
                </a:rPr>
                <a:t>Official data and machine learning</a:t>
              </a:r>
              <a:br>
                <a:rPr lang="en" sz="2250" dirty="0">
                  <a:solidFill>
                    <a:schemeClr val="dk1"/>
                  </a:solidFill>
                  <a:latin typeface="+mn-lt"/>
                  <a:ea typeface="+mn-ea"/>
                  <a:cs typeface="+mn-cs"/>
                </a:rPr>
              </a:br>
              <a:r>
                <a:rPr lang="en" sz="2250" dirty="0">
                  <a:solidFill>
                    <a:schemeClr val="dk1"/>
                  </a:solidFill>
                  <a:latin typeface="+mn-lt"/>
                  <a:ea typeface="+mn-ea"/>
                  <a:cs typeface="+mn-cs"/>
                </a:rPr>
                <a:t>on Malaysia’s top 20 source markets</a:t>
              </a:r>
            </a:p>
          </p:txBody>
        </p:sp>
      </p:grpSp>
      <p:grpSp>
        <p:nvGrpSpPr>
          <p:cNvPr id="12" name="cover-team"/>
          <p:cNvGrpSpPr/>
          <p:nvPr/>
        </p:nvGrpSpPr>
        <p:grpSpPr>
          <a:xfrm>
            <a:off x="601218" y="5480050"/>
            <a:ext cx="3895157" cy="894207"/>
            <a:chOff x="601218" y="5480050"/>
            <a:chExt cx="3895157" cy="894207"/>
          </a:xfrm>
        </p:grpSpPr>
        <p:sp>
          <p:nvSpPr>
            <p:cNvPr id="11" name="TextBox 11"/>
            <p:cNvSpPr txBox="1"/>
            <p:nvPr/>
          </p:nvSpPr>
          <p:spPr>
            <a:xfrm>
              <a:off x="601218" y="5480050"/>
              <a:ext cx="3895157" cy="894207"/>
            </a:xfrm>
            <a:prstGeom prst="rect">
              <a:avLst/>
            </a:prstGeom>
            <a:noFill/>
            <a:ln>
              <a:noFill/>
            </a:ln>
          </p:spPr>
          <p:txBody>
            <a:bodyPr wrap="none" lIns="0" tIns="0" rIns="0" bIns="0" anchor="t" anchorCtr="0">
              <a:spAutoFit/>
            </a:bodyPr>
            <a:lstStyle/>
            <a:p>
              <a:pPr algn="l">
                <a:lnSpc>
                  <a:spcPts val="2250"/>
                </a:lnSpc>
              </a:pPr>
              <a:r>
                <a:rPr lang="en" sz="1650" dirty="0">
                  <a:solidFill>
                    <a:schemeClr val="accent5"/>
                  </a:solidFill>
                  <a:latin typeface="Segoe UI"/>
                  <a:ea typeface="Segoe UI"/>
                  <a:cs typeface="Segoe UI"/>
                </a:rPr>
                <a:t>Chin William · Tang Xin Yi ·</a:t>
              </a:r>
              <a:br>
                <a:rPr lang="en" sz="1650" dirty="0">
                  <a:solidFill>
                    <a:schemeClr val="accent5"/>
                  </a:solidFill>
                  <a:latin typeface="Segoe UI"/>
                  <a:ea typeface="Segoe UI"/>
                  <a:cs typeface="Segoe UI"/>
                </a:rPr>
              </a:br>
              <a:r>
                <a:rPr lang="en" sz="1650" dirty="0">
                  <a:solidFill>
                    <a:schemeClr val="accent5"/>
                  </a:solidFill>
                  <a:latin typeface="Segoe UI"/>
                  <a:ea typeface="Segoe UI"/>
                  <a:cs typeface="Segoe UI"/>
                </a:rPr>
                <a:t>Janis Ong Jing Yao · Tee Xin Yee</a:t>
              </a:r>
              <a:br>
                <a:rPr lang="en" sz="1650" dirty="0">
                  <a:solidFill>
                    <a:schemeClr val="accent5"/>
                  </a:solidFill>
                  <a:latin typeface="Segoe UI"/>
                  <a:ea typeface="Segoe UI"/>
                  <a:cs typeface="Segoe UI"/>
                </a:rPr>
              </a:br>
              <a:r>
                <a:rPr lang="en" sz="1650" dirty="0">
                  <a:solidFill>
                    <a:schemeClr val="accent5"/>
                  </a:solidFill>
                  <a:latin typeface="Segoe UI"/>
                  <a:ea typeface="Segoe UI"/>
                  <a:cs typeface="Segoe UI"/>
                </a:rPr>
                <a:t>UTAR · Advisor: Dr. Kelwin Tan Seen Tiong</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300"/>
                                  </p:stCondLst>
                                  <p:childTnLst>
                                    <p:set>
                                      <p:cBhvr>
                                        <p:cTn id="6" dur="1" fill="hold">
                                          <p:stCondLst>
                                            <p:cond delay="499"/>
                                          </p:stCondLst>
                                        </p:cTn>
                                        <p:tgtEl>
                                          <p:spTgt spid="7"/>
                                        </p:tgtEl>
                                        <p:attrNameLst>
                                          <p:attrName>style.visibility</p:attrName>
                                        </p:attrNameLst>
                                      </p:cBhvr>
                                      <p:to>
                                        <p:strVal val="visible"/>
                                      </p:to>
                                    </p:set>
                                  </p:childTnLst>
                                </p:cTn>
                              </p:par>
                            </p:childTnLst>
                          </p:cTn>
                        </p:par>
                        <p:par>
                          <p:cTn id="7" fill="hold">
                            <p:stCondLst>
                              <p:cond delay="800"/>
                            </p:stCondLst>
                            <p:childTnLst>
                              <p:par>
                                <p:cTn id="8" presetID="1" presetClass="entr" presetSubtype="0" fill="hold" nodeType="afterEffect">
                                  <p:stCondLst>
                                    <p:cond delay="200"/>
                                  </p:stCondLst>
                                  <p:childTnLst>
                                    <p:set>
                                      <p:cBhvr>
                                        <p:cTn id="9" dur="1" fill="hold">
                                          <p:stCondLst>
                                            <p:cond delay="499"/>
                                          </p:stCondLst>
                                        </p:cTn>
                                        <p:tgtEl>
                                          <p:spTgt spid="10"/>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nodeType="afterEffect">
                                  <p:stCondLst>
                                    <p:cond delay="100"/>
                                  </p:stCondLst>
                                  <p:childTnLst>
                                    <p:set>
                                      <p:cBhvr>
                                        <p:cTn id="12" dur="1" fill="hold">
                                          <p:stCondLst>
                                            <p:cond delay="499"/>
                                          </p:stCondLst>
                                        </p:cTn>
                                        <p:tgtEl>
                                          <p:spTgt spid="12"/>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354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repeatCount="indefinite" fill="hold" display="0">
                  <p:stCondLst>
                    <p:cond delay="indefinite"/>
                  </p:stCondLst>
                </p:cTn>
                <p:tgtEl>
                  <p:spTgt spid="13"/>
                </p:tgtEl>
              </p:cMediaNode>
            </p:video>
            <p:seq concurrent="1" nextAc="seek">
              <p:cTn id="16" restart="whenNotActive" fill="hold" evtFilter="cancelBubble" nodeType="interactiveSeq">
                <p:stCondLst>
                  <p:cond evt="onClick" delay="0">
                    <p:tgtEl>
                      <p:spTgt spid="13"/>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2-klia-photo"/>
          <p:cNvPicPr>
            <a:picLocks noChangeAspect="1"/>
          </p:cNvPicPr>
          <p:nvPr/>
        </p:nvPicPr>
        <p:blipFill>
          <a:blip r:embed="rId3"/>
          <a:srcRect l="14658" r="14657"/>
          <a:stretch>
            <a:fillRect/>
          </a:stretch>
        </p:blipFill>
        <p:spPr>
          <a:xfrm>
            <a:off x="8572500" y="0"/>
            <a:ext cx="3619500" cy="6858000"/>
          </a:xfrm>
          <a:prstGeom prst="rect">
            <a:avLst/>
          </a:prstGeom>
        </p:spPr>
      </p:pic>
      <p:sp>
        <p:nvSpPr>
          <p:cNvPr id="3" name="p02-photo-fade"/>
          <p:cNvSpPr/>
          <p:nvPr/>
        </p:nvSpPr>
        <p:spPr>
          <a:xfrm>
            <a:off x="8572500" y="0"/>
            <a:ext cx="1047750" cy="6858000"/>
          </a:xfrm>
          <a:prstGeom prst="rect">
            <a:avLst/>
          </a:prstGeom>
          <a:gradFill>
            <a:gsLst>
              <a:gs pos="0">
                <a:schemeClr val="lt1"/>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482600"/>
            <a:ext cx="5161598" cy="2003425"/>
            <a:chOff x="590550" y="482600"/>
            <a:chExt cx="5161598" cy="2003425"/>
          </a:xfrm>
        </p:grpSpPr>
        <p:sp>
          <p:nvSpPr>
            <p:cNvPr id="4" name="TextBox 4"/>
            <p:cNvSpPr txBox="1"/>
            <p:nvPr/>
          </p:nvSpPr>
          <p:spPr>
            <a:xfrm>
              <a:off x="601218" y="482600"/>
              <a:ext cx="1744980"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THE CONTEXT</a:t>
              </a:r>
            </a:p>
          </p:txBody>
        </p:sp>
        <p:sp>
          <p:nvSpPr>
            <p:cNvPr id="5" name="TextBox 5"/>
            <p:cNvSpPr txBox="1"/>
            <p:nvPr/>
          </p:nvSpPr>
          <p:spPr>
            <a:xfrm>
              <a:off x="590550" y="838200"/>
              <a:ext cx="5161598"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Tourism matters</a:t>
              </a:r>
              <a:br>
                <a:rPr lang="en" sz="4950" dirty="0">
                  <a:solidFill>
                    <a:schemeClr val="dk1"/>
                  </a:solidFill>
                  <a:latin typeface="+mj-lt"/>
                  <a:ea typeface="+mj-ea"/>
                  <a:cs typeface="+mj-cs"/>
                </a:rPr>
              </a:br>
              <a:r>
                <a:rPr lang="en" sz="4950" dirty="0">
                  <a:solidFill>
                    <a:schemeClr val="dk1"/>
                  </a:solidFill>
                  <a:latin typeface="+mj-lt"/>
                  <a:ea typeface="+mj-ea"/>
                  <a:cs typeface="+mj-cs"/>
                </a:rPr>
                <a:t>to Malaysia</a:t>
              </a:r>
            </a:p>
          </p:txBody>
        </p:sp>
      </p:grpSp>
      <p:grpSp>
        <p:nvGrpSpPr>
          <p:cNvPr id="10" name="hero-gdp"/>
          <p:cNvGrpSpPr/>
          <p:nvPr/>
        </p:nvGrpSpPr>
        <p:grpSpPr>
          <a:xfrm>
            <a:off x="590550" y="2305050"/>
            <a:ext cx="3195485" cy="962025"/>
            <a:chOff x="590550" y="2305050"/>
            <a:chExt cx="3195485" cy="962025"/>
          </a:xfrm>
        </p:grpSpPr>
        <p:sp>
          <p:nvSpPr>
            <p:cNvPr id="7" name="TextBox 7"/>
            <p:cNvSpPr txBox="1"/>
            <p:nvPr/>
          </p:nvSpPr>
          <p:spPr>
            <a:xfrm>
              <a:off x="590550" y="2305050"/>
              <a:ext cx="2115160"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15.9%</a:t>
              </a:r>
            </a:p>
          </p:txBody>
        </p:sp>
        <p:sp>
          <p:nvSpPr>
            <p:cNvPr id="8" name="Rectangle 8"/>
            <p:cNvSpPr/>
            <p:nvPr/>
          </p:nvSpPr>
          <p:spPr>
            <a:xfrm>
              <a:off x="609600" y="3028950"/>
              <a:ext cx="685800" cy="38100"/>
            </a:xfrm>
            <a:prstGeom prst="rect">
              <a:avLst/>
            </a:prstGeom>
            <a:solidFill>
              <a:schemeClr val="accent2"/>
            </a:solidFill>
            <a:ln>
              <a:noFill/>
            </a:ln>
          </p:spPr>
          <p:txBody>
            <a:bodyPr/>
            <a:lstStyle/>
            <a:p>
              <a:endParaRPr lang="en-US"/>
            </a:p>
          </p:txBody>
        </p:sp>
        <p:sp>
          <p:nvSpPr>
            <p:cNvPr id="9" name="TextBox 9"/>
            <p:cNvSpPr txBox="1"/>
            <p:nvPr/>
          </p:nvSpPr>
          <p:spPr>
            <a:xfrm>
              <a:off x="2807970" y="2635250"/>
              <a:ext cx="978065"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of GDP</a:t>
              </a:r>
            </a:p>
          </p:txBody>
        </p:sp>
      </p:grpSp>
      <p:grpSp>
        <p:nvGrpSpPr>
          <p:cNvPr id="14" name="hero-jobs"/>
          <p:cNvGrpSpPr/>
          <p:nvPr/>
        </p:nvGrpSpPr>
        <p:grpSpPr>
          <a:xfrm>
            <a:off x="4171950" y="2305050"/>
            <a:ext cx="4063270" cy="962025"/>
            <a:chOff x="4171950" y="2305050"/>
            <a:chExt cx="4063270" cy="962025"/>
          </a:xfrm>
        </p:grpSpPr>
        <p:sp>
          <p:nvSpPr>
            <p:cNvPr id="11" name="TextBox 11"/>
            <p:cNvSpPr txBox="1"/>
            <p:nvPr/>
          </p:nvSpPr>
          <p:spPr>
            <a:xfrm>
              <a:off x="4171950" y="2305050"/>
              <a:ext cx="2090014"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3.7M</a:t>
              </a:r>
            </a:p>
          </p:txBody>
        </p:sp>
        <p:sp>
          <p:nvSpPr>
            <p:cNvPr id="12" name="Rectangle 12"/>
            <p:cNvSpPr/>
            <p:nvPr/>
          </p:nvSpPr>
          <p:spPr>
            <a:xfrm>
              <a:off x="4191000" y="3028950"/>
              <a:ext cx="685800" cy="38100"/>
            </a:xfrm>
            <a:prstGeom prst="rect">
              <a:avLst/>
            </a:prstGeom>
            <a:solidFill>
              <a:schemeClr val="accent6"/>
            </a:solidFill>
            <a:ln>
              <a:noFill/>
            </a:ln>
          </p:spPr>
          <p:txBody>
            <a:bodyPr/>
            <a:lstStyle/>
            <a:p>
              <a:endParaRPr lang="en-US"/>
            </a:p>
          </p:txBody>
        </p:sp>
        <p:sp>
          <p:nvSpPr>
            <p:cNvPr id="13" name="TextBox 13"/>
            <p:cNvSpPr txBox="1"/>
            <p:nvPr/>
          </p:nvSpPr>
          <p:spPr>
            <a:xfrm>
              <a:off x="6379845" y="2635250"/>
              <a:ext cx="1855375"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tourism jobs</a:t>
              </a:r>
            </a:p>
          </p:txBody>
        </p:sp>
      </p:grpSp>
      <p:grpSp>
        <p:nvGrpSpPr>
          <p:cNvPr id="32" name="reach"/>
          <p:cNvGrpSpPr/>
          <p:nvPr/>
        </p:nvGrpSpPr>
        <p:grpSpPr>
          <a:xfrm>
            <a:off x="645319" y="3187700"/>
            <a:ext cx="5307520" cy="440055"/>
            <a:chOff x="645319" y="3187700"/>
            <a:chExt cx="5307520" cy="440055"/>
          </a:xfrm>
        </p:grpSpPr>
        <p:grpSp>
          <p:nvGrpSpPr>
            <p:cNvPr id="23" name="Group 23"/>
            <p:cNvGrpSpPr/>
            <p:nvPr/>
          </p:nvGrpSpPr>
          <p:grpSpPr>
            <a:xfrm>
              <a:off x="645319" y="3255169"/>
              <a:ext cx="214312" cy="223837"/>
              <a:chOff x="645319" y="3255169"/>
              <a:chExt cx="214312" cy="223837"/>
            </a:xfrm>
          </p:grpSpPr>
          <p:sp>
            <p:nvSpPr>
              <p:cNvPr id="15" name="Freeform 15"/>
              <p:cNvSpPr/>
              <p:nvPr/>
            </p:nvSpPr>
            <p:spPr>
              <a:xfrm>
                <a:off x="645319" y="3469481"/>
                <a:ext cx="214312" cy="9525"/>
              </a:xfrm>
              <a:custGeom>
                <a:avLst/>
                <a:gdLst/>
                <a:ahLst/>
                <a:cxnLst/>
                <a:rect l="l" t="t" r="r" b="b"/>
                <a:pathLst>
                  <a:path w="214312" h="9525">
                    <a:moveTo>
                      <a:pt x="0" y="0"/>
                    </a:moveTo>
                    <a:lnTo>
                      <a:pt x="214312" y="0"/>
                    </a:lnTo>
                  </a:path>
                </a:pathLst>
              </a:custGeom>
              <a:noFill/>
              <a:ln w="23812">
                <a:solidFill>
                  <a:schemeClr val="accent1"/>
                </a:solidFill>
              </a:ln>
            </p:spPr>
            <p:txBody>
              <a:bodyPr/>
              <a:lstStyle/>
              <a:p>
                <a:endParaRPr lang="en-US"/>
              </a:p>
            </p:txBody>
          </p:sp>
          <p:sp>
            <p:nvSpPr>
              <p:cNvPr id="16" name="Freeform 16"/>
              <p:cNvSpPr/>
              <p:nvPr/>
            </p:nvSpPr>
            <p:spPr>
              <a:xfrm>
                <a:off x="716756" y="3314700"/>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17" name="Freeform 17"/>
              <p:cNvSpPr/>
              <p:nvPr/>
            </p:nvSpPr>
            <p:spPr>
              <a:xfrm>
                <a:off x="716756" y="3362325"/>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18" name="Freeform 18"/>
              <p:cNvSpPr/>
              <p:nvPr/>
            </p:nvSpPr>
            <p:spPr>
              <a:xfrm>
                <a:off x="716756" y="3409950"/>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19" name="Freeform 19"/>
              <p:cNvSpPr/>
              <p:nvPr/>
            </p:nvSpPr>
            <p:spPr>
              <a:xfrm>
                <a:off x="776288" y="3314700"/>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20" name="Freeform 20"/>
              <p:cNvSpPr/>
              <p:nvPr/>
            </p:nvSpPr>
            <p:spPr>
              <a:xfrm>
                <a:off x="776288" y="3362325"/>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21" name="Freeform 21"/>
              <p:cNvSpPr/>
              <p:nvPr/>
            </p:nvSpPr>
            <p:spPr>
              <a:xfrm>
                <a:off x="776288" y="3409950"/>
                <a:ext cx="11906" cy="9525"/>
              </a:xfrm>
              <a:custGeom>
                <a:avLst/>
                <a:gdLst/>
                <a:ahLst/>
                <a:cxnLst/>
                <a:rect l="l" t="t" r="r" b="b"/>
                <a:pathLst>
                  <a:path w="11906" h="9525">
                    <a:moveTo>
                      <a:pt x="0" y="0"/>
                    </a:moveTo>
                    <a:lnTo>
                      <a:pt x="11906" y="0"/>
                    </a:lnTo>
                  </a:path>
                </a:pathLst>
              </a:custGeom>
              <a:noFill/>
              <a:ln w="23812">
                <a:solidFill>
                  <a:schemeClr val="accent1"/>
                </a:solidFill>
              </a:ln>
            </p:spPr>
            <p:txBody>
              <a:bodyPr/>
              <a:lstStyle/>
              <a:p>
                <a:endParaRPr lang="en-US"/>
              </a:p>
            </p:txBody>
          </p:sp>
          <p:sp>
            <p:nvSpPr>
              <p:cNvPr id="22" name="Freeform 22"/>
              <p:cNvSpPr/>
              <p:nvPr/>
            </p:nvSpPr>
            <p:spPr>
              <a:xfrm>
                <a:off x="669131" y="3255169"/>
                <a:ext cx="166688" cy="214312"/>
              </a:xfrm>
              <a:custGeom>
                <a:avLst/>
                <a:gdLst/>
                <a:ahLst/>
                <a:cxnLst/>
                <a:rect l="l" t="t" r="r" b="b"/>
                <a:pathLst>
                  <a:path w="166688" h="214312">
                    <a:moveTo>
                      <a:pt x="0" y="214312"/>
                    </a:moveTo>
                    <a:lnTo>
                      <a:pt x="0" y="23812"/>
                    </a:lnTo>
                    <a:cubicBezTo>
                      <a:pt x="0" y="10661"/>
                      <a:pt x="10661" y="0"/>
                      <a:pt x="23812" y="0"/>
                    </a:cubicBezTo>
                    <a:lnTo>
                      <a:pt x="142875" y="0"/>
                    </a:lnTo>
                    <a:cubicBezTo>
                      <a:pt x="156026" y="0"/>
                      <a:pt x="166688" y="10661"/>
                      <a:pt x="166688" y="23812"/>
                    </a:cubicBezTo>
                    <a:lnTo>
                      <a:pt x="166688" y="214312"/>
                    </a:lnTo>
                  </a:path>
                </a:pathLst>
              </a:custGeom>
              <a:noFill/>
              <a:ln w="23812">
                <a:solidFill>
                  <a:schemeClr val="accent1"/>
                </a:solidFill>
              </a:ln>
            </p:spPr>
            <p:txBody>
              <a:bodyPr/>
              <a:lstStyle/>
              <a:p>
                <a:endParaRPr lang="en-US"/>
              </a:p>
            </p:txBody>
          </p:sp>
        </p:grpSp>
        <p:sp>
          <p:nvSpPr>
            <p:cNvPr id="24" name="TextBox 24"/>
            <p:cNvSpPr txBox="1"/>
            <p:nvPr/>
          </p:nvSpPr>
          <p:spPr>
            <a:xfrm>
              <a:off x="979170" y="3187700"/>
              <a:ext cx="946690"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hotels</a:t>
              </a:r>
            </a:p>
          </p:txBody>
        </p:sp>
        <p:sp>
          <p:nvSpPr>
            <p:cNvPr id="25" name="Freeform 25"/>
            <p:cNvSpPr/>
            <p:nvPr/>
          </p:nvSpPr>
          <p:spPr>
            <a:xfrm>
              <a:off x="2214562" y="3255169"/>
              <a:ext cx="238125" cy="214312"/>
            </a:xfrm>
            <a:custGeom>
              <a:avLst/>
              <a:gdLst/>
              <a:ahLst/>
              <a:cxnLst/>
              <a:rect l="l" t="t" r="r" b="b"/>
              <a:pathLst>
                <a:path w="238125" h="214312">
                  <a:moveTo>
                    <a:pt x="166688" y="83344"/>
                  </a:moveTo>
                  <a:lnTo>
                    <a:pt x="214312" y="83344"/>
                  </a:lnTo>
                  <a:cubicBezTo>
                    <a:pt x="227464" y="83344"/>
                    <a:pt x="238125" y="94005"/>
                    <a:pt x="238125" y="107156"/>
                  </a:cubicBezTo>
                  <a:cubicBezTo>
                    <a:pt x="238125" y="120308"/>
                    <a:pt x="227464" y="130969"/>
                    <a:pt x="214312" y="130969"/>
                  </a:cubicBezTo>
                  <a:lnTo>
                    <a:pt x="166688" y="130969"/>
                  </a:lnTo>
                  <a:lnTo>
                    <a:pt x="119062" y="214312"/>
                  </a:lnTo>
                  <a:lnTo>
                    <a:pt x="83344" y="214312"/>
                  </a:lnTo>
                  <a:lnTo>
                    <a:pt x="107156" y="130969"/>
                  </a:lnTo>
                  <a:lnTo>
                    <a:pt x="59531" y="130969"/>
                  </a:lnTo>
                  <a:lnTo>
                    <a:pt x="35719" y="154781"/>
                  </a:lnTo>
                  <a:lnTo>
                    <a:pt x="0" y="154781"/>
                  </a:lnTo>
                  <a:lnTo>
                    <a:pt x="23812" y="107156"/>
                  </a:lnTo>
                  <a:lnTo>
                    <a:pt x="0" y="59531"/>
                  </a:lnTo>
                  <a:lnTo>
                    <a:pt x="35719" y="59531"/>
                  </a:lnTo>
                  <a:lnTo>
                    <a:pt x="59531" y="83344"/>
                  </a:lnTo>
                  <a:lnTo>
                    <a:pt x="107156" y="83344"/>
                  </a:lnTo>
                  <a:lnTo>
                    <a:pt x="83344" y="0"/>
                  </a:lnTo>
                  <a:lnTo>
                    <a:pt x="119062" y="0"/>
                  </a:lnTo>
                  <a:lnTo>
                    <a:pt x="166688" y="83344"/>
                  </a:lnTo>
                </a:path>
              </a:pathLst>
            </a:custGeom>
            <a:noFill/>
            <a:ln w="23812">
              <a:solidFill>
                <a:schemeClr val="accent1"/>
              </a:solidFill>
            </a:ln>
          </p:spPr>
          <p:txBody>
            <a:bodyPr/>
            <a:lstStyle/>
            <a:p>
              <a:endParaRPr lang="en-US"/>
            </a:p>
          </p:txBody>
        </p:sp>
        <p:sp>
          <p:nvSpPr>
            <p:cNvPr id="26" name="TextBox 26"/>
            <p:cNvSpPr txBox="1"/>
            <p:nvPr/>
          </p:nvSpPr>
          <p:spPr>
            <a:xfrm>
              <a:off x="2560320" y="3187700"/>
              <a:ext cx="1128427"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airlines</a:t>
              </a:r>
            </a:p>
          </p:txBody>
        </p:sp>
        <p:grpSp>
          <p:nvGrpSpPr>
            <p:cNvPr id="30" name="Group 30"/>
            <p:cNvGrpSpPr/>
            <p:nvPr/>
          </p:nvGrpSpPr>
          <p:grpSpPr>
            <a:xfrm>
              <a:off x="4036219" y="3255169"/>
              <a:ext cx="214312" cy="214312"/>
              <a:chOff x="4036219" y="3255169"/>
              <a:chExt cx="214312" cy="214312"/>
            </a:xfrm>
          </p:grpSpPr>
          <p:sp>
            <p:nvSpPr>
              <p:cNvPr id="27" name="Freeform 27"/>
              <p:cNvSpPr/>
              <p:nvPr/>
            </p:nvSpPr>
            <p:spPr>
              <a:xfrm>
                <a:off x="4036219" y="3255169"/>
                <a:ext cx="214312" cy="107156"/>
              </a:xfrm>
              <a:custGeom>
                <a:avLst/>
                <a:gdLst/>
                <a:ahLst/>
                <a:cxnLst/>
                <a:rect l="l" t="t" r="r" b="b"/>
                <a:pathLst>
                  <a:path w="214312" h="107156">
                    <a:moveTo>
                      <a:pt x="23812" y="107156"/>
                    </a:moveTo>
                    <a:lnTo>
                      <a:pt x="0" y="107156"/>
                    </a:lnTo>
                    <a:lnTo>
                      <a:pt x="107156" y="0"/>
                    </a:lnTo>
                    <a:lnTo>
                      <a:pt x="214312" y="107156"/>
                    </a:lnTo>
                    <a:lnTo>
                      <a:pt x="190500" y="107156"/>
                    </a:lnTo>
                  </a:path>
                </a:pathLst>
              </a:custGeom>
              <a:noFill/>
              <a:ln w="23812">
                <a:solidFill>
                  <a:schemeClr val="accent1"/>
                </a:solidFill>
              </a:ln>
            </p:spPr>
            <p:txBody>
              <a:bodyPr/>
              <a:lstStyle/>
              <a:p>
                <a:endParaRPr lang="en-US"/>
              </a:p>
            </p:txBody>
          </p:sp>
          <p:sp>
            <p:nvSpPr>
              <p:cNvPr id="28" name="Freeform 28"/>
              <p:cNvSpPr/>
              <p:nvPr/>
            </p:nvSpPr>
            <p:spPr>
              <a:xfrm>
                <a:off x="4060031" y="3362325"/>
                <a:ext cx="166688" cy="107156"/>
              </a:xfrm>
              <a:custGeom>
                <a:avLst/>
                <a:gdLst/>
                <a:ahLst/>
                <a:cxnLst/>
                <a:rect l="l" t="t" r="r" b="b"/>
                <a:pathLst>
                  <a:path w="166688" h="107156">
                    <a:moveTo>
                      <a:pt x="0" y="0"/>
                    </a:moveTo>
                    <a:lnTo>
                      <a:pt x="0" y="83344"/>
                    </a:lnTo>
                    <a:cubicBezTo>
                      <a:pt x="0" y="96495"/>
                      <a:pt x="10661" y="107156"/>
                      <a:pt x="23812" y="107156"/>
                    </a:cubicBezTo>
                    <a:lnTo>
                      <a:pt x="142875" y="107156"/>
                    </a:lnTo>
                    <a:cubicBezTo>
                      <a:pt x="156026" y="107156"/>
                      <a:pt x="166688" y="96495"/>
                      <a:pt x="166688" y="83344"/>
                    </a:cubicBezTo>
                    <a:lnTo>
                      <a:pt x="166688" y="0"/>
                    </a:lnTo>
                  </a:path>
                </a:pathLst>
              </a:custGeom>
              <a:noFill/>
              <a:ln w="23812">
                <a:solidFill>
                  <a:schemeClr val="accent1"/>
                </a:solidFill>
              </a:ln>
            </p:spPr>
            <p:txBody>
              <a:bodyPr/>
              <a:lstStyle/>
              <a:p>
                <a:endParaRPr lang="en-US"/>
              </a:p>
            </p:txBody>
          </p:sp>
          <p:sp>
            <p:nvSpPr>
              <p:cNvPr id="29" name="Freeform 29"/>
              <p:cNvSpPr/>
              <p:nvPr/>
            </p:nvSpPr>
            <p:spPr>
              <a:xfrm>
                <a:off x="4107656" y="3374231"/>
                <a:ext cx="71438" cy="95250"/>
              </a:xfrm>
              <a:custGeom>
                <a:avLst/>
                <a:gdLst/>
                <a:ahLst/>
                <a:cxnLst/>
                <a:rect l="l" t="t" r="r" b="b"/>
                <a:pathLst>
                  <a:path w="71438" h="95250">
                    <a:moveTo>
                      <a:pt x="0" y="95250"/>
                    </a:moveTo>
                    <a:lnTo>
                      <a:pt x="0" y="23812"/>
                    </a:lnTo>
                    <a:cubicBezTo>
                      <a:pt x="0" y="10661"/>
                      <a:pt x="10661" y="0"/>
                      <a:pt x="23812" y="0"/>
                    </a:cubicBezTo>
                    <a:lnTo>
                      <a:pt x="47625" y="0"/>
                    </a:lnTo>
                    <a:cubicBezTo>
                      <a:pt x="60776" y="0"/>
                      <a:pt x="71438" y="10661"/>
                      <a:pt x="71438" y="23812"/>
                    </a:cubicBezTo>
                    <a:lnTo>
                      <a:pt x="71438" y="95250"/>
                    </a:lnTo>
                  </a:path>
                </a:pathLst>
              </a:custGeom>
              <a:noFill/>
              <a:ln w="23812">
                <a:solidFill>
                  <a:schemeClr val="accent1"/>
                </a:solidFill>
              </a:ln>
            </p:spPr>
            <p:txBody>
              <a:bodyPr/>
              <a:lstStyle/>
              <a:p>
                <a:endParaRPr lang="en-US"/>
              </a:p>
            </p:txBody>
          </p:sp>
        </p:grpSp>
        <p:sp>
          <p:nvSpPr>
            <p:cNvPr id="31" name="TextBox 31"/>
            <p:cNvSpPr txBox="1"/>
            <p:nvPr/>
          </p:nvSpPr>
          <p:spPr>
            <a:xfrm>
              <a:off x="4370070" y="3187700"/>
              <a:ext cx="1582769"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homestays</a:t>
              </a:r>
            </a:p>
          </p:txBody>
        </p:sp>
      </p:grpSp>
      <p:grpSp>
        <p:nvGrpSpPr>
          <p:cNvPr id="38" name="problem"/>
          <p:cNvGrpSpPr/>
          <p:nvPr/>
        </p:nvGrpSpPr>
        <p:grpSpPr>
          <a:xfrm>
            <a:off x="609600" y="3556000"/>
            <a:ext cx="7734300" cy="1847850"/>
            <a:chOff x="609600" y="3556000"/>
            <a:chExt cx="7734300" cy="1847850"/>
          </a:xfrm>
        </p:grpSpPr>
        <p:sp>
          <p:nvSpPr>
            <p:cNvPr id="33" name="Rectangle 33"/>
            <p:cNvSpPr/>
            <p:nvPr/>
          </p:nvSpPr>
          <p:spPr>
            <a:xfrm>
              <a:off x="609600" y="3695700"/>
              <a:ext cx="7734300" cy="1485900"/>
            </a:xfrm>
            <a:prstGeom prst="roundRect">
              <a:avLst>
                <a:gd name="adj" fmla="val 5128"/>
              </a:avLst>
            </a:prstGeom>
            <a:solidFill>
              <a:schemeClr val="lt2"/>
            </a:solidFill>
            <a:ln w="9525">
              <a:solidFill>
                <a:schemeClr val="accent6"/>
              </a:solidFill>
            </a:ln>
          </p:spPr>
          <p:txBody>
            <a:bodyPr/>
            <a:lstStyle/>
            <a:p>
              <a:endParaRPr lang="en-US"/>
            </a:p>
          </p:txBody>
        </p:sp>
        <p:sp>
          <p:nvSpPr>
            <p:cNvPr id="34" name="TextBox 34"/>
            <p:cNvSpPr txBox="1"/>
            <p:nvPr/>
          </p:nvSpPr>
          <p:spPr>
            <a:xfrm>
              <a:off x="819150" y="3556000"/>
              <a:ext cx="3793236" cy="1847850"/>
            </a:xfrm>
            <a:prstGeom prst="rect">
              <a:avLst/>
            </a:prstGeom>
            <a:noFill/>
            <a:ln>
              <a:noFill/>
            </a:ln>
          </p:spPr>
          <p:txBody>
            <a:bodyPr wrap="none" lIns="0" tIns="0" rIns="0" bIns="0" anchor="t" anchorCtr="0">
              <a:spAutoFit/>
            </a:bodyPr>
            <a:lstStyle/>
            <a:p>
              <a:pPr algn="l"/>
              <a:r>
                <a:rPr lang="en" sz="9600" dirty="0">
                  <a:solidFill>
                    <a:srgbClr val="8A94AB"/>
                  </a:solidFill>
                  <a:latin typeface="+mj-lt"/>
                  <a:ea typeface="+mj-ea"/>
                  <a:cs typeface="+mj-cs"/>
                </a:rPr>
                <a:t>+0.08</a:t>
              </a:r>
            </a:p>
          </p:txBody>
        </p:sp>
        <p:sp>
          <p:nvSpPr>
            <p:cNvPr id="35" name="TextBox 35"/>
            <p:cNvSpPr txBox="1"/>
            <p:nvPr/>
          </p:nvSpPr>
          <p:spPr>
            <a:xfrm>
              <a:off x="829818" y="4864100"/>
              <a:ext cx="413714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risk vs arrivals, all markets combined</a:t>
              </a:r>
            </a:p>
          </p:txBody>
        </p:sp>
        <p:sp>
          <p:nvSpPr>
            <p:cNvPr id="36" name="TextBox 36"/>
            <p:cNvSpPr txBox="1"/>
            <p:nvPr/>
          </p:nvSpPr>
          <p:spPr>
            <a:xfrm>
              <a:off x="4811268" y="3873500"/>
              <a:ext cx="1791919"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THE PROBLEM</a:t>
              </a:r>
            </a:p>
          </p:txBody>
        </p:sp>
        <p:sp>
          <p:nvSpPr>
            <p:cNvPr id="37" name="TextBox 37"/>
            <p:cNvSpPr txBox="1"/>
            <p:nvPr/>
          </p:nvSpPr>
          <p:spPr>
            <a:xfrm>
              <a:off x="4808220" y="4178300"/>
              <a:ext cx="3108960"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dk1"/>
                  </a:solidFill>
                  <a:latin typeface="+mn-lt"/>
                  <a:ea typeface="+mn-ea"/>
                  <a:cs typeface="+mn-cs"/>
                </a:rPr>
                <a:t>Nationally, risk seems</a:t>
              </a:r>
              <a:br>
                <a:rPr lang="en" sz="2250" dirty="0">
                  <a:solidFill>
                    <a:schemeClr val="dk1"/>
                  </a:solidFill>
                  <a:latin typeface="+mn-lt"/>
                  <a:ea typeface="+mn-ea"/>
                  <a:cs typeface="+mn-cs"/>
                </a:rPr>
              </a:br>
              <a:r>
                <a:rPr lang="en" sz="2250" dirty="0">
                  <a:solidFill>
                    <a:schemeClr val="dk1"/>
                  </a:solidFill>
                  <a:latin typeface="+mn-lt"/>
                  <a:ea typeface="+mn-ea"/>
                  <a:cs typeface="+mn-cs"/>
                </a:rPr>
                <a:t>not to matter.</a:t>
              </a:r>
            </a:p>
          </p:txBody>
        </p:sp>
      </p:grpSp>
      <p:grpSp>
        <p:nvGrpSpPr>
          <p:cNvPr id="57" name="gap"/>
          <p:cNvGrpSpPr/>
          <p:nvPr/>
        </p:nvGrpSpPr>
        <p:grpSpPr>
          <a:xfrm>
            <a:off x="609600" y="5295900"/>
            <a:ext cx="7734300" cy="1257300"/>
            <a:chOff x="609600" y="5295900"/>
            <a:chExt cx="7734300" cy="1257300"/>
          </a:xfrm>
        </p:grpSpPr>
        <p:sp>
          <p:nvSpPr>
            <p:cNvPr id="39" name="Rectangle 39"/>
            <p:cNvSpPr/>
            <p:nvPr/>
          </p:nvSpPr>
          <p:spPr>
            <a:xfrm>
              <a:off x="609600" y="5295900"/>
              <a:ext cx="7734300" cy="1257300"/>
            </a:xfrm>
            <a:prstGeom prst="roundRect">
              <a:avLst>
                <a:gd name="adj" fmla="val 6061"/>
              </a:avLst>
            </a:prstGeom>
            <a:solidFill>
              <a:schemeClr val="lt2"/>
            </a:solidFill>
            <a:ln w="9525">
              <a:solidFill>
                <a:schemeClr val="accent6"/>
              </a:solidFill>
            </a:ln>
          </p:spPr>
          <p:txBody>
            <a:bodyPr/>
            <a:lstStyle/>
            <a:p>
              <a:endParaRPr lang="en-US"/>
            </a:p>
          </p:txBody>
        </p:sp>
        <p:sp>
          <p:nvSpPr>
            <p:cNvPr id="40" name="Rectangle 40"/>
            <p:cNvSpPr/>
            <p:nvPr/>
          </p:nvSpPr>
          <p:spPr>
            <a:xfrm>
              <a:off x="609600" y="5410200"/>
              <a:ext cx="57150" cy="1028700"/>
            </a:xfrm>
            <a:prstGeom prst="rect">
              <a:avLst/>
            </a:prstGeom>
            <a:solidFill>
              <a:schemeClr val="accent2"/>
            </a:solidFill>
            <a:ln>
              <a:noFill/>
            </a:ln>
          </p:spPr>
          <p:txBody>
            <a:bodyPr/>
            <a:lstStyle/>
            <a:p>
              <a:endParaRPr lang="en-US"/>
            </a:p>
          </p:txBody>
        </p:sp>
        <p:sp>
          <p:nvSpPr>
            <p:cNvPr id="41" name="TextBox 41"/>
            <p:cNvSpPr txBox="1"/>
            <p:nvPr/>
          </p:nvSpPr>
          <p:spPr>
            <a:xfrm>
              <a:off x="829818" y="5416550"/>
              <a:ext cx="1053694"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THE GAP</a:t>
              </a:r>
            </a:p>
          </p:txBody>
        </p:sp>
        <p:grpSp>
          <p:nvGrpSpPr>
            <p:cNvPr id="49" name="Group 49"/>
            <p:cNvGrpSpPr/>
            <p:nvPr/>
          </p:nvGrpSpPr>
          <p:grpSpPr>
            <a:xfrm>
              <a:off x="897731" y="5818525"/>
              <a:ext cx="191680" cy="193000"/>
              <a:chOff x="897731" y="5818525"/>
              <a:chExt cx="191680" cy="193000"/>
            </a:xfrm>
          </p:grpSpPr>
          <p:sp>
            <p:nvSpPr>
              <p:cNvPr id="42" name="Freeform 42"/>
              <p:cNvSpPr/>
              <p:nvPr/>
            </p:nvSpPr>
            <p:spPr>
              <a:xfrm>
                <a:off x="897731" y="5819775"/>
                <a:ext cx="47625" cy="190500"/>
              </a:xfrm>
              <a:custGeom>
                <a:avLst/>
                <a:gdLst/>
                <a:ahLst/>
                <a:cxnLst/>
                <a:rect l="l" t="t" r="r" b="b"/>
                <a:pathLst>
                  <a:path w="47625" h="190500">
                    <a:moveTo>
                      <a:pt x="0" y="11906"/>
                    </a:moveTo>
                    <a:cubicBezTo>
                      <a:pt x="0" y="5331"/>
                      <a:pt x="5331" y="0"/>
                      <a:pt x="11906" y="0"/>
                    </a:cubicBezTo>
                    <a:lnTo>
                      <a:pt x="35719" y="0"/>
                    </a:lnTo>
                    <a:cubicBezTo>
                      <a:pt x="42294" y="0"/>
                      <a:pt x="47625" y="5331"/>
                      <a:pt x="47625" y="11906"/>
                    </a:cubicBezTo>
                    <a:lnTo>
                      <a:pt x="47625" y="178594"/>
                    </a:lnTo>
                    <a:cubicBezTo>
                      <a:pt x="47625" y="185169"/>
                      <a:pt x="42294" y="190500"/>
                      <a:pt x="35719" y="190500"/>
                    </a:cubicBezTo>
                    <a:lnTo>
                      <a:pt x="11906" y="190500"/>
                    </a:lnTo>
                    <a:cubicBezTo>
                      <a:pt x="5331" y="190500"/>
                      <a:pt x="0" y="185169"/>
                      <a:pt x="0" y="178594"/>
                    </a:cubicBezTo>
                    <a:lnTo>
                      <a:pt x="0" y="11906"/>
                    </a:lnTo>
                  </a:path>
                </a:pathLst>
              </a:custGeom>
              <a:noFill/>
              <a:ln w="23812">
                <a:solidFill>
                  <a:schemeClr val="accent1"/>
                </a:solidFill>
              </a:ln>
            </p:spPr>
            <p:txBody>
              <a:bodyPr/>
              <a:lstStyle/>
              <a:p>
                <a:endParaRPr lang="en-US"/>
              </a:p>
            </p:txBody>
          </p:sp>
          <p:sp>
            <p:nvSpPr>
              <p:cNvPr id="43" name="Freeform 43"/>
              <p:cNvSpPr/>
              <p:nvPr/>
            </p:nvSpPr>
            <p:spPr>
              <a:xfrm>
                <a:off x="945356" y="5819775"/>
                <a:ext cx="47625" cy="190500"/>
              </a:xfrm>
              <a:custGeom>
                <a:avLst/>
                <a:gdLst/>
                <a:ahLst/>
                <a:cxnLst/>
                <a:rect l="l" t="t" r="r" b="b"/>
                <a:pathLst>
                  <a:path w="47625" h="190500">
                    <a:moveTo>
                      <a:pt x="0" y="11906"/>
                    </a:moveTo>
                    <a:cubicBezTo>
                      <a:pt x="0" y="5331"/>
                      <a:pt x="5331" y="0"/>
                      <a:pt x="11906" y="0"/>
                    </a:cubicBezTo>
                    <a:lnTo>
                      <a:pt x="35719" y="0"/>
                    </a:lnTo>
                    <a:cubicBezTo>
                      <a:pt x="42294" y="0"/>
                      <a:pt x="47625" y="5331"/>
                      <a:pt x="47625" y="11906"/>
                    </a:cubicBezTo>
                    <a:lnTo>
                      <a:pt x="47625" y="178594"/>
                    </a:lnTo>
                    <a:cubicBezTo>
                      <a:pt x="47625" y="185169"/>
                      <a:pt x="42294" y="190500"/>
                      <a:pt x="35719" y="190500"/>
                    </a:cubicBezTo>
                    <a:lnTo>
                      <a:pt x="11906" y="190500"/>
                    </a:lnTo>
                    <a:cubicBezTo>
                      <a:pt x="5331" y="190500"/>
                      <a:pt x="0" y="185169"/>
                      <a:pt x="0" y="178594"/>
                    </a:cubicBezTo>
                    <a:lnTo>
                      <a:pt x="0" y="11906"/>
                    </a:lnTo>
                  </a:path>
                </a:pathLst>
              </a:custGeom>
              <a:noFill/>
              <a:ln w="23812">
                <a:solidFill>
                  <a:schemeClr val="accent1"/>
                </a:solidFill>
              </a:ln>
            </p:spPr>
            <p:txBody>
              <a:bodyPr/>
              <a:lstStyle/>
              <a:p>
                <a:endParaRPr lang="en-US"/>
              </a:p>
            </p:txBody>
          </p:sp>
          <p:sp>
            <p:nvSpPr>
              <p:cNvPr id="44" name="Freeform 44"/>
              <p:cNvSpPr/>
              <p:nvPr/>
            </p:nvSpPr>
            <p:spPr>
              <a:xfrm>
                <a:off x="897731" y="5867400"/>
                <a:ext cx="47625" cy="9525"/>
              </a:xfrm>
              <a:custGeom>
                <a:avLst/>
                <a:gdLst/>
                <a:ahLst/>
                <a:cxnLst/>
                <a:rect l="l" t="t" r="r" b="b"/>
                <a:pathLst>
                  <a:path w="47625" h="9525">
                    <a:moveTo>
                      <a:pt x="0" y="0"/>
                    </a:moveTo>
                    <a:lnTo>
                      <a:pt x="47625" y="0"/>
                    </a:lnTo>
                  </a:path>
                </a:pathLst>
              </a:custGeom>
              <a:noFill/>
              <a:ln w="23812">
                <a:solidFill>
                  <a:schemeClr val="accent1"/>
                </a:solidFill>
              </a:ln>
            </p:spPr>
            <p:txBody>
              <a:bodyPr/>
              <a:lstStyle/>
              <a:p>
                <a:endParaRPr lang="en-US"/>
              </a:p>
            </p:txBody>
          </p:sp>
          <p:sp>
            <p:nvSpPr>
              <p:cNvPr id="45" name="Freeform 45"/>
              <p:cNvSpPr/>
              <p:nvPr/>
            </p:nvSpPr>
            <p:spPr>
              <a:xfrm>
                <a:off x="945356" y="5962650"/>
                <a:ext cx="47625" cy="9525"/>
              </a:xfrm>
              <a:custGeom>
                <a:avLst/>
                <a:gdLst/>
                <a:ahLst/>
                <a:cxnLst/>
                <a:rect l="l" t="t" r="r" b="b"/>
                <a:pathLst>
                  <a:path w="47625" h="9525">
                    <a:moveTo>
                      <a:pt x="0" y="0"/>
                    </a:moveTo>
                    <a:lnTo>
                      <a:pt x="47625" y="0"/>
                    </a:lnTo>
                  </a:path>
                </a:pathLst>
              </a:custGeom>
              <a:noFill/>
              <a:ln w="23812">
                <a:solidFill>
                  <a:schemeClr val="accent1"/>
                </a:solidFill>
              </a:ln>
            </p:spPr>
            <p:txBody>
              <a:bodyPr/>
              <a:lstStyle/>
              <a:p>
                <a:endParaRPr lang="en-US"/>
              </a:p>
            </p:txBody>
          </p:sp>
          <p:sp>
            <p:nvSpPr>
              <p:cNvPr id="46" name="Freeform 46"/>
              <p:cNvSpPr/>
              <p:nvPr/>
            </p:nvSpPr>
            <p:spPr>
              <a:xfrm>
                <a:off x="991801" y="5818525"/>
                <a:ext cx="97610" cy="193000"/>
              </a:xfrm>
              <a:custGeom>
                <a:avLst/>
                <a:gdLst/>
                <a:ahLst/>
                <a:cxnLst/>
                <a:rect l="l" t="t" r="r" b="b"/>
                <a:pathLst>
                  <a:path w="97610" h="193000">
                    <a:moveTo>
                      <a:pt x="10741" y="7918"/>
                    </a:moveTo>
                    <a:lnTo>
                      <a:pt x="36744" y="1607"/>
                    </a:lnTo>
                    <a:cubicBezTo>
                      <a:pt x="43435" y="0"/>
                      <a:pt x="50234" y="3870"/>
                      <a:pt x="52008" y="10323"/>
                    </a:cubicBezTo>
                    <a:lnTo>
                      <a:pt x="96001" y="170081"/>
                    </a:lnTo>
                    <a:cubicBezTo>
                      <a:pt x="97610" y="176142"/>
                      <a:pt x="94339" y="182431"/>
                      <a:pt x="88453" y="184594"/>
                    </a:cubicBezTo>
                    <a:lnTo>
                      <a:pt x="86869" y="185083"/>
                    </a:lnTo>
                    <a:lnTo>
                      <a:pt x="60866" y="191393"/>
                    </a:lnTo>
                    <a:cubicBezTo>
                      <a:pt x="54175" y="193000"/>
                      <a:pt x="47376" y="189131"/>
                      <a:pt x="45602" y="182678"/>
                    </a:cubicBezTo>
                    <a:lnTo>
                      <a:pt x="1608" y="22920"/>
                    </a:lnTo>
                    <a:cubicBezTo>
                      <a:pt x="0" y="16858"/>
                      <a:pt x="3271" y="10569"/>
                      <a:pt x="9157" y="8406"/>
                    </a:cubicBezTo>
                    <a:lnTo>
                      <a:pt x="10741" y="7918"/>
                    </a:lnTo>
                  </a:path>
                </a:pathLst>
              </a:custGeom>
              <a:noFill/>
              <a:ln w="23812">
                <a:solidFill>
                  <a:schemeClr val="accent1"/>
                </a:solidFill>
              </a:ln>
            </p:spPr>
            <p:txBody>
              <a:bodyPr/>
              <a:lstStyle/>
              <a:p>
                <a:endParaRPr lang="en-US"/>
              </a:p>
            </p:txBody>
          </p:sp>
          <p:sp>
            <p:nvSpPr>
              <p:cNvPr id="47" name="Freeform 47"/>
              <p:cNvSpPr/>
              <p:nvPr/>
            </p:nvSpPr>
            <p:spPr>
              <a:xfrm>
                <a:off x="1004888" y="5867400"/>
                <a:ext cx="47625" cy="11906"/>
              </a:xfrm>
              <a:custGeom>
                <a:avLst/>
                <a:gdLst/>
                <a:ahLst/>
                <a:cxnLst/>
                <a:rect l="l" t="t" r="r" b="b"/>
                <a:pathLst>
                  <a:path w="47625" h="11906">
                    <a:moveTo>
                      <a:pt x="0" y="11906"/>
                    </a:moveTo>
                    <a:lnTo>
                      <a:pt x="47625" y="0"/>
                    </a:lnTo>
                  </a:path>
                </a:pathLst>
              </a:custGeom>
              <a:noFill/>
              <a:ln w="23812">
                <a:solidFill>
                  <a:schemeClr val="accent1"/>
                </a:solidFill>
              </a:ln>
            </p:spPr>
            <p:txBody>
              <a:bodyPr/>
              <a:lstStyle/>
              <a:p>
                <a:endParaRPr lang="en-US"/>
              </a:p>
            </p:txBody>
          </p:sp>
          <p:sp>
            <p:nvSpPr>
              <p:cNvPr id="48" name="Freeform 48"/>
              <p:cNvSpPr/>
              <p:nvPr/>
            </p:nvSpPr>
            <p:spPr>
              <a:xfrm>
                <a:off x="1028700" y="5950982"/>
                <a:ext cx="46708" cy="11668"/>
              </a:xfrm>
              <a:custGeom>
                <a:avLst/>
                <a:gdLst/>
                <a:ahLst/>
                <a:cxnLst/>
                <a:rect l="l" t="t" r="r" b="b"/>
                <a:pathLst>
                  <a:path w="46708" h="11668">
                    <a:moveTo>
                      <a:pt x="0" y="11668"/>
                    </a:moveTo>
                    <a:lnTo>
                      <a:pt x="46708" y="0"/>
                    </a:lnTo>
                  </a:path>
                </a:pathLst>
              </a:custGeom>
              <a:noFill/>
              <a:ln w="23812">
                <a:solidFill>
                  <a:schemeClr val="accent1"/>
                </a:solidFill>
              </a:ln>
            </p:spPr>
            <p:txBody>
              <a:bodyPr/>
              <a:lstStyle/>
              <a:p>
                <a:endParaRPr lang="en-US"/>
              </a:p>
            </p:txBody>
          </p:sp>
        </p:grpSp>
        <p:sp>
          <p:nvSpPr>
            <p:cNvPr id="50" name="TextBox 50"/>
            <p:cNvSpPr txBox="1"/>
            <p:nvPr/>
          </p:nvSpPr>
          <p:spPr>
            <a:xfrm>
              <a:off x="1245870" y="5721350"/>
              <a:ext cx="5034099"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Lee et al. (2021): no national link</a:t>
              </a:r>
            </a:p>
          </p:txBody>
        </p:sp>
        <p:grpSp>
          <p:nvGrpSpPr>
            <p:cNvPr id="55" name="Group 55"/>
            <p:cNvGrpSpPr/>
            <p:nvPr/>
          </p:nvGrpSpPr>
          <p:grpSpPr>
            <a:xfrm>
              <a:off x="873919" y="6188869"/>
              <a:ext cx="214313" cy="214313"/>
              <a:chOff x="873919" y="6188869"/>
              <a:chExt cx="214313" cy="214313"/>
            </a:xfrm>
          </p:grpSpPr>
          <p:sp>
            <p:nvSpPr>
              <p:cNvPr id="51" name="Freeform 51"/>
              <p:cNvSpPr/>
              <p:nvPr/>
            </p:nvSpPr>
            <p:spPr>
              <a:xfrm>
                <a:off x="873919" y="6188869"/>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23812">
                <a:solidFill>
                  <a:schemeClr val="accent1"/>
                </a:solidFill>
              </a:ln>
            </p:spPr>
            <p:txBody>
              <a:bodyPr/>
              <a:lstStyle/>
              <a:p>
                <a:endParaRPr lang="en-US"/>
              </a:p>
            </p:txBody>
          </p:sp>
          <p:sp>
            <p:nvSpPr>
              <p:cNvPr id="52" name="Freeform 52"/>
              <p:cNvSpPr/>
              <p:nvPr/>
            </p:nvSpPr>
            <p:spPr>
              <a:xfrm>
                <a:off x="1016794" y="6331744"/>
                <a:ext cx="71438" cy="71438"/>
              </a:xfrm>
              <a:custGeom>
                <a:avLst/>
                <a:gdLst/>
                <a:ahLst/>
                <a:cxnLst/>
                <a:rect l="l" t="t" r="r" b="b"/>
                <a:pathLst>
                  <a:path w="71438" h="71438">
                    <a:moveTo>
                      <a:pt x="71438" y="71438"/>
                    </a:moveTo>
                    <a:lnTo>
                      <a:pt x="0" y="0"/>
                    </a:lnTo>
                  </a:path>
                </a:pathLst>
              </a:custGeom>
              <a:noFill/>
              <a:ln w="23812">
                <a:solidFill>
                  <a:schemeClr val="accent1"/>
                </a:solidFill>
              </a:ln>
            </p:spPr>
            <p:txBody>
              <a:bodyPr/>
              <a:lstStyle/>
              <a:p>
                <a:endParaRPr lang="en-US"/>
              </a:p>
            </p:txBody>
          </p:sp>
          <p:sp>
            <p:nvSpPr>
              <p:cNvPr id="53" name="Freeform 53"/>
              <p:cNvSpPr/>
              <p:nvPr/>
            </p:nvSpPr>
            <p:spPr>
              <a:xfrm>
                <a:off x="957262" y="6307931"/>
                <a:ext cx="9525" cy="9525"/>
              </a:xfrm>
              <a:custGeom>
                <a:avLst/>
                <a:gdLst/>
                <a:ahLst/>
                <a:cxnLst/>
                <a:rect l="l" t="t" r="r" b="b"/>
                <a:pathLst>
                  <a:path w="9525" h="9525">
                    <a:moveTo>
                      <a:pt x="0" y="0"/>
                    </a:moveTo>
                    <a:lnTo>
                      <a:pt x="0" y="119"/>
                    </a:lnTo>
                  </a:path>
                </a:pathLst>
              </a:custGeom>
              <a:noFill/>
              <a:ln w="23812">
                <a:solidFill>
                  <a:schemeClr val="accent1"/>
                </a:solidFill>
              </a:ln>
            </p:spPr>
            <p:txBody>
              <a:bodyPr/>
              <a:lstStyle/>
              <a:p>
                <a:endParaRPr lang="en-US"/>
              </a:p>
            </p:txBody>
          </p:sp>
          <p:sp>
            <p:nvSpPr>
              <p:cNvPr id="54" name="Freeform 54"/>
              <p:cNvSpPr/>
              <p:nvPr/>
            </p:nvSpPr>
            <p:spPr>
              <a:xfrm>
                <a:off x="943689" y="6234691"/>
                <a:ext cx="32877" cy="37526"/>
              </a:xfrm>
              <a:custGeom>
                <a:avLst/>
                <a:gdLst/>
                <a:ahLst/>
                <a:cxnLst/>
                <a:rect l="l" t="t" r="r" b="b"/>
                <a:pathLst>
                  <a:path w="32877" h="37526">
                    <a:moveTo>
                      <a:pt x="13573" y="37522"/>
                    </a:moveTo>
                    <a:cubicBezTo>
                      <a:pt x="21832" y="37526"/>
                      <a:pt x="29017" y="31867"/>
                      <a:pt x="30947" y="23836"/>
                    </a:cubicBezTo>
                    <a:cubicBezTo>
                      <a:pt x="32877" y="15806"/>
                      <a:pt x="29050" y="7500"/>
                      <a:pt x="21691" y="3750"/>
                    </a:cubicBezTo>
                    <a:cubicBezTo>
                      <a:pt x="14333" y="0"/>
                      <a:pt x="5363" y="1785"/>
                      <a:pt x="0" y="8066"/>
                    </a:cubicBezTo>
                  </a:path>
                </a:pathLst>
              </a:custGeom>
              <a:noFill/>
              <a:ln w="23812">
                <a:solidFill>
                  <a:schemeClr val="accent1"/>
                </a:solidFill>
              </a:ln>
            </p:spPr>
            <p:txBody>
              <a:bodyPr/>
              <a:lstStyle/>
              <a:p>
                <a:endParaRPr lang="en-US"/>
              </a:p>
            </p:txBody>
          </p:sp>
        </p:grpSp>
        <p:sp>
          <p:nvSpPr>
            <p:cNvPr id="56" name="TextBox 56"/>
            <p:cNvSpPr txBox="1"/>
            <p:nvPr/>
          </p:nvSpPr>
          <p:spPr>
            <a:xfrm>
              <a:off x="1245870" y="6102350"/>
              <a:ext cx="6575401"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Nobody had checked each country separately</a:t>
              </a:r>
            </a:p>
          </p:txBody>
        </p:sp>
      </p:grpSp>
      <p:grpSp>
        <p:nvGrpSpPr>
          <p:cNvPr id="61" name="radar-mark"/>
          <p:cNvGrpSpPr/>
          <p:nvPr/>
        </p:nvGrpSpPr>
        <p:grpSpPr>
          <a:xfrm>
            <a:off x="11430000" y="6096000"/>
            <a:ext cx="1524000" cy="1524000"/>
            <a:chOff x="11430000" y="6096000"/>
            <a:chExt cx="1524000" cy="1524000"/>
          </a:xfrm>
        </p:grpSpPr>
        <p:sp>
          <p:nvSpPr>
            <p:cNvPr id="58" name="Freeform 58"/>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59" name="Freeform 59"/>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60" name="Freeform 60"/>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62" name="TextBox 62"/>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chemeClr val="accent2"/>
                </a:solidFill>
                <a:latin typeface="Segoe UI Semibold"/>
                <a:ea typeface="Segoe UI Semibold"/>
                <a:cs typeface="Segoe UI Semibold"/>
              </a:rPr>
              <a:t>02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700"/>
                            </p:stCondLst>
                            <p:childTnLst>
                              <p:par>
                                <p:cTn id="9" presetID="10" presetClass="entr" presetSubtype="0" fill="hold"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700"/>
                            </p:stCondLst>
                            <p:childTnLst>
                              <p:par>
                                <p:cTn id="13" presetID="22" presetClass="entr" presetSubtype="2" fill="hold" nodeType="afterEffect">
                                  <p:stCondLst>
                                    <p:cond delay="50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wipe(right)">
                                      <p:cBhvr>
                                        <p:cTn id="2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3-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3-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6293168" cy="2003425"/>
            <a:chOff x="590550" y="387350"/>
            <a:chExt cx="6293168" cy="2003425"/>
          </a:xfrm>
        </p:grpSpPr>
        <p:sp>
          <p:nvSpPr>
            <p:cNvPr id="4" name="TextBox 4"/>
            <p:cNvSpPr txBox="1"/>
            <p:nvPr/>
          </p:nvSpPr>
          <p:spPr>
            <a:xfrm>
              <a:off x="601218" y="387350"/>
              <a:ext cx="2055419"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OUR OBJECTIVE</a:t>
              </a:r>
            </a:p>
          </p:txBody>
        </p:sp>
        <p:sp>
          <p:nvSpPr>
            <p:cNvPr id="5" name="TextBox 5"/>
            <p:cNvSpPr txBox="1"/>
            <p:nvPr/>
          </p:nvSpPr>
          <p:spPr>
            <a:xfrm>
              <a:off x="590550" y="742950"/>
              <a:ext cx="6293168"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Test every market,</a:t>
              </a:r>
              <a:br>
                <a:rPr lang="en" sz="4950" dirty="0">
                  <a:solidFill>
                    <a:schemeClr val="dk1"/>
                  </a:solidFill>
                  <a:latin typeface="+mj-lt"/>
                  <a:ea typeface="+mj-ea"/>
                  <a:cs typeface="+mj-cs"/>
                </a:rPr>
              </a:br>
              <a:r>
                <a:rPr lang="en" sz="4950" dirty="0">
                  <a:solidFill>
                    <a:schemeClr val="dk1"/>
                  </a:solidFill>
                  <a:latin typeface="+mj-lt"/>
                  <a:ea typeface="+mj-ea"/>
                  <a:cs typeface="+mj-cs"/>
                </a:rPr>
                <a:t>then forecast ahead</a:t>
              </a:r>
            </a:p>
          </p:txBody>
        </p:sp>
      </p:grpSp>
      <p:grpSp>
        <p:nvGrpSpPr>
          <p:cNvPr id="12" name="aim-test"/>
          <p:cNvGrpSpPr/>
          <p:nvPr/>
        </p:nvGrpSpPr>
        <p:grpSpPr>
          <a:xfrm>
            <a:off x="661987" y="2622550"/>
            <a:ext cx="3485389" cy="995553"/>
            <a:chOff x="661987" y="2622550"/>
            <a:chExt cx="3485389" cy="995553"/>
          </a:xfrm>
        </p:grpSpPr>
        <p:grpSp>
          <p:nvGrpSpPr>
            <p:cNvPr id="10" name="Group 10"/>
            <p:cNvGrpSpPr/>
            <p:nvPr/>
          </p:nvGrpSpPr>
          <p:grpSpPr>
            <a:xfrm>
              <a:off x="661987" y="2738437"/>
              <a:ext cx="314324" cy="314324"/>
              <a:chOff x="661987" y="2738437"/>
              <a:chExt cx="314324" cy="314324"/>
            </a:xfrm>
          </p:grpSpPr>
          <p:sp>
            <p:nvSpPr>
              <p:cNvPr id="7" name="Freeform 7"/>
              <p:cNvSpPr/>
              <p:nvPr/>
            </p:nvSpPr>
            <p:spPr>
              <a:xfrm>
                <a:off x="801687" y="2878137"/>
                <a:ext cx="34925" cy="34925"/>
              </a:xfrm>
              <a:custGeom>
                <a:avLst/>
                <a:gdLst/>
                <a:ahLst/>
                <a:cxnLst/>
                <a:rect l="l" t="t" r="r" b="b"/>
                <a:pathLst>
                  <a:path w="34925" h="34925">
                    <a:moveTo>
                      <a:pt x="0" y="17462"/>
                    </a:moveTo>
                    <a:cubicBezTo>
                      <a:pt x="0" y="27107"/>
                      <a:pt x="7818" y="34925"/>
                      <a:pt x="17462" y="34925"/>
                    </a:cubicBezTo>
                    <a:cubicBezTo>
                      <a:pt x="27107" y="34925"/>
                      <a:pt x="34925" y="27107"/>
                      <a:pt x="34925" y="17462"/>
                    </a:cubicBezTo>
                    <a:cubicBezTo>
                      <a:pt x="34925" y="7818"/>
                      <a:pt x="27107" y="0"/>
                      <a:pt x="17462" y="0"/>
                    </a:cubicBezTo>
                    <a:cubicBezTo>
                      <a:pt x="7818" y="0"/>
                      <a:pt x="0" y="7818"/>
                      <a:pt x="0" y="17462"/>
                    </a:cubicBezTo>
                  </a:path>
                </a:pathLst>
              </a:custGeom>
              <a:noFill/>
              <a:ln w="34925">
                <a:solidFill>
                  <a:schemeClr val="accent3"/>
                </a:solidFill>
              </a:ln>
            </p:spPr>
            <p:txBody>
              <a:bodyPr/>
              <a:lstStyle/>
              <a:p>
                <a:endParaRPr lang="en-US"/>
              </a:p>
            </p:txBody>
          </p:sp>
          <p:sp>
            <p:nvSpPr>
              <p:cNvPr id="8" name="Freeform 8"/>
              <p:cNvSpPr/>
              <p:nvPr/>
            </p:nvSpPr>
            <p:spPr>
              <a:xfrm>
                <a:off x="731837" y="2808287"/>
                <a:ext cx="174625" cy="174625"/>
              </a:xfrm>
              <a:custGeom>
                <a:avLst/>
                <a:gdLst/>
                <a:ahLst/>
                <a:cxnLst/>
                <a:rect l="l" t="t" r="r" b="b"/>
                <a:pathLst>
                  <a:path w="174625" h="174625">
                    <a:moveTo>
                      <a:pt x="0" y="87312"/>
                    </a:moveTo>
                    <a:cubicBezTo>
                      <a:pt x="0" y="135534"/>
                      <a:pt x="39091" y="174625"/>
                      <a:pt x="87312" y="174625"/>
                    </a:cubicBezTo>
                    <a:cubicBezTo>
                      <a:pt x="135534" y="174625"/>
                      <a:pt x="174625" y="135534"/>
                      <a:pt x="174625" y="87312"/>
                    </a:cubicBezTo>
                    <a:cubicBezTo>
                      <a:pt x="174625" y="39091"/>
                      <a:pt x="135534" y="0"/>
                      <a:pt x="87312" y="0"/>
                    </a:cubicBezTo>
                    <a:cubicBezTo>
                      <a:pt x="39091" y="0"/>
                      <a:pt x="0" y="39091"/>
                      <a:pt x="0" y="87312"/>
                    </a:cubicBezTo>
                  </a:path>
                </a:pathLst>
              </a:custGeom>
              <a:noFill/>
              <a:ln w="34925">
                <a:solidFill>
                  <a:schemeClr val="accent3"/>
                </a:solidFill>
              </a:ln>
            </p:spPr>
            <p:txBody>
              <a:bodyPr/>
              <a:lstStyle/>
              <a:p>
                <a:endParaRPr lang="en-US"/>
              </a:p>
            </p:txBody>
          </p:sp>
          <p:sp>
            <p:nvSpPr>
              <p:cNvPr id="9" name="Freeform 9"/>
              <p:cNvSpPr/>
              <p:nvPr/>
            </p:nvSpPr>
            <p:spPr>
              <a:xfrm>
                <a:off x="661987" y="2738437"/>
                <a:ext cx="314324" cy="314324"/>
              </a:xfrm>
              <a:custGeom>
                <a:avLst/>
                <a:gdLst/>
                <a:ahLst/>
                <a:cxnLst/>
                <a:rect l="l" t="t" r="r" b="b"/>
                <a:pathLst>
                  <a:path w="314324" h="314324">
                    <a:moveTo>
                      <a:pt x="0" y="157162"/>
                    </a:moveTo>
                    <a:cubicBezTo>
                      <a:pt x="0" y="243961"/>
                      <a:pt x="70364" y="314324"/>
                      <a:pt x="157162" y="314324"/>
                    </a:cubicBezTo>
                    <a:cubicBezTo>
                      <a:pt x="243961" y="314324"/>
                      <a:pt x="314324" y="243961"/>
                      <a:pt x="314324" y="157162"/>
                    </a:cubicBezTo>
                    <a:cubicBezTo>
                      <a:pt x="314324" y="70364"/>
                      <a:pt x="243961" y="0"/>
                      <a:pt x="157162" y="0"/>
                    </a:cubicBezTo>
                    <a:cubicBezTo>
                      <a:pt x="70364" y="0"/>
                      <a:pt x="0" y="70364"/>
                      <a:pt x="0" y="157162"/>
                    </a:cubicBezTo>
                  </a:path>
                </a:pathLst>
              </a:custGeom>
              <a:noFill/>
              <a:ln w="34925">
                <a:solidFill>
                  <a:schemeClr val="accent3"/>
                </a:solidFill>
              </a:ln>
            </p:spPr>
            <p:txBody>
              <a:bodyPr/>
              <a:lstStyle/>
              <a:p>
                <a:endParaRPr lang="en-US"/>
              </a:p>
            </p:txBody>
          </p:sp>
        </p:grpSp>
        <p:sp>
          <p:nvSpPr>
            <p:cNvPr id="11" name="TextBox 11"/>
            <p:cNvSpPr txBox="1"/>
            <p:nvPr/>
          </p:nvSpPr>
          <p:spPr>
            <a:xfrm>
              <a:off x="1204722" y="2622550"/>
              <a:ext cx="2942654" cy="995553"/>
            </a:xfrm>
            <a:prstGeom prst="rect">
              <a:avLst/>
            </a:prstGeom>
            <a:noFill/>
            <a:ln>
              <a:noFill/>
            </a:ln>
          </p:spPr>
          <p:txBody>
            <a:bodyPr wrap="none" lIns="0" tIns="0" rIns="0" bIns="0" anchor="t" anchorCtr="0">
              <a:spAutoFit/>
            </a:bodyPr>
            <a:lstStyle/>
            <a:p>
              <a:pPr algn="l">
                <a:lnSpc>
                  <a:spcPts val="3450"/>
                </a:lnSpc>
              </a:pPr>
              <a:r>
                <a:rPr lang="en" sz="2850" dirty="0">
                  <a:solidFill>
                    <a:schemeClr val="dk1"/>
                  </a:solidFill>
                  <a:latin typeface="+mn-lt"/>
                  <a:ea typeface="+mn-ea"/>
                  <a:cs typeface="+mn-cs"/>
                </a:rPr>
                <a:t>Test each of our</a:t>
              </a:r>
              <a:br>
                <a:rPr lang="en" sz="2850" dirty="0">
                  <a:solidFill>
                    <a:schemeClr val="dk1"/>
                  </a:solidFill>
                  <a:latin typeface="+mn-lt"/>
                  <a:ea typeface="+mn-ea"/>
                  <a:cs typeface="+mn-cs"/>
                </a:rPr>
              </a:br>
              <a:r>
                <a:rPr lang="en" sz="2850" dirty="0">
                  <a:solidFill>
                    <a:schemeClr val="dk1"/>
                  </a:solidFill>
                  <a:latin typeface="+mn-lt"/>
                  <a:ea typeface="+mn-ea"/>
                  <a:cs typeface="+mn-cs"/>
                </a:rPr>
                <a:t>top 20 markets</a:t>
              </a:r>
            </a:p>
          </p:txBody>
        </p:sp>
      </p:grpSp>
      <p:grpSp>
        <p:nvGrpSpPr>
          <p:cNvPr id="17" name="aim-forecast"/>
          <p:cNvGrpSpPr/>
          <p:nvPr/>
        </p:nvGrpSpPr>
        <p:grpSpPr>
          <a:xfrm>
            <a:off x="6165850" y="2622550"/>
            <a:ext cx="3666998" cy="995553"/>
            <a:chOff x="6165850" y="2622550"/>
            <a:chExt cx="3666998" cy="995553"/>
          </a:xfrm>
        </p:grpSpPr>
        <p:grpSp>
          <p:nvGrpSpPr>
            <p:cNvPr id="15" name="Group 15"/>
            <p:cNvGrpSpPr/>
            <p:nvPr/>
          </p:nvGrpSpPr>
          <p:grpSpPr>
            <a:xfrm>
              <a:off x="6165850" y="2790825"/>
              <a:ext cx="279399" cy="236537"/>
              <a:chOff x="6165850" y="2790825"/>
              <a:chExt cx="279399" cy="236537"/>
            </a:xfrm>
          </p:grpSpPr>
          <p:sp>
            <p:nvSpPr>
              <p:cNvPr id="13" name="Freeform 13"/>
              <p:cNvSpPr/>
              <p:nvPr/>
            </p:nvSpPr>
            <p:spPr>
              <a:xfrm>
                <a:off x="6165850" y="3017837"/>
                <a:ext cx="279399" cy="9525"/>
              </a:xfrm>
              <a:custGeom>
                <a:avLst/>
                <a:gdLst/>
                <a:ahLst/>
                <a:cxnLst/>
                <a:rect l="l" t="t" r="r" b="b"/>
                <a:pathLst>
                  <a:path w="279399" h="9525">
                    <a:moveTo>
                      <a:pt x="0" y="0"/>
                    </a:moveTo>
                    <a:lnTo>
                      <a:pt x="279399" y="0"/>
                    </a:lnTo>
                  </a:path>
                </a:pathLst>
              </a:custGeom>
              <a:noFill/>
              <a:ln w="34925">
                <a:solidFill>
                  <a:schemeClr val="accent3"/>
                </a:solidFill>
              </a:ln>
            </p:spPr>
            <p:txBody>
              <a:bodyPr/>
              <a:lstStyle/>
              <a:p>
                <a:endParaRPr lang="en-US"/>
              </a:p>
            </p:txBody>
          </p:sp>
          <p:sp>
            <p:nvSpPr>
              <p:cNvPr id="14" name="Freeform 14"/>
              <p:cNvSpPr/>
              <p:nvPr/>
            </p:nvSpPr>
            <p:spPr>
              <a:xfrm>
                <a:off x="6165850" y="2790825"/>
                <a:ext cx="279399" cy="157162"/>
              </a:xfrm>
              <a:custGeom>
                <a:avLst/>
                <a:gdLst/>
                <a:ahLst/>
                <a:cxnLst/>
                <a:rect l="l" t="t" r="r" b="b"/>
                <a:pathLst>
                  <a:path w="279399" h="157162">
                    <a:moveTo>
                      <a:pt x="0" y="157162"/>
                    </a:moveTo>
                    <a:lnTo>
                      <a:pt x="69850" y="52387"/>
                    </a:lnTo>
                    <a:lnTo>
                      <a:pt x="139700" y="87312"/>
                    </a:lnTo>
                    <a:lnTo>
                      <a:pt x="209550" y="0"/>
                    </a:lnTo>
                    <a:lnTo>
                      <a:pt x="279399" y="69850"/>
                    </a:lnTo>
                  </a:path>
                </a:pathLst>
              </a:custGeom>
              <a:noFill/>
              <a:ln w="34925">
                <a:solidFill>
                  <a:schemeClr val="accent3"/>
                </a:solidFill>
              </a:ln>
            </p:spPr>
            <p:txBody>
              <a:bodyPr/>
              <a:lstStyle/>
              <a:p>
                <a:endParaRPr lang="en-US"/>
              </a:p>
            </p:txBody>
          </p:sp>
        </p:grpSp>
        <p:sp>
          <p:nvSpPr>
            <p:cNvPr id="16" name="TextBox 16"/>
            <p:cNvSpPr txBox="1"/>
            <p:nvPr/>
          </p:nvSpPr>
          <p:spPr>
            <a:xfrm>
              <a:off x="6691122" y="2622550"/>
              <a:ext cx="3141726" cy="995553"/>
            </a:xfrm>
            <a:prstGeom prst="rect">
              <a:avLst/>
            </a:prstGeom>
            <a:noFill/>
            <a:ln>
              <a:noFill/>
            </a:ln>
          </p:spPr>
          <p:txBody>
            <a:bodyPr wrap="none" lIns="0" tIns="0" rIns="0" bIns="0" anchor="t" anchorCtr="0">
              <a:spAutoFit/>
            </a:bodyPr>
            <a:lstStyle/>
            <a:p>
              <a:pPr algn="l">
                <a:lnSpc>
                  <a:spcPts val="3450"/>
                </a:lnSpc>
              </a:pPr>
              <a:r>
                <a:rPr lang="en" sz="2850" dirty="0">
                  <a:solidFill>
                    <a:schemeClr val="dk1"/>
                  </a:solidFill>
                  <a:latin typeface="+mn-lt"/>
                  <a:ea typeface="+mn-ea"/>
                  <a:cs typeface="+mn-cs"/>
                </a:rPr>
                <a:t>Forecast arrivals</a:t>
              </a:r>
              <a:br>
                <a:rPr lang="en" sz="2850" dirty="0">
                  <a:solidFill>
                    <a:schemeClr val="dk1"/>
                  </a:solidFill>
                  <a:latin typeface="+mn-lt"/>
                  <a:ea typeface="+mn-ea"/>
                  <a:cs typeface="+mn-cs"/>
                </a:rPr>
              </a:br>
              <a:r>
                <a:rPr lang="en" sz="2850" dirty="0">
                  <a:solidFill>
                    <a:schemeClr val="dk1"/>
                  </a:solidFill>
                  <a:latin typeface="+mn-lt"/>
                  <a:ea typeface="+mn-ea"/>
                  <a:cs typeface="+mn-cs"/>
                </a:rPr>
                <a:t>1–4 months ahead</a:t>
              </a:r>
            </a:p>
          </p:txBody>
        </p:sp>
      </p:grpSp>
      <p:sp>
        <p:nvSpPr>
          <p:cNvPr id="18" name="p03-question-card"/>
          <p:cNvSpPr/>
          <p:nvPr/>
        </p:nvSpPr>
        <p:spPr>
          <a:xfrm>
            <a:off x="609600" y="3924300"/>
            <a:ext cx="10972800" cy="2247900"/>
          </a:xfrm>
          <a:prstGeom prst="roundRect">
            <a:avLst>
              <a:gd name="adj" fmla="val 3390"/>
            </a:avLst>
          </a:prstGeom>
          <a:solidFill>
            <a:schemeClr val="lt2"/>
          </a:solidFill>
          <a:ln w="9525">
            <a:solidFill>
              <a:schemeClr val="accent6"/>
            </a:solidFill>
          </a:ln>
        </p:spPr>
        <p:txBody>
          <a:bodyPr/>
          <a:lstStyle/>
          <a:p>
            <a:endParaRPr lang="en-US"/>
          </a:p>
        </p:txBody>
      </p:sp>
      <p:grpSp>
        <p:nvGrpSpPr>
          <p:cNvPr id="20" name="question"/>
          <p:cNvGrpSpPr/>
          <p:nvPr/>
        </p:nvGrpSpPr>
        <p:grpSpPr>
          <a:xfrm>
            <a:off x="895350" y="4159250"/>
            <a:ext cx="10211562" cy="762000"/>
            <a:chOff x="895350" y="4159250"/>
            <a:chExt cx="10211562" cy="762000"/>
          </a:xfrm>
        </p:grpSpPr>
        <p:sp>
          <p:nvSpPr>
            <p:cNvPr id="19" name="TextBox 19"/>
            <p:cNvSpPr txBox="1"/>
            <p:nvPr/>
          </p:nvSpPr>
          <p:spPr>
            <a:xfrm>
              <a:off x="895350" y="4159250"/>
              <a:ext cx="10211562"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When risk goes up, do tourists come…</a:t>
              </a:r>
            </a:p>
          </p:txBody>
        </p:sp>
      </p:grpSp>
      <p:grpSp>
        <p:nvGrpSpPr>
          <p:cNvPr id="23" name="badge-a"/>
          <p:cNvGrpSpPr/>
          <p:nvPr/>
        </p:nvGrpSpPr>
        <p:grpSpPr>
          <a:xfrm>
            <a:off x="914400" y="5200650"/>
            <a:ext cx="571500" cy="571500"/>
            <a:chOff x="914400" y="5200650"/>
            <a:chExt cx="571500" cy="571500"/>
          </a:xfrm>
        </p:grpSpPr>
        <p:sp>
          <p:nvSpPr>
            <p:cNvPr id="21" name="Ellipse 21"/>
            <p:cNvSpPr/>
            <p:nvPr/>
          </p:nvSpPr>
          <p:spPr>
            <a:xfrm>
              <a:off x="914400" y="5200650"/>
              <a:ext cx="571500" cy="571500"/>
            </a:xfrm>
            <a:prstGeom prst="ellipse">
              <a:avLst/>
            </a:prstGeom>
            <a:solidFill>
              <a:schemeClr val="accent1"/>
            </a:solidFill>
            <a:ln>
              <a:noFill/>
            </a:ln>
          </p:spPr>
          <p:txBody>
            <a:bodyPr/>
            <a:lstStyle/>
            <a:p>
              <a:endParaRPr lang="en-US"/>
            </a:p>
          </p:txBody>
        </p:sp>
        <p:sp>
          <p:nvSpPr>
            <p:cNvPr id="22" name="TextBox 22"/>
            <p:cNvSpPr txBox="1"/>
            <p:nvPr/>
          </p:nvSpPr>
          <p:spPr>
            <a:xfrm>
              <a:off x="1100709" y="5311775"/>
              <a:ext cx="198882" cy="440055"/>
            </a:xfrm>
            <a:prstGeom prst="rect">
              <a:avLst/>
            </a:prstGeom>
            <a:noFill/>
            <a:ln>
              <a:noFill/>
            </a:ln>
          </p:spPr>
          <p:txBody>
            <a:bodyPr wrap="none" lIns="0" tIns="0" rIns="0" bIns="0" anchor="t" anchorCtr="0">
              <a:spAutoFit/>
            </a:bodyPr>
            <a:lstStyle/>
            <a:p>
              <a:pPr algn="ctr"/>
              <a:r>
                <a:rPr lang="en" sz="2250" dirty="0">
                  <a:solidFill>
                    <a:srgbClr val="F5F7FB"/>
                  </a:solidFill>
                  <a:latin typeface="Segoe UI Semibold"/>
                  <a:ea typeface="Segoe UI Semibold"/>
                  <a:cs typeface="Segoe UI Semibold"/>
                </a:rPr>
                <a:t>A</a:t>
              </a:r>
            </a:p>
          </p:txBody>
        </p:sp>
      </p:grpSp>
      <p:grpSp>
        <p:nvGrpSpPr>
          <p:cNvPr id="26" name="option-a"/>
          <p:cNvGrpSpPr/>
          <p:nvPr/>
        </p:nvGrpSpPr>
        <p:grpSpPr>
          <a:xfrm>
            <a:off x="1619250" y="5219700"/>
            <a:ext cx="1600200" cy="605028"/>
            <a:chOff x="1619250" y="5219700"/>
            <a:chExt cx="1600200" cy="605028"/>
          </a:xfrm>
        </p:grpSpPr>
        <p:sp>
          <p:nvSpPr>
            <p:cNvPr id="24" name="Rectangle 24"/>
            <p:cNvSpPr/>
            <p:nvPr/>
          </p:nvSpPr>
          <p:spPr>
            <a:xfrm>
              <a:off x="1619250" y="5219700"/>
              <a:ext cx="1600200" cy="533400"/>
            </a:xfrm>
            <a:prstGeom prst="roundRect">
              <a:avLst>
                <a:gd name="adj" fmla="val 50000"/>
              </a:avLst>
            </a:prstGeom>
            <a:solidFill>
              <a:schemeClr val="lt1"/>
            </a:solidFill>
            <a:ln w="9525">
              <a:solidFill>
                <a:schemeClr val="accent6"/>
              </a:solidFill>
            </a:ln>
          </p:spPr>
          <p:txBody>
            <a:bodyPr/>
            <a:lstStyle/>
            <a:p>
              <a:endParaRPr lang="en-US"/>
            </a:p>
          </p:txBody>
        </p:sp>
        <p:sp>
          <p:nvSpPr>
            <p:cNvPr id="25" name="TextBox 25"/>
            <p:cNvSpPr txBox="1"/>
            <p:nvPr/>
          </p:nvSpPr>
          <p:spPr>
            <a:xfrm>
              <a:off x="2030797" y="5267325"/>
              <a:ext cx="777107"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less</a:t>
              </a:r>
            </a:p>
          </p:txBody>
        </p:sp>
      </p:grpSp>
      <p:grpSp>
        <p:nvGrpSpPr>
          <p:cNvPr id="29" name="badge-b"/>
          <p:cNvGrpSpPr/>
          <p:nvPr/>
        </p:nvGrpSpPr>
        <p:grpSpPr>
          <a:xfrm>
            <a:off x="3962400" y="5200650"/>
            <a:ext cx="571500" cy="571500"/>
            <a:chOff x="3962400" y="5200650"/>
            <a:chExt cx="571500" cy="571500"/>
          </a:xfrm>
        </p:grpSpPr>
        <p:sp>
          <p:nvSpPr>
            <p:cNvPr id="27" name="Ellipse 27"/>
            <p:cNvSpPr/>
            <p:nvPr/>
          </p:nvSpPr>
          <p:spPr>
            <a:xfrm>
              <a:off x="3962400" y="5200650"/>
              <a:ext cx="571500" cy="571500"/>
            </a:xfrm>
            <a:prstGeom prst="ellipse">
              <a:avLst/>
            </a:prstGeom>
            <a:solidFill>
              <a:schemeClr val="accent1"/>
            </a:solidFill>
            <a:ln>
              <a:noFill/>
            </a:ln>
          </p:spPr>
          <p:txBody>
            <a:bodyPr/>
            <a:lstStyle/>
            <a:p>
              <a:endParaRPr lang="en-US"/>
            </a:p>
          </p:txBody>
        </p:sp>
        <p:sp>
          <p:nvSpPr>
            <p:cNvPr id="28" name="TextBox 28"/>
            <p:cNvSpPr txBox="1"/>
            <p:nvPr/>
          </p:nvSpPr>
          <p:spPr>
            <a:xfrm>
              <a:off x="4148709" y="5311775"/>
              <a:ext cx="198882" cy="440055"/>
            </a:xfrm>
            <a:prstGeom prst="rect">
              <a:avLst/>
            </a:prstGeom>
            <a:noFill/>
            <a:ln>
              <a:noFill/>
            </a:ln>
          </p:spPr>
          <p:txBody>
            <a:bodyPr wrap="none" lIns="0" tIns="0" rIns="0" bIns="0" anchor="t" anchorCtr="0">
              <a:spAutoFit/>
            </a:bodyPr>
            <a:lstStyle/>
            <a:p>
              <a:pPr algn="ctr"/>
              <a:r>
                <a:rPr lang="en" sz="2250" dirty="0">
                  <a:solidFill>
                    <a:srgbClr val="F5F7FB"/>
                  </a:solidFill>
                  <a:latin typeface="Segoe UI Semibold"/>
                  <a:ea typeface="Segoe UI Semibold"/>
                  <a:cs typeface="Segoe UI Semibold"/>
                </a:rPr>
                <a:t>B</a:t>
              </a:r>
            </a:p>
          </p:txBody>
        </p:sp>
      </p:grpSp>
      <p:grpSp>
        <p:nvGrpSpPr>
          <p:cNvPr id="32" name="option-b"/>
          <p:cNvGrpSpPr/>
          <p:nvPr/>
        </p:nvGrpSpPr>
        <p:grpSpPr>
          <a:xfrm>
            <a:off x="4667250" y="5219700"/>
            <a:ext cx="1695450" cy="605028"/>
            <a:chOff x="4667250" y="5219700"/>
            <a:chExt cx="1695450" cy="605028"/>
          </a:xfrm>
        </p:grpSpPr>
        <p:sp>
          <p:nvSpPr>
            <p:cNvPr id="30" name="Rectangle 30"/>
            <p:cNvSpPr/>
            <p:nvPr/>
          </p:nvSpPr>
          <p:spPr>
            <a:xfrm>
              <a:off x="4667250" y="5219700"/>
              <a:ext cx="1695450" cy="533400"/>
            </a:xfrm>
            <a:prstGeom prst="roundRect">
              <a:avLst>
                <a:gd name="adj" fmla="val 50000"/>
              </a:avLst>
            </a:prstGeom>
            <a:solidFill>
              <a:schemeClr val="lt1"/>
            </a:solidFill>
            <a:ln w="9525">
              <a:solidFill>
                <a:schemeClr val="accent6"/>
              </a:solidFill>
            </a:ln>
          </p:spPr>
          <p:txBody>
            <a:bodyPr/>
            <a:lstStyle/>
            <a:p>
              <a:endParaRPr lang="en-US"/>
            </a:p>
          </p:txBody>
        </p:sp>
        <p:sp>
          <p:nvSpPr>
            <p:cNvPr id="31" name="TextBox 31"/>
            <p:cNvSpPr txBox="1"/>
            <p:nvPr/>
          </p:nvSpPr>
          <p:spPr>
            <a:xfrm>
              <a:off x="5040097" y="5267325"/>
              <a:ext cx="949757"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more</a:t>
              </a:r>
            </a:p>
          </p:txBody>
        </p:sp>
      </p:grpSp>
      <p:grpSp>
        <p:nvGrpSpPr>
          <p:cNvPr id="35" name="badge-c"/>
          <p:cNvGrpSpPr/>
          <p:nvPr/>
        </p:nvGrpSpPr>
        <p:grpSpPr>
          <a:xfrm>
            <a:off x="7105650" y="5200650"/>
            <a:ext cx="571500" cy="571500"/>
            <a:chOff x="7105650" y="5200650"/>
            <a:chExt cx="571500" cy="571500"/>
          </a:xfrm>
        </p:grpSpPr>
        <p:sp>
          <p:nvSpPr>
            <p:cNvPr id="33" name="Ellipse 33"/>
            <p:cNvSpPr/>
            <p:nvPr/>
          </p:nvSpPr>
          <p:spPr>
            <a:xfrm>
              <a:off x="7105650" y="5200650"/>
              <a:ext cx="571500" cy="571500"/>
            </a:xfrm>
            <a:prstGeom prst="ellipse">
              <a:avLst/>
            </a:prstGeom>
            <a:solidFill>
              <a:schemeClr val="accent1"/>
            </a:solidFill>
            <a:ln>
              <a:noFill/>
            </a:ln>
          </p:spPr>
          <p:txBody>
            <a:bodyPr/>
            <a:lstStyle/>
            <a:p>
              <a:endParaRPr lang="en-US"/>
            </a:p>
          </p:txBody>
        </p:sp>
        <p:sp>
          <p:nvSpPr>
            <p:cNvPr id="34" name="TextBox 34"/>
            <p:cNvSpPr txBox="1"/>
            <p:nvPr/>
          </p:nvSpPr>
          <p:spPr>
            <a:xfrm>
              <a:off x="7291959" y="5311775"/>
              <a:ext cx="198882" cy="440055"/>
            </a:xfrm>
            <a:prstGeom prst="rect">
              <a:avLst/>
            </a:prstGeom>
            <a:noFill/>
            <a:ln>
              <a:noFill/>
            </a:ln>
          </p:spPr>
          <p:txBody>
            <a:bodyPr wrap="none" lIns="0" tIns="0" rIns="0" bIns="0" anchor="t" anchorCtr="0">
              <a:spAutoFit/>
            </a:bodyPr>
            <a:lstStyle/>
            <a:p>
              <a:pPr algn="ctr"/>
              <a:r>
                <a:rPr lang="en" sz="2250" dirty="0">
                  <a:solidFill>
                    <a:srgbClr val="F5F7FB"/>
                  </a:solidFill>
                  <a:latin typeface="Segoe UI Semibold"/>
                  <a:ea typeface="Segoe UI Semibold"/>
                  <a:cs typeface="Segoe UI Semibold"/>
                </a:rPr>
                <a:t>C</a:t>
              </a:r>
            </a:p>
          </p:txBody>
        </p:sp>
      </p:grpSp>
      <p:grpSp>
        <p:nvGrpSpPr>
          <p:cNvPr id="38" name="option-c"/>
          <p:cNvGrpSpPr/>
          <p:nvPr/>
        </p:nvGrpSpPr>
        <p:grpSpPr>
          <a:xfrm>
            <a:off x="7810500" y="5219700"/>
            <a:ext cx="1695450" cy="605028"/>
            <a:chOff x="7810500" y="5219700"/>
            <a:chExt cx="1695450" cy="605028"/>
          </a:xfrm>
        </p:grpSpPr>
        <p:sp>
          <p:nvSpPr>
            <p:cNvPr id="36" name="Rectangle 36"/>
            <p:cNvSpPr/>
            <p:nvPr/>
          </p:nvSpPr>
          <p:spPr>
            <a:xfrm>
              <a:off x="7810500" y="5219700"/>
              <a:ext cx="1695450" cy="533400"/>
            </a:xfrm>
            <a:prstGeom prst="roundRect">
              <a:avLst>
                <a:gd name="adj" fmla="val 50000"/>
              </a:avLst>
            </a:prstGeom>
            <a:solidFill>
              <a:schemeClr val="lt1"/>
            </a:solidFill>
            <a:ln w="9525">
              <a:solidFill>
                <a:schemeClr val="accent6"/>
              </a:solidFill>
            </a:ln>
          </p:spPr>
          <p:txBody>
            <a:bodyPr/>
            <a:lstStyle/>
            <a:p>
              <a:endParaRPr lang="en-US"/>
            </a:p>
          </p:txBody>
        </p:sp>
        <p:sp>
          <p:nvSpPr>
            <p:cNvPr id="37" name="TextBox 37"/>
            <p:cNvSpPr txBox="1"/>
            <p:nvPr/>
          </p:nvSpPr>
          <p:spPr>
            <a:xfrm>
              <a:off x="8221713" y="5267325"/>
              <a:ext cx="873023"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both</a:t>
              </a:r>
            </a:p>
          </p:txBody>
        </p:sp>
      </p:grpSp>
      <p:grpSp>
        <p:nvGrpSpPr>
          <p:cNvPr id="42" name="radar-mark"/>
          <p:cNvGrpSpPr/>
          <p:nvPr/>
        </p:nvGrpSpPr>
        <p:grpSpPr>
          <a:xfrm>
            <a:off x="11430000" y="6096000"/>
            <a:ext cx="1524000" cy="1524000"/>
            <a:chOff x="11430000" y="6096000"/>
            <a:chExt cx="1524000" cy="1524000"/>
          </a:xfrm>
        </p:grpSpPr>
        <p:sp>
          <p:nvSpPr>
            <p:cNvPr id="39" name="Freeform 39"/>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40" name="Freeform 40"/>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41" name="Freeform 41"/>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3" name="TextBox 43"/>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6" presetClass="emph" presetSubtype="0" autoRev="1" fill="hold" nodeType="clickEffect">
                                  <p:stCondLst>
                                    <p:cond delay="0"/>
                                  </p:stCondLst>
                                  <p:childTnLst>
                                    <p:animScale>
                                      <p:cBhvr>
                                        <p:cTn id="6" dur="400" fill="hold"/>
                                        <p:tgtEl>
                                          <p:spTgt spid="23"/>
                                        </p:tgtEl>
                                      </p:cBhvr>
                                      <p:by x="150000" y="150000"/>
                                      <p:to x="118000" y="118000"/>
                                    </p:animScale>
                                  </p:childTnLst>
                                </p:cTn>
                              </p:par>
                            </p:childTnLst>
                          </p:cTn>
                        </p:par>
                      </p:childTnLst>
                    </p:cTn>
                  </p:par>
                </p:childTnLst>
              </p:cTn>
              <p:nextCondLst>
                <p:cond evt="onClick" delay="0">
                  <p:tgtEl>
                    <p:spTgt spid="26"/>
                  </p:tgtEl>
                </p:cond>
              </p:nextCondLst>
            </p:seq>
            <p:seq concurrent="1" nextAc="seek">
              <p:cTn id="7" restart="whenNotActive" fill="hold" evtFilter="cancelBubble" nodeType="interactiveSeq">
                <p:stCondLst>
                  <p:cond evt="onClick" delay="0">
                    <p:tgtEl>
                      <p:spTgt spid="32"/>
                    </p:tgtEl>
                  </p:cond>
                </p:stCondLst>
                <p:endSync evt="end" delay="0">
                  <p:rtn val="all"/>
                </p:endSync>
                <p:childTnLst>
                  <p:par>
                    <p:cTn id="8" fill="hold">
                      <p:stCondLst>
                        <p:cond delay="0"/>
                      </p:stCondLst>
                      <p:childTnLst>
                        <p:par>
                          <p:cTn id="9" fill="hold">
                            <p:stCondLst>
                              <p:cond delay="0"/>
                            </p:stCondLst>
                            <p:childTnLst>
                              <p:par>
                                <p:cTn id="10" presetID="6" presetClass="emph" presetSubtype="0" autoRev="1" fill="hold" nodeType="clickEffect">
                                  <p:stCondLst>
                                    <p:cond delay="0"/>
                                  </p:stCondLst>
                                  <p:childTnLst>
                                    <p:animScale>
                                      <p:cBhvr>
                                        <p:cTn id="11" dur="400" fill="hold"/>
                                        <p:tgtEl>
                                          <p:spTgt spid="29"/>
                                        </p:tgtEl>
                                      </p:cBhvr>
                                      <p:by x="150000" y="150000"/>
                                      <p:to x="118000" y="118000"/>
                                    </p:animScale>
                                  </p:childTnLst>
                                </p:cTn>
                              </p:par>
                            </p:childTnLst>
                          </p:cTn>
                        </p:par>
                      </p:childTnLst>
                    </p:cTn>
                  </p:par>
                </p:childTnLst>
              </p:cTn>
              <p:nextCondLst>
                <p:cond evt="onClick" delay="0">
                  <p:tgtEl>
                    <p:spTgt spid="32"/>
                  </p:tgtEl>
                </p:cond>
              </p:nextCondLst>
            </p:seq>
            <p:seq concurrent="1" nextAc="seek">
              <p:cTn id="12" restart="whenNotActive" fill="hold" evtFilter="cancelBubble" nodeType="interactiveSeq">
                <p:stCondLst>
                  <p:cond evt="onClick" delay="0">
                    <p:tgtEl>
                      <p:spTgt spid="38"/>
                    </p:tgtEl>
                  </p:cond>
                </p:stCondLst>
                <p:endSync evt="end" delay="0">
                  <p:rtn val="all"/>
                </p:endSync>
                <p:childTnLst>
                  <p:par>
                    <p:cTn id="13" fill="hold">
                      <p:stCondLst>
                        <p:cond delay="0"/>
                      </p:stCondLst>
                      <p:childTnLst>
                        <p:par>
                          <p:cTn id="14" fill="hold">
                            <p:stCondLst>
                              <p:cond delay="0"/>
                            </p:stCondLst>
                            <p:childTnLst>
                              <p:par>
                                <p:cTn id="15" presetID="6" presetClass="emph" presetSubtype="0" autoRev="1" fill="hold" nodeType="clickEffect">
                                  <p:stCondLst>
                                    <p:cond delay="0"/>
                                  </p:stCondLst>
                                  <p:childTnLst>
                                    <p:animScale>
                                      <p:cBhvr>
                                        <p:cTn id="16" dur="400" fill="hold"/>
                                        <p:tgtEl>
                                          <p:spTgt spid="35"/>
                                        </p:tgtEl>
                                      </p:cBhvr>
                                      <p:by x="150000" y="150000"/>
                                      <p:to x="118000" y="118000"/>
                                    </p:animScale>
                                  </p:childTnLst>
                                </p:cTn>
                              </p:par>
                            </p:childTnLst>
                          </p:cTn>
                        </p:par>
                      </p:childTnLst>
                    </p:cTn>
                  </p:par>
                </p:childTnLst>
              </p:cTn>
              <p:nextCondLst>
                <p:cond evt="onClick" delay="0">
                  <p:tgtEl>
                    <p:spTgt spid="38"/>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4-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4-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7173278" cy="1241425"/>
            <a:chOff x="590550" y="387350"/>
            <a:chExt cx="7173278" cy="1241425"/>
          </a:xfrm>
        </p:grpSpPr>
        <p:sp>
          <p:nvSpPr>
            <p:cNvPr id="4" name="TextBox 4"/>
            <p:cNvSpPr txBox="1"/>
            <p:nvPr/>
          </p:nvSpPr>
          <p:spPr>
            <a:xfrm>
              <a:off x="601218" y="387350"/>
              <a:ext cx="1926336"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HOW WE DID IT</a:t>
              </a:r>
            </a:p>
          </p:txBody>
        </p:sp>
        <p:sp>
          <p:nvSpPr>
            <p:cNvPr id="5" name="TextBox 5"/>
            <p:cNvSpPr txBox="1"/>
            <p:nvPr/>
          </p:nvSpPr>
          <p:spPr>
            <a:xfrm>
              <a:off x="590550" y="666750"/>
              <a:ext cx="7173278"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Four steps, one rule</a:t>
              </a:r>
            </a:p>
          </p:txBody>
        </p:sp>
      </p:grpSp>
      <p:grpSp>
        <p:nvGrpSpPr>
          <p:cNvPr id="14" name="step-1"/>
          <p:cNvGrpSpPr/>
          <p:nvPr/>
        </p:nvGrpSpPr>
        <p:grpSpPr>
          <a:xfrm>
            <a:off x="548735" y="2619375"/>
            <a:ext cx="2975515" cy="2238756"/>
            <a:chOff x="548735" y="2619375"/>
            <a:chExt cx="2975515" cy="2238756"/>
          </a:xfrm>
        </p:grpSpPr>
        <p:grpSp>
          <p:nvGrpSpPr>
            <p:cNvPr id="10" name="Group 10"/>
            <p:cNvGrpSpPr/>
            <p:nvPr/>
          </p:nvGrpSpPr>
          <p:grpSpPr>
            <a:xfrm>
              <a:off x="1787525" y="2619375"/>
              <a:ext cx="254001" cy="285750"/>
              <a:chOff x="1787525" y="2619375"/>
              <a:chExt cx="254001" cy="285750"/>
            </a:xfrm>
          </p:grpSpPr>
          <p:sp>
            <p:nvSpPr>
              <p:cNvPr id="7" name="Freeform 7"/>
              <p:cNvSpPr/>
              <p:nvPr/>
            </p:nvSpPr>
            <p:spPr>
              <a:xfrm>
                <a:off x="1787525" y="2619375"/>
                <a:ext cx="254001" cy="95250"/>
              </a:xfrm>
              <a:custGeom>
                <a:avLst/>
                <a:gdLst/>
                <a:ahLst/>
                <a:cxnLst/>
                <a:rect l="l" t="t" r="r" b="b"/>
                <a:pathLst>
                  <a:path w="254001" h="95250">
                    <a:moveTo>
                      <a:pt x="0" y="47625"/>
                    </a:moveTo>
                    <a:cubicBezTo>
                      <a:pt x="0" y="73928"/>
                      <a:pt x="56860" y="95250"/>
                      <a:pt x="127000" y="95250"/>
                    </a:cubicBezTo>
                    <a:cubicBezTo>
                      <a:pt x="197141" y="95250"/>
                      <a:pt x="254001" y="73928"/>
                      <a:pt x="254001" y="47625"/>
                    </a:cubicBezTo>
                    <a:cubicBezTo>
                      <a:pt x="254001" y="21322"/>
                      <a:pt x="197141" y="0"/>
                      <a:pt x="127000" y="0"/>
                    </a:cubicBezTo>
                    <a:cubicBezTo>
                      <a:pt x="56860" y="0"/>
                      <a:pt x="0" y="21322"/>
                      <a:pt x="0" y="47625"/>
                    </a:cubicBezTo>
                  </a:path>
                </a:pathLst>
              </a:custGeom>
              <a:noFill/>
              <a:ln w="31750">
                <a:solidFill>
                  <a:schemeClr val="accent1"/>
                </a:solidFill>
              </a:ln>
            </p:spPr>
            <p:txBody>
              <a:bodyPr/>
              <a:lstStyle/>
              <a:p>
                <a:endParaRPr lang="en-US"/>
              </a:p>
            </p:txBody>
          </p:sp>
          <p:sp>
            <p:nvSpPr>
              <p:cNvPr id="8" name="Freeform 8"/>
              <p:cNvSpPr/>
              <p:nvPr/>
            </p:nvSpPr>
            <p:spPr>
              <a:xfrm>
                <a:off x="1787525" y="266700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1"/>
                </a:solidFill>
              </a:ln>
            </p:spPr>
            <p:txBody>
              <a:bodyPr/>
              <a:lstStyle/>
              <a:p>
                <a:endParaRPr lang="en-US"/>
              </a:p>
            </p:txBody>
          </p:sp>
          <p:sp>
            <p:nvSpPr>
              <p:cNvPr id="9" name="Freeform 9"/>
              <p:cNvSpPr/>
              <p:nvPr/>
            </p:nvSpPr>
            <p:spPr>
              <a:xfrm>
                <a:off x="1787525" y="276225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1"/>
                </a:solidFill>
              </a:ln>
            </p:spPr>
            <p:txBody>
              <a:bodyPr/>
              <a:lstStyle/>
              <a:p>
                <a:endParaRPr lang="en-US"/>
              </a:p>
            </p:txBody>
          </p:sp>
        </p:grpSp>
        <p:sp>
          <p:nvSpPr>
            <p:cNvPr id="11" name="Freeform 11"/>
            <p:cNvSpPr/>
            <p:nvPr/>
          </p:nvSpPr>
          <p:spPr>
            <a:xfrm>
              <a:off x="609600" y="3105150"/>
              <a:ext cx="2914650" cy="876300"/>
            </a:xfrm>
            <a:prstGeom prst="homePlate">
              <a:avLst>
                <a:gd name="adj" fmla="val 36000"/>
              </a:avLst>
            </a:prstGeom>
            <a:solidFill>
              <a:srgbClr val="E6EAF2"/>
            </a:solidFill>
            <a:ln>
              <a:noFill/>
            </a:ln>
          </p:spPr>
          <p:txBody>
            <a:bodyPr/>
            <a:lstStyle/>
            <a:p>
              <a:endParaRPr lang="en-US"/>
            </a:p>
          </p:txBody>
        </p:sp>
        <p:sp>
          <p:nvSpPr>
            <p:cNvPr id="12" name="TextBox 12"/>
            <p:cNvSpPr txBox="1"/>
            <p:nvPr/>
          </p:nvSpPr>
          <p:spPr>
            <a:xfrm>
              <a:off x="1391643" y="3387725"/>
              <a:ext cx="1045763"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Collect</a:t>
              </a:r>
            </a:p>
          </p:txBody>
        </p:sp>
        <p:sp>
          <p:nvSpPr>
            <p:cNvPr id="13" name="TextBox 13"/>
            <p:cNvSpPr txBox="1"/>
            <p:nvPr/>
          </p:nvSpPr>
          <p:spPr>
            <a:xfrm>
              <a:off x="548735" y="4171950"/>
              <a:ext cx="2731579" cy="686181"/>
            </a:xfrm>
            <a:prstGeom prst="rect">
              <a:avLst/>
            </a:prstGeom>
            <a:noFill/>
            <a:ln>
              <a:noFill/>
            </a:ln>
          </p:spPr>
          <p:txBody>
            <a:bodyPr wrap="none" lIns="0" tIns="0" rIns="0" bIns="0" anchor="t" anchorCtr="0">
              <a:spAutoFit/>
            </a:bodyPr>
            <a:lstStyle/>
            <a:p>
              <a:pPr algn="ctr">
                <a:lnSpc>
                  <a:spcPts val="2400"/>
                </a:lnSpc>
              </a:pPr>
              <a:r>
                <a:rPr lang="en" sz="1950" dirty="0">
                  <a:solidFill>
                    <a:schemeClr val="dk1"/>
                  </a:solidFill>
                  <a:latin typeface="+mn-lt"/>
                  <a:ea typeface="+mn-ea"/>
                  <a:cs typeface="+mn-cs"/>
                </a:rPr>
                <a:t>69,040 daily rows →</a:t>
              </a:r>
              <a:br>
                <a:rPr lang="en" sz="1950" dirty="0">
                  <a:solidFill>
                    <a:schemeClr val="dk1"/>
                  </a:solidFill>
                  <a:latin typeface="+mn-lt"/>
                  <a:ea typeface="+mn-ea"/>
                  <a:cs typeface="+mn-cs"/>
                </a:rPr>
              </a:br>
              <a:r>
                <a:rPr lang="en" sz="1950" dirty="0">
                  <a:solidFill>
                    <a:schemeClr val="dk1"/>
                  </a:solidFill>
                  <a:latin typeface="+mn-lt"/>
                  <a:ea typeface="+mn-ea"/>
                  <a:cs typeface="+mn-cs"/>
                </a:rPr>
                <a:t>2,300 country-months</a:t>
              </a:r>
            </a:p>
          </p:txBody>
        </p:sp>
      </p:grpSp>
      <p:grpSp>
        <p:nvGrpSpPr>
          <p:cNvPr id="25" name="step-2"/>
          <p:cNvGrpSpPr/>
          <p:nvPr/>
        </p:nvGrpSpPr>
        <p:grpSpPr>
          <a:xfrm>
            <a:off x="3286125" y="2619375"/>
            <a:ext cx="2914650" cy="2238756"/>
            <a:chOff x="3286125" y="2619375"/>
            <a:chExt cx="2914650" cy="2238756"/>
          </a:xfrm>
        </p:grpSpPr>
        <p:grpSp>
          <p:nvGrpSpPr>
            <p:cNvPr id="21" name="Group 21"/>
            <p:cNvGrpSpPr/>
            <p:nvPr/>
          </p:nvGrpSpPr>
          <p:grpSpPr>
            <a:xfrm>
              <a:off x="4600575" y="2619375"/>
              <a:ext cx="301625" cy="301625"/>
              <a:chOff x="4600575" y="2619375"/>
              <a:chExt cx="301625" cy="301625"/>
            </a:xfrm>
          </p:grpSpPr>
          <p:sp>
            <p:nvSpPr>
              <p:cNvPr id="15" name="Freeform 15"/>
              <p:cNvSpPr/>
              <p:nvPr/>
            </p:nvSpPr>
            <p:spPr>
              <a:xfrm>
                <a:off x="4600575" y="2651125"/>
                <a:ext cx="254001" cy="254001"/>
              </a:xfrm>
              <a:custGeom>
                <a:avLst/>
                <a:gdLst/>
                <a:ahLst/>
                <a:cxnLst/>
                <a:rect l="l" t="t" r="r" b="b"/>
                <a:pathLst>
                  <a:path w="254001" h="254001">
                    <a:moveTo>
                      <a:pt x="139621" y="254001"/>
                    </a:moveTo>
                    <a:lnTo>
                      <a:pt x="31750" y="254001"/>
                    </a:lnTo>
                    <a:cubicBezTo>
                      <a:pt x="14215" y="254001"/>
                      <a:pt x="0" y="239786"/>
                      <a:pt x="0" y="222250"/>
                    </a:cubicBezTo>
                    <a:lnTo>
                      <a:pt x="0" y="31750"/>
                    </a:lnTo>
                    <a:cubicBezTo>
                      <a:pt x="0" y="14215"/>
                      <a:pt x="14215" y="0"/>
                      <a:pt x="31750" y="0"/>
                    </a:cubicBezTo>
                    <a:lnTo>
                      <a:pt x="222250" y="0"/>
                    </a:lnTo>
                    <a:cubicBezTo>
                      <a:pt x="239786" y="0"/>
                      <a:pt x="254001" y="14215"/>
                      <a:pt x="254001" y="31750"/>
                    </a:cubicBezTo>
                    <a:lnTo>
                      <a:pt x="254001" y="95250"/>
                    </a:lnTo>
                  </a:path>
                </a:pathLst>
              </a:custGeom>
              <a:noFill/>
              <a:ln w="31750">
                <a:solidFill>
                  <a:schemeClr val="accent1"/>
                </a:solidFill>
              </a:ln>
            </p:spPr>
            <p:txBody>
              <a:bodyPr/>
              <a:lstStyle/>
              <a:p>
                <a:endParaRPr lang="en-US"/>
              </a:p>
            </p:txBody>
          </p:sp>
          <p:sp>
            <p:nvSpPr>
              <p:cNvPr id="16" name="Freeform 16"/>
              <p:cNvSpPr/>
              <p:nvPr/>
            </p:nvSpPr>
            <p:spPr>
              <a:xfrm>
                <a:off x="4775200" y="279400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31750">
                <a:solidFill>
                  <a:schemeClr val="accent1"/>
                </a:solidFill>
              </a:ln>
            </p:spPr>
            <p:txBody>
              <a:bodyPr/>
              <a:lstStyle/>
              <a:p>
                <a:endParaRPr lang="en-US"/>
              </a:p>
            </p:txBody>
          </p:sp>
          <p:sp>
            <p:nvSpPr>
              <p:cNvPr id="17" name="Freeform 17"/>
              <p:cNvSpPr/>
              <p:nvPr/>
            </p:nvSpPr>
            <p:spPr>
              <a:xfrm>
                <a:off x="4791075" y="2619375"/>
                <a:ext cx="9525" cy="63500"/>
              </a:xfrm>
              <a:custGeom>
                <a:avLst/>
                <a:gdLst/>
                <a:ahLst/>
                <a:cxnLst/>
                <a:rect l="l" t="t" r="r" b="b"/>
                <a:pathLst>
                  <a:path w="9525" h="63500">
                    <a:moveTo>
                      <a:pt x="0" y="0"/>
                    </a:moveTo>
                    <a:lnTo>
                      <a:pt x="0" y="63500"/>
                    </a:lnTo>
                  </a:path>
                </a:pathLst>
              </a:custGeom>
              <a:noFill/>
              <a:ln w="31750">
                <a:solidFill>
                  <a:schemeClr val="accent1"/>
                </a:solidFill>
              </a:ln>
            </p:spPr>
            <p:txBody>
              <a:bodyPr/>
              <a:lstStyle/>
              <a:p>
                <a:endParaRPr lang="en-US"/>
              </a:p>
            </p:txBody>
          </p:sp>
          <p:sp>
            <p:nvSpPr>
              <p:cNvPr id="18" name="Freeform 18"/>
              <p:cNvSpPr/>
              <p:nvPr/>
            </p:nvSpPr>
            <p:spPr>
              <a:xfrm>
                <a:off x="4664075" y="2619375"/>
                <a:ext cx="9525" cy="63500"/>
              </a:xfrm>
              <a:custGeom>
                <a:avLst/>
                <a:gdLst/>
                <a:ahLst/>
                <a:cxnLst/>
                <a:rect l="l" t="t" r="r" b="b"/>
                <a:pathLst>
                  <a:path w="9525" h="63500">
                    <a:moveTo>
                      <a:pt x="0" y="0"/>
                    </a:moveTo>
                    <a:lnTo>
                      <a:pt x="0" y="63500"/>
                    </a:lnTo>
                  </a:path>
                </a:pathLst>
              </a:custGeom>
              <a:noFill/>
              <a:ln w="31750">
                <a:solidFill>
                  <a:schemeClr val="accent1"/>
                </a:solidFill>
              </a:ln>
            </p:spPr>
            <p:txBody>
              <a:bodyPr/>
              <a:lstStyle/>
              <a:p>
                <a:endParaRPr lang="en-US"/>
              </a:p>
            </p:txBody>
          </p:sp>
          <p:sp>
            <p:nvSpPr>
              <p:cNvPr id="19" name="Freeform 19"/>
              <p:cNvSpPr/>
              <p:nvPr/>
            </p:nvSpPr>
            <p:spPr>
              <a:xfrm>
                <a:off x="4600575" y="2746375"/>
                <a:ext cx="254001" cy="9525"/>
              </a:xfrm>
              <a:custGeom>
                <a:avLst/>
                <a:gdLst/>
                <a:ahLst/>
                <a:cxnLst/>
                <a:rect l="l" t="t" r="r" b="b"/>
                <a:pathLst>
                  <a:path w="254001" h="9525">
                    <a:moveTo>
                      <a:pt x="0" y="0"/>
                    </a:moveTo>
                    <a:lnTo>
                      <a:pt x="254001" y="0"/>
                    </a:lnTo>
                  </a:path>
                </a:pathLst>
              </a:custGeom>
              <a:noFill/>
              <a:ln w="31750">
                <a:solidFill>
                  <a:schemeClr val="accent1"/>
                </a:solidFill>
              </a:ln>
            </p:spPr>
            <p:txBody>
              <a:bodyPr/>
              <a:lstStyle/>
              <a:p>
                <a:endParaRPr lang="en-US"/>
              </a:p>
            </p:txBody>
          </p:sp>
          <p:sp>
            <p:nvSpPr>
              <p:cNvPr id="20" name="Freeform 20"/>
              <p:cNvSpPr/>
              <p:nvPr/>
            </p:nvSpPr>
            <p:spPr>
              <a:xfrm>
                <a:off x="4838701" y="2833625"/>
                <a:ext cx="15875" cy="39751"/>
              </a:xfrm>
              <a:custGeom>
                <a:avLst/>
                <a:gdLst/>
                <a:ahLst/>
                <a:cxnLst/>
                <a:rect l="l" t="t" r="r" b="b"/>
                <a:pathLst>
                  <a:path w="15875" h="39751">
                    <a:moveTo>
                      <a:pt x="0" y="0"/>
                    </a:moveTo>
                    <a:lnTo>
                      <a:pt x="0" y="23876"/>
                    </a:lnTo>
                    <a:lnTo>
                      <a:pt x="15875" y="39751"/>
                    </a:lnTo>
                  </a:path>
                </a:pathLst>
              </a:custGeom>
              <a:noFill/>
              <a:ln w="31750">
                <a:solidFill>
                  <a:schemeClr val="accent1"/>
                </a:solidFill>
              </a:ln>
            </p:spPr>
            <p:txBody>
              <a:bodyPr/>
              <a:lstStyle/>
              <a:p>
                <a:endParaRPr lang="en-US"/>
              </a:p>
            </p:txBody>
          </p:sp>
        </p:grpSp>
        <p:sp>
          <p:nvSpPr>
            <p:cNvPr id="22" name="Freeform 22"/>
            <p:cNvSpPr/>
            <p:nvPr/>
          </p:nvSpPr>
          <p:spPr>
            <a:xfrm>
              <a:off x="3286125" y="3105150"/>
              <a:ext cx="2914650" cy="876300"/>
            </a:xfrm>
            <a:prstGeom prst="chevron">
              <a:avLst>
                <a:gd name="adj" fmla="val 36000"/>
              </a:avLst>
            </a:prstGeom>
            <a:solidFill>
              <a:srgbClr val="E6EAF2"/>
            </a:solidFill>
            <a:ln>
              <a:noFill/>
            </a:ln>
          </p:spPr>
          <p:txBody>
            <a:bodyPr/>
            <a:lstStyle/>
            <a:p>
              <a:endParaRPr lang="en-US"/>
            </a:p>
          </p:txBody>
        </p:sp>
        <p:sp>
          <p:nvSpPr>
            <p:cNvPr id="23" name="TextBox 23"/>
            <p:cNvSpPr txBox="1"/>
            <p:nvPr/>
          </p:nvSpPr>
          <p:spPr>
            <a:xfrm>
              <a:off x="4394121" y="3387725"/>
              <a:ext cx="698659"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Date</a:t>
              </a:r>
            </a:p>
          </p:txBody>
        </p:sp>
        <p:sp>
          <p:nvSpPr>
            <p:cNvPr id="24" name="TextBox 24"/>
            <p:cNvSpPr txBox="1"/>
            <p:nvPr/>
          </p:nvSpPr>
          <p:spPr>
            <a:xfrm>
              <a:off x="3910108" y="4171950"/>
              <a:ext cx="1666685" cy="686181"/>
            </a:xfrm>
            <a:prstGeom prst="rect">
              <a:avLst/>
            </a:prstGeom>
            <a:noFill/>
            <a:ln>
              <a:noFill/>
            </a:ln>
          </p:spPr>
          <p:txBody>
            <a:bodyPr wrap="none" lIns="0" tIns="0" rIns="0" bIns="0" anchor="t" anchorCtr="0">
              <a:spAutoFit/>
            </a:bodyPr>
            <a:lstStyle/>
            <a:p>
              <a:pPr algn="ctr">
                <a:lnSpc>
                  <a:spcPts val="2400"/>
                </a:lnSpc>
              </a:pPr>
              <a:r>
                <a:rPr lang="en" sz="1950" dirty="0">
                  <a:solidFill>
                    <a:schemeClr val="dk1"/>
                  </a:solidFill>
                  <a:latin typeface="+mn-lt"/>
                  <a:ea typeface="+mn-ea"/>
                  <a:cs typeface="+mn-cs"/>
                </a:rPr>
                <a:t>Publish day,</a:t>
              </a:r>
              <a:br>
                <a:rPr lang="en" sz="1950" dirty="0">
                  <a:solidFill>
                    <a:schemeClr val="dk1"/>
                  </a:solidFill>
                  <a:latin typeface="+mn-lt"/>
                  <a:ea typeface="+mn-ea"/>
                  <a:cs typeface="+mn-cs"/>
                </a:rPr>
              </a:br>
              <a:r>
                <a:rPr lang="en" sz="1950" dirty="0">
                  <a:solidFill>
                    <a:schemeClr val="dk1"/>
                  </a:solidFill>
                  <a:latin typeface="+mn-lt"/>
                  <a:ea typeface="+mn-ea"/>
                  <a:cs typeface="+mn-cs"/>
                </a:rPr>
                <a:t>not event day</a:t>
              </a:r>
            </a:p>
          </p:txBody>
        </p:sp>
      </p:grpSp>
      <p:grpSp>
        <p:nvGrpSpPr>
          <p:cNvPr id="36" name="step-3"/>
          <p:cNvGrpSpPr/>
          <p:nvPr/>
        </p:nvGrpSpPr>
        <p:grpSpPr>
          <a:xfrm>
            <a:off x="5962650" y="2619375"/>
            <a:ext cx="2914650" cy="2543556"/>
            <a:chOff x="5962650" y="2619375"/>
            <a:chExt cx="2914650" cy="2543556"/>
          </a:xfrm>
        </p:grpSpPr>
        <p:grpSp>
          <p:nvGrpSpPr>
            <p:cNvPr id="32" name="Group 32"/>
            <p:cNvGrpSpPr/>
            <p:nvPr/>
          </p:nvGrpSpPr>
          <p:grpSpPr>
            <a:xfrm>
              <a:off x="7277100" y="2619375"/>
              <a:ext cx="285751" cy="285750"/>
              <a:chOff x="7277100" y="2619375"/>
              <a:chExt cx="285751" cy="285750"/>
            </a:xfrm>
          </p:grpSpPr>
          <p:sp>
            <p:nvSpPr>
              <p:cNvPr id="26" name="Freeform 26"/>
              <p:cNvSpPr/>
              <p:nvPr/>
            </p:nvSpPr>
            <p:spPr>
              <a:xfrm>
                <a:off x="7419975" y="2778125"/>
                <a:ext cx="111125" cy="127000"/>
              </a:xfrm>
              <a:custGeom>
                <a:avLst/>
                <a:gdLst/>
                <a:ahLst/>
                <a:cxnLst/>
                <a:rect l="l" t="t" r="r" b="b"/>
                <a:pathLst>
                  <a:path w="111125" h="127000">
                    <a:moveTo>
                      <a:pt x="55563" y="0"/>
                    </a:moveTo>
                    <a:cubicBezTo>
                      <a:pt x="24876" y="0"/>
                      <a:pt x="0" y="24876"/>
                      <a:pt x="0" y="55563"/>
                    </a:cubicBezTo>
                    <a:lnTo>
                      <a:pt x="0" y="71438"/>
                    </a:lnTo>
                    <a:cubicBezTo>
                      <a:pt x="0" y="102124"/>
                      <a:pt x="24876" y="127000"/>
                      <a:pt x="55563" y="127000"/>
                    </a:cubicBezTo>
                    <a:cubicBezTo>
                      <a:pt x="86249" y="127000"/>
                      <a:pt x="111125" y="102124"/>
                      <a:pt x="111125" y="71438"/>
                    </a:cubicBezTo>
                    <a:lnTo>
                      <a:pt x="111125" y="42863"/>
                    </a:lnTo>
                  </a:path>
                </a:pathLst>
              </a:custGeom>
              <a:noFill/>
              <a:ln w="31750">
                <a:solidFill>
                  <a:schemeClr val="accent1"/>
                </a:solidFill>
              </a:ln>
            </p:spPr>
            <p:txBody>
              <a:bodyPr/>
              <a:lstStyle/>
              <a:p>
                <a:endParaRPr lang="en-US"/>
              </a:p>
            </p:txBody>
          </p:sp>
          <p:sp>
            <p:nvSpPr>
              <p:cNvPr id="27" name="Freeform 27"/>
              <p:cNvSpPr/>
              <p:nvPr/>
            </p:nvSpPr>
            <p:spPr>
              <a:xfrm>
                <a:off x="7308850" y="2778125"/>
                <a:ext cx="111125" cy="127000"/>
              </a:xfrm>
              <a:custGeom>
                <a:avLst/>
                <a:gdLst/>
                <a:ahLst/>
                <a:cxnLst/>
                <a:rect l="l" t="t" r="r" b="b"/>
                <a:pathLst>
                  <a:path w="111125" h="127000">
                    <a:moveTo>
                      <a:pt x="55563" y="0"/>
                    </a:moveTo>
                    <a:cubicBezTo>
                      <a:pt x="86249" y="0"/>
                      <a:pt x="111125" y="24876"/>
                      <a:pt x="111125" y="55563"/>
                    </a:cubicBezTo>
                    <a:lnTo>
                      <a:pt x="111125" y="71438"/>
                    </a:lnTo>
                    <a:cubicBezTo>
                      <a:pt x="111125" y="102124"/>
                      <a:pt x="86249" y="127000"/>
                      <a:pt x="55563" y="127000"/>
                    </a:cubicBezTo>
                    <a:cubicBezTo>
                      <a:pt x="24876" y="127000"/>
                      <a:pt x="0" y="102124"/>
                      <a:pt x="0" y="71438"/>
                    </a:cubicBezTo>
                    <a:lnTo>
                      <a:pt x="0" y="42863"/>
                    </a:lnTo>
                  </a:path>
                </a:pathLst>
              </a:custGeom>
              <a:noFill/>
              <a:ln w="31750">
                <a:solidFill>
                  <a:schemeClr val="accent1"/>
                </a:solidFill>
              </a:ln>
            </p:spPr>
            <p:txBody>
              <a:bodyPr/>
              <a:lstStyle/>
              <a:p>
                <a:endParaRPr lang="en-US"/>
              </a:p>
            </p:txBody>
          </p:sp>
          <p:sp>
            <p:nvSpPr>
              <p:cNvPr id="28" name="Freeform 28"/>
              <p:cNvSpPr/>
              <p:nvPr/>
            </p:nvSpPr>
            <p:spPr>
              <a:xfrm>
                <a:off x="7499351" y="2714625"/>
                <a:ext cx="63500" cy="111125"/>
              </a:xfrm>
              <a:custGeom>
                <a:avLst/>
                <a:gdLst/>
                <a:ahLst/>
                <a:cxnLst/>
                <a:rect l="l" t="t" r="r" b="b"/>
                <a:pathLst>
                  <a:path w="63500" h="111125">
                    <a:moveTo>
                      <a:pt x="7938" y="111125"/>
                    </a:moveTo>
                    <a:cubicBezTo>
                      <a:pt x="38624" y="111125"/>
                      <a:pt x="63500" y="86249"/>
                      <a:pt x="63500" y="55563"/>
                    </a:cubicBezTo>
                    <a:cubicBezTo>
                      <a:pt x="63500" y="24876"/>
                      <a:pt x="38624" y="0"/>
                      <a:pt x="7938" y="0"/>
                    </a:cubicBezTo>
                    <a:lnTo>
                      <a:pt x="0" y="0"/>
                    </a:lnTo>
                  </a:path>
                </a:pathLst>
              </a:custGeom>
              <a:noFill/>
              <a:ln w="31750">
                <a:solidFill>
                  <a:schemeClr val="accent1"/>
                </a:solidFill>
              </a:ln>
            </p:spPr>
            <p:txBody>
              <a:bodyPr/>
              <a:lstStyle/>
              <a:p>
                <a:endParaRPr lang="en-US"/>
              </a:p>
            </p:txBody>
          </p:sp>
          <p:sp>
            <p:nvSpPr>
              <p:cNvPr id="29" name="Freeform 29"/>
              <p:cNvSpPr/>
              <p:nvPr/>
            </p:nvSpPr>
            <p:spPr>
              <a:xfrm>
                <a:off x="7419975" y="2619375"/>
                <a:ext cx="111125" cy="100013"/>
              </a:xfrm>
              <a:custGeom>
                <a:avLst/>
                <a:gdLst/>
                <a:ahLst/>
                <a:cxnLst/>
                <a:rect l="l" t="t" r="r" b="b"/>
                <a:pathLst>
                  <a:path w="111125" h="100013">
                    <a:moveTo>
                      <a:pt x="111125" y="100013"/>
                    </a:moveTo>
                    <a:lnTo>
                      <a:pt x="111125" y="55563"/>
                    </a:lnTo>
                    <a:cubicBezTo>
                      <a:pt x="111125" y="24876"/>
                      <a:pt x="86249" y="0"/>
                      <a:pt x="55563" y="0"/>
                    </a:cubicBezTo>
                    <a:cubicBezTo>
                      <a:pt x="24876" y="0"/>
                      <a:pt x="0" y="24876"/>
                      <a:pt x="0" y="55563"/>
                    </a:cubicBezTo>
                  </a:path>
                </a:pathLst>
              </a:custGeom>
              <a:noFill/>
              <a:ln w="31750">
                <a:solidFill>
                  <a:schemeClr val="accent1"/>
                </a:solidFill>
              </a:ln>
            </p:spPr>
            <p:txBody>
              <a:bodyPr/>
              <a:lstStyle/>
              <a:p>
                <a:endParaRPr lang="en-US"/>
              </a:p>
            </p:txBody>
          </p:sp>
          <p:sp>
            <p:nvSpPr>
              <p:cNvPr id="30" name="Freeform 30"/>
              <p:cNvSpPr/>
              <p:nvPr/>
            </p:nvSpPr>
            <p:spPr>
              <a:xfrm>
                <a:off x="7277100" y="2714625"/>
                <a:ext cx="63500" cy="111125"/>
              </a:xfrm>
              <a:custGeom>
                <a:avLst/>
                <a:gdLst/>
                <a:ahLst/>
                <a:cxnLst/>
                <a:rect l="l" t="t" r="r" b="b"/>
                <a:pathLst>
                  <a:path w="63500" h="111125">
                    <a:moveTo>
                      <a:pt x="55563" y="111125"/>
                    </a:moveTo>
                    <a:cubicBezTo>
                      <a:pt x="24876" y="111125"/>
                      <a:pt x="0" y="86249"/>
                      <a:pt x="0" y="55563"/>
                    </a:cubicBezTo>
                    <a:cubicBezTo>
                      <a:pt x="0" y="24876"/>
                      <a:pt x="24876" y="0"/>
                      <a:pt x="55563" y="0"/>
                    </a:cubicBezTo>
                    <a:lnTo>
                      <a:pt x="63500" y="0"/>
                    </a:lnTo>
                  </a:path>
                </a:pathLst>
              </a:custGeom>
              <a:noFill/>
              <a:ln w="31750">
                <a:solidFill>
                  <a:schemeClr val="accent1"/>
                </a:solidFill>
              </a:ln>
            </p:spPr>
            <p:txBody>
              <a:bodyPr/>
              <a:lstStyle/>
              <a:p>
                <a:endParaRPr lang="en-US"/>
              </a:p>
            </p:txBody>
          </p:sp>
          <p:sp>
            <p:nvSpPr>
              <p:cNvPr id="31" name="Freeform 31"/>
              <p:cNvSpPr/>
              <p:nvPr/>
            </p:nvSpPr>
            <p:spPr>
              <a:xfrm>
                <a:off x="7308850" y="2619375"/>
                <a:ext cx="111125" cy="214313"/>
              </a:xfrm>
              <a:custGeom>
                <a:avLst/>
                <a:gdLst/>
                <a:ahLst/>
                <a:cxnLst/>
                <a:rect l="l" t="t" r="r" b="b"/>
                <a:pathLst>
                  <a:path w="111125" h="214313">
                    <a:moveTo>
                      <a:pt x="0" y="100013"/>
                    </a:moveTo>
                    <a:lnTo>
                      <a:pt x="0" y="55563"/>
                    </a:lnTo>
                    <a:cubicBezTo>
                      <a:pt x="0" y="24876"/>
                      <a:pt x="24876" y="0"/>
                      <a:pt x="55563" y="0"/>
                    </a:cubicBezTo>
                    <a:cubicBezTo>
                      <a:pt x="86249" y="0"/>
                      <a:pt x="111125" y="24876"/>
                      <a:pt x="111125" y="55563"/>
                    </a:cubicBezTo>
                    <a:lnTo>
                      <a:pt x="111125" y="214313"/>
                    </a:lnTo>
                  </a:path>
                </a:pathLst>
              </a:custGeom>
              <a:noFill/>
              <a:ln w="31750">
                <a:solidFill>
                  <a:schemeClr val="accent1"/>
                </a:solidFill>
              </a:ln>
            </p:spPr>
            <p:txBody>
              <a:bodyPr/>
              <a:lstStyle/>
              <a:p>
                <a:endParaRPr lang="en-US"/>
              </a:p>
            </p:txBody>
          </p:sp>
        </p:grpSp>
        <p:sp>
          <p:nvSpPr>
            <p:cNvPr id="33" name="Freeform 33"/>
            <p:cNvSpPr/>
            <p:nvPr/>
          </p:nvSpPr>
          <p:spPr>
            <a:xfrm>
              <a:off x="5962650" y="3105150"/>
              <a:ext cx="2914650" cy="876300"/>
            </a:xfrm>
            <a:prstGeom prst="chevron">
              <a:avLst>
                <a:gd name="adj" fmla="val 36000"/>
              </a:avLst>
            </a:prstGeom>
            <a:solidFill>
              <a:srgbClr val="E6EAF2"/>
            </a:solidFill>
            <a:ln>
              <a:noFill/>
            </a:ln>
          </p:spPr>
          <p:txBody>
            <a:bodyPr/>
            <a:lstStyle/>
            <a:p>
              <a:endParaRPr lang="en-US"/>
            </a:p>
          </p:txBody>
        </p:sp>
        <p:sp>
          <p:nvSpPr>
            <p:cNvPr id="34" name="TextBox 34"/>
            <p:cNvSpPr txBox="1"/>
            <p:nvPr/>
          </p:nvSpPr>
          <p:spPr>
            <a:xfrm>
              <a:off x="6995008" y="3387725"/>
              <a:ext cx="849935"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Model</a:t>
              </a:r>
            </a:p>
          </p:txBody>
        </p:sp>
        <p:sp>
          <p:nvSpPr>
            <p:cNvPr id="35" name="TextBox 35"/>
            <p:cNvSpPr txBox="1"/>
            <p:nvPr/>
          </p:nvSpPr>
          <p:spPr>
            <a:xfrm>
              <a:off x="6171819" y="4171950"/>
              <a:ext cx="2496312" cy="990981"/>
            </a:xfrm>
            <a:prstGeom prst="rect">
              <a:avLst/>
            </a:prstGeom>
            <a:noFill/>
            <a:ln>
              <a:noFill/>
            </a:ln>
          </p:spPr>
          <p:txBody>
            <a:bodyPr wrap="none" lIns="0" tIns="0" rIns="0" bIns="0" anchor="t" anchorCtr="0">
              <a:spAutoFit/>
            </a:bodyPr>
            <a:lstStyle/>
            <a:p>
              <a:pPr algn="ctr">
                <a:lnSpc>
                  <a:spcPts val="2400"/>
                </a:lnSpc>
              </a:pPr>
              <a:r>
                <a:rPr lang="en" sz="1950" dirty="0">
                  <a:solidFill>
                    <a:schemeClr val="dk1"/>
                  </a:solidFill>
                  <a:latin typeface="+mn-lt"/>
                  <a:ea typeface="+mn-ea"/>
                  <a:cs typeface="+mn-cs"/>
                </a:rPr>
                <a:t>Ridge for the link,</a:t>
              </a:r>
              <a:br>
                <a:rPr lang="en" sz="1950" dirty="0">
                  <a:solidFill>
                    <a:schemeClr val="dk1"/>
                  </a:solidFill>
                  <a:latin typeface="+mn-lt"/>
                  <a:ea typeface="+mn-ea"/>
                  <a:cs typeface="+mn-cs"/>
                </a:rPr>
              </a:br>
              <a:r>
                <a:rPr lang="en" sz="1950" dirty="0">
                  <a:solidFill>
                    <a:schemeClr val="dk1"/>
                  </a:solidFill>
                  <a:latin typeface="+mn-lt"/>
                  <a:ea typeface="+mn-ea"/>
                  <a:cs typeface="+mn-cs"/>
                </a:rPr>
                <a:t>LightGBM machine</a:t>
              </a:r>
              <a:br>
                <a:rPr lang="en" sz="1950" dirty="0">
                  <a:solidFill>
                    <a:schemeClr val="dk1"/>
                  </a:solidFill>
                  <a:latin typeface="+mn-lt"/>
                  <a:ea typeface="+mn-ea"/>
                  <a:cs typeface="+mn-cs"/>
                </a:rPr>
              </a:br>
              <a:r>
                <a:rPr lang="en" sz="1950" dirty="0">
                  <a:solidFill>
                    <a:schemeClr val="dk1"/>
                  </a:solidFill>
                  <a:latin typeface="+mn-lt"/>
                  <a:ea typeface="+mn-ea"/>
                  <a:cs typeface="+mn-cs"/>
                </a:rPr>
                <a:t>learning to forecast</a:t>
              </a:r>
            </a:p>
          </p:txBody>
        </p:sp>
      </p:grpSp>
      <p:grpSp>
        <p:nvGrpSpPr>
          <p:cNvPr id="43" name="step-4"/>
          <p:cNvGrpSpPr/>
          <p:nvPr/>
        </p:nvGrpSpPr>
        <p:grpSpPr>
          <a:xfrm>
            <a:off x="8639175" y="2629125"/>
            <a:ext cx="2914650" cy="2533806"/>
            <a:chOff x="8639175" y="2629125"/>
            <a:chExt cx="2914650" cy="2533806"/>
          </a:xfrm>
        </p:grpSpPr>
        <p:grpSp>
          <p:nvGrpSpPr>
            <p:cNvPr id="39" name="Group 39"/>
            <p:cNvGrpSpPr/>
            <p:nvPr/>
          </p:nvGrpSpPr>
          <p:grpSpPr>
            <a:xfrm>
              <a:off x="9969500" y="2629125"/>
              <a:ext cx="254001" cy="266250"/>
              <a:chOff x="9969500" y="2629125"/>
              <a:chExt cx="254001" cy="266250"/>
            </a:xfrm>
          </p:grpSpPr>
          <p:sp>
            <p:nvSpPr>
              <p:cNvPr id="37" name="Freeform 37"/>
              <p:cNvSpPr/>
              <p:nvPr/>
            </p:nvSpPr>
            <p:spPr>
              <a:xfrm>
                <a:off x="9969500" y="2629125"/>
                <a:ext cx="254001" cy="117250"/>
              </a:xfrm>
              <a:custGeom>
                <a:avLst/>
                <a:gdLst/>
                <a:ahLst/>
                <a:cxnLst/>
                <a:rect l="l" t="t" r="r" b="b"/>
                <a:pathLst>
                  <a:path w="254001" h="117250">
                    <a:moveTo>
                      <a:pt x="254001" y="117250"/>
                    </a:moveTo>
                    <a:cubicBezTo>
                      <a:pt x="246020" y="59823"/>
                      <a:pt x="200595" y="14839"/>
                      <a:pt x="143092" y="7420"/>
                    </a:cubicBezTo>
                    <a:cubicBezTo>
                      <a:pt x="85590" y="0"/>
                      <a:pt x="30234" y="31980"/>
                      <a:pt x="7938" y="85500"/>
                    </a:cubicBezTo>
                    <a:moveTo>
                      <a:pt x="0" y="22000"/>
                    </a:moveTo>
                    <a:lnTo>
                      <a:pt x="0" y="85500"/>
                    </a:lnTo>
                    <a:lnTo>
                      <a:pt x="63500" y="85500"/>
                    </a:lnTo>
                  </a:path>
                </a:pathLst>
              </a:custGeom>
              <a:noFill/>
              <a:ln w="31750">
                <a:solidFill>
                  <a:schemeClr val="accent1"/>
                </a:solidFill>
              </a:ln>
            </p:spPr>
            <p:txBody>
              <a:bodyPr/>
              <a:lstStyle/>
              <a:p>
                <a:endParaRPr lang="en-US"/>
              </a:p>
            </p:txBody>
          </p:sp>
          <p:sp>
            <p:nvSpPr>
              <p:cNvPr id="38" name="Freeform 38"/>
              <p:cNvSpPr/>
              <p:nvPr/>
            </p:nvSpPr>
            <p:spPr>
              <a:xfrm>
                <a:off x="9969500" y="2778125"/>
                <a:ext cx="254001" cy="117250"/>
              </a:xfrm>
              <a:custGeom>
                <a:avLst/>
                <a:gdLst/>
                <a:ahLst/>
                <a:cxnLst/>
                <a:rect l="l" t="t" r="r" b="b"/>
                <a:pathLst>
                  <a:path w="254001" h="117250">
                    <a:moveTo>
                      <a:pt x="0" y="0"/>
                    </a:moveTo>
                    <a:cubicBezTo>
                      <a:pt x="7981" y="57427"/>
                      <a:pt x="53406" y="102411"/>
                      <a:pt x="110908" y="109831"/>
                    </a:cubicBezTo>
                    <a:cubicBezTo>
                      <a:pt x="168411" y="117250"/>
                      <a:pt x="223766" y="85271"/>
                      <a:pt x="246063" y="31750"/>
                    </a:cubicBezTo>
                    <a:moveTo>
                      <a:pt x="254001" y="95250"/>
                    </a:moveTo>
                    <a:lnTo>
                      <a:pt x="254001" y="31750"/>
                    </a:lnTo>
                    <a:lnTo>
                      <a:pt x="190500" y="31750"/>
                    </a:lnTo>
                  </a:path>
                </a:pathLst>
              </a:custGeom>
              <a:noFill/>
              <a:ln w="31750">
                <a:solidFill>
                  <a:schemeClr val="accent1"/>
                </a:solidFill>
              </a:ln>
            </p:spPr>
            <p:txBody>
              <a:bodyPr/>
              <a:lstStyle/>
              <a:p>
                <a:endParaRPr lang="en-US"/>
              </a:p>
            </p:txBody>
          </p:sp>
        </p:grpSp>
        <p:sp>
          <p:nvSpPr>
            <p:cNvPr id="40" name="Freeform 40"/>
            <p:cNvSpPr/>
            <p:nvPr/>
          </p:nvSpPr>
          <p:spPr>
            <a:xfrm>
              <a:off x="8639175" y="3105150"/>
              <a:ext cx="2914650" cy="876300"/>
            </a:xfrm>
            <a:prstGeom prst="chevron">
              <a:avLst>
                <a:gd name="adj" fmla="val 36000"/>
              </a:avLst>
            </a:prstGeom>
            <a:solidFill>
              <a:srgbClr val="E6EAF2"/>
            </a:solidFill>
            <a:ln>
              <a:noFill/>
            </a:ln>
          </p:spPr>
          <p:txBody>
            <a:bodyPr/>
            <a:lstStyle/>
            <a:p>
              <a:endParaRPr lang="en-US"/>
            </a:p>
          </p:txBody>
        </p:sp>
        <p:sp>
          <p:nvSpPr>
            <p:cNvPr id="41" name="TextBox 41"/>
            <p:cNvSpPr txBox="1"/>
            <p:nvPr/>
          </p:nvSpPr>
          <p:spPr>
            <a:xfrm>
              <a:off x="9747171" y="3387725"/>
              <a:ext cx="698659"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Test</a:t>
              </a:r>
            </a:p>
          </p:txBody>
        </p:sp>
        <p:sp>
          <p:nvSpPr>
            <p:cNvPr id="42" name="TextBox 42"/>
            <p:cNvSpPr txBox="1"/>
            <p:nvPr/>
          </p:nvSpPr>
          <p:spPr>
            <a:xfrm>
              <a:off x="9054084" y="4171950"/>
              <a:ext cx="2199132" cy="990981"/>
            </a:xfrm>
            <a:prstGeom prst="rect">
              <a:avLst/>
            </a:prstGeom>
            <a:noFill/>
            <a:ln>
              <a:noFill/>
            </a:ln>
          </p:spPr>
          <p:txBody>
            <a:bodyPr wrap="none" lIns="0" tIns="0" rIns="0" bIns="0" anchor="t" anchorCtr="0">
              <a:spAutoFit/>
            </a:bodyPr>
            <a:lstStyle/>
            <a:p>
              <a:pPr algn="ctr">
                <a:lnSpc>
                  <a:spcPts val="2400"/>
                </a:lnSpc>
              </a:pPr>
              <a:r>
                <a:rPr lang="en" sz="1950" dirty="0">
                  <a:solidFill>
                    <a:schemeClr val="dk1"/>
                  </a:solidFill>
                  <a:latin typeface="+mn-lt"/>
                  <a:ea typeface="+mn-ea"/>
                  <a:cs typeface="+mn-cs"/>
                </a:rPr>
                <a:t>5 rolling tests +</a:t>
              </a:r>
              <a:br>
                <a:rPr lang="en" sz="1950" dirty="0">
                  <a:solidFill>
                    <a:schemeClr val="dk1"/>
                  </a:solidFill>
                  <a:latin typeface="+mn-lt"/>
                  <a:ea typeface="+mn-ea"/>
                  <a:cs typeface="+mn-cs"/>
                </a:rPr>
              </a:br>
              <a:r>
                <a:rPr lang="en" sz="1950" dirty="0">
                  <a:solidFill>
                    <a:schemeClr val="dk1"/>
                  </a:solidFill>
                  <a:latin typeface="+mn-lt"/>
                  <a:ea typeface="+mn-ea"/>
                  <a:cs typeface="+mn-cs"/>
                </a:rPr>
                <a:t>COVID stress test</a:t>
              </a:r>
              <a:br>
                <a:rPr lang="en" sz="1950" dirty="0">
                  <a:solidFill>
                    <a:schemeClr val="dk1"/>
                  </a:solidFill>
                  <a:latin typeface="+mn-lt"/>
                  <a:ea typeface="+mn-ea"/>
                  <a:cs typeface="+mn-cs"/>
                </a:rPr>
              </a:br>
              <a:r>
                <a:rPr lang="en" sz="1950" dirty="0">
                  <a:solidFill>
                    <a:schemeClr val="dk1"/>
                  </a:solidFill>
                  <a:latin typeface="+mn-lt"/>
                  <a:ea typeface="+mn-ea"/>
                  <a:cs typeface="+mn-cs"/>
                </a:rPr>
                <a:t>→ Power BI</a:t>
              </a:r>
            </a:p>
          </p:txBody>
        </p:sp>
      </p:grpSp>
      <p:grpSp>
        <p:nvGrpSpPr>
          <p:cNvPr id="49" name="learning-principle"/>
          <p:cNvGrpSpPr/>
          <p:nvPr/>
        </p:nvGrpSpPr>
        <p:grpSpPr>
          <a:xfrm>
            <a:off x="609600" y="5467350"/>
            <a:ext cx="7277100" cy="609600"/>
            <a:chOff x="609600" y="5467350"/>
            <a:chExt cx="7277100" cy="609600"/>
          </a:xfrm>
        </p:grpSpPr>
        <p:sp>
          <p:nvSpPr>
            <p:cNvPr id="44" name="Rectangle 44"/>
            <p:cNvSpPr/>
            <p:nvPr/>
          </p:nvSpPr>
          <p:spPr>
            <a:xfrm>
              <a:off x="609600" y="5467350"/>
              <a:ext cx="7277100" cy="609600"/>
            </a:xfrm>
            <a:prstGeom prst="roundRect">
              <a:avLst>
                <a:gd name="adj" fmla="val 12500"/>
              </a:avLst>
            </a:prstGeom>
            <a:solidFill>
              <a:schemeClr val="accent1"/>
            </a:solidFill>
            <a:ln>
              <a:noFill/>
            </a:ln>
          </p:spPr>
          <p:txBody>
            <a:bodyPr/>
            <a:lstStyle/>
            <a:p>
              <a:endParaRPr lang="en-US"/>
            </a:p>
          </p:txBody>
        </p:sp>
        <p:grpSp>
          <p:nvGrpSpPr>
            <p:cNvPr id="47" name="Group 47"/>
            <p:cNvGrpSpPr/>
            <p:nvPr/>
          </p:nvGrpSpPr>
          <p:grpSpPr>
            <a:xfrm>
              <a:off x="842731" y="5643562"/>
              <a:ext cx="279010" cy="257176"/>
              <a:chOff x="842731" y="5643562"/>
              <a:chExt cx="279010" cy="257176"/>
            </a:xfrm>
          </p:grpSpPr>
          <p:sp>
            <p:nvSpPr>
              <p:cNvPr id="45" name="Freeform 45"/>
              <p:cNvSpPr/>
              <p:nvPr/>
            </p:nvSpPr>
            <p:spPr>
              <a:xfrm>
                <a:off x="842731" y="5643562"/>
                <a:ext cx="279010" cy="254975"/>
              </a:xfrm>
              <a:custGeom>
                <a:avLst/>
                <a:gdLst/>
                <a:ahLst/>
                <a:cxnLst/>
                <a:rect l="l" t="t" r="r" b="b"/>
                <a:pathLst>
                  <a:path w="279010" h="254975">
                    <a:moveTo>
                      <a:pt x="140154" y="254975"/>
                    </a:moveTo>
                    <a:cubicBezTo>
                      <a:pt x="50649" y="227230"/>
                      <a:pt x="0" y="132765"/>
                      <a:pt x="26425" y="42862"/>
                    </a:cubicBezTo>
                    <a:cubicBezTo>
                      <a:pt x="70939" y="44899"/>
                      <a:pt x="114496" y="29526"/>
                      <a:pt x="147869" y="0"/>
                    </a:cubicBezTo>
                    <a:cubicBezTo>
                      <a:pt x="181242" y="29526"/>
                      <a:pt x="224800" y="44899"/>
                      <a:pt x="269313" y="42862"/>
                    </a:cubicBezTo>
                    <a:cubicBezTo>
                      <a:pt x="279010" y="75854"/>
                      <a:pt x="278561" y="110999"/>
                      <a:pt x="268027" y="143732"/>
                    </a:cubicBezTo>
                  </a:path>
                </a:pathLst>
              </a:custGeom>
              <a:noFill/>
              <a:ln w="28575">
                <a:solidFill>
                  <a:schemeClr val="accent2"/>
                </a:solidFill>
              </a:ln>
            </p:spPr>
            <p:txBody>
              <a:bodyPr/>
              <a:lstStyle/>
              <a:p>
                <a:endParaRPr lang="en-US"/>
              </a:p>
            </p:txBody>
          </p:sp>
          <p:sp>
            <p:nvSpPr>
              <p:cNvPr id="46" name="Freeform 46"/>
              <p:cNvSpPr/>
              <p:nvPr/>
            </p:nvSpPr>
            <p:spPr>
              <a:xfrm>
                <a:off x="1033462" y="5843588"/>
                <a:ext cx="85725" cy="57150"/>
              </a:xfrm>
              <a:custGeom>
                <a:avLst/>
                <a:gdLst/>
                <a:ahLst/>
                <a:cxnLst/>
                <a:rect l="l" t="t" r="r" b="b"/>
                <a:pathLst>
                  <a:path w="85725" h="57150">
                    <a:moveTo>
                      <a:pt x="0" y="28575"/>
                    </a:moveTo>
                    <a:lnTo>
                      <a:pt x="28575" y="57150"/>
                    </a:lnTo>
                    <a:lnTo>
                      <a:pt x="85725" y="0"/>
                    </a:lnTo>
                  </a:path>
                </a:pathLst>
              </a:custGeom>
              <a:noFill/>
              <a:ln w="28575">
                <a:solidFill>
                  <a:schemeClr val="accent2"/>
                </a:solidFill>
              </a:ln>
            </p:spPr>
            <p:txBody>
              <a:bodyPr/>
              <a:lstStyle/>
              <a:p>
                <a:endParaRPr lang="en-US"/>
              </a:p>
            </p:txBody>
          </p:sp>
        </p:grpSp>
        <p:sp>
          <p:nvSpPr>
            <p:cNvPr id="48" name="TextBox 48"/>
            <p:cNvSpPr txBox="1"/>
            <p:nvPr/>
          </p:nvSpPr>
          <p:spPr>
            <a:xfrm>
              <a:off x="1303020" y="5588000"/>
              <a:ext cx="5951302" cy="440055"/>
            </a:xfrm>
            <a:prstGeom prst="rect">
              <a:avLst/>
            </a:prstGeom>
            <a:noFill/>
            <a:ln>
              <a:noFill/>
            </a:ln>
          </p:spPr>
          <p:txBody>
            <a:bodyPr wrap="none" lIns="0" tIns="0" rIns="0" bIns="0" anchor="t" anchorCtr="0">
              <a:spAutoFit/>
            </a:bodyPr>
            <a:lstStyle/>
            <a:p>
              <a:pPr algn="l"/>
              <a:r>
                <a:rPr lang="en" sz="2250" dirty="0">
                  <a:solidFill>
                    <a:srgbClr val="F5F7FB"/>
                  </a:solidFill>
                  <a:latin typeface="Segoe UI"/>
                  <a:ea typeface="Segoe UI"/>
                  <a:cs typeface="Segoe UI"/>
                </a:rPr>
                <a:t>Only learns from numbers already published</a:t>
              </a:r>
            </a:p>
          </p:txBody>
        </p:sp>
      </p:grpSp>
      <p:grpSp>
        <p:nvGrpSpPr>
          <p:cNvPr id="53" name="radar-mark"/>
          <p:cNvGrpSpPr/>
          <p:nvPr/>
        </p:nvGrpSpPr>
        <p:grpSpPr>
          <a:xfrm>
            <a:off x="11430000" y="6096000"/>
            <a:ext cx="1524000" cy="1524000"/>
            <a:chOff x="11430000" y="6096000"/>
            <a:chExt cx="1524000" cy="1524000"/>
          </a:xfrm>
        </p:grpSpPr>
        <p:sp>
          <p:nvSpPr>
            <p:cNvPr id="50" name="Freeform 50"/>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51" name="Freeform 51"/>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52" name="Freeform 52"/>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54" name="TextBox 54"/>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righ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right)">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right)">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right)">
                                      <p:cBhvr>
                                        <p:cTn id="2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5-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5-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6536832" cy="1241425"/>
            <a:chOff x="590550" y="387350"/>
            <a:chExt cx="6536832" cy="1241425"/>
          </a:xfrm>
        </p:grpSpPr>
        <p:sp>
          <p:nvSpPr>
            <p:cNvPr id="4" name="TextBox 4"/>
            <p:cNvSpPr txBox="1"/>
            <p:nvPr/>
          </p:nvSpPr>
          <p:spPr>
            <a:xfrm>
              <a:off x="601218" y="387350"/>
              <a:ext cx="1844192"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FIRST FINDING</a:t>
              </a:r>
            </a:p>
          </p:txBody>
        </p:sp>
        <p:sp>
          <p:nvSpPr>
            <p:cNvPr id="5" name="TextBox 5"/>
            <p:cNvSpPr txBox="1"/>
            <p:nvPr/>
          </p:nvSpPr>
          <p:spPr>
            <a:xfrm>
              <a:off x="590550" y="666750"/>
              <a:ext cx="6536832"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The answer is both</a:t>
              </a:r>
            </a:p>
          </p:txBody>
        </p:sp>
      </p:grpSp>
      <p:grpSp>
        <p:nvGrpSpPr>
          <p:cNvPr id="9" name="answer-badge"/>
          <p:cNvGrpSpPr/>
          <p:nvPr/>
        </p:nvGrpSpPr>
        <p:grpSpPr>
          <a:xfrm>
            <a:off x="7353300" y="876300"/>
            <a:ext cx="1695450" cy="533400"/>
            <a:chOff x="7353300" y="876300"/>
            <a:chExt cx="1695450" cy="533400"/>
          </a:xfrm>
        </p:grpSpPr>
        <p:sp>
          <p:nvSpPr>
            <p:cNvPr id="7" name="Rectangle 7"/>
            <p:cNvSpPr/>
            <p:nvPr/>
          </p:nvSpPr>
          <p:spPr>
            <a:xfrm>
              <a:off x="7353300" y="876300"/>
              <a:ext cx="1695450" cy="533400"/>
            </a:xfrm>
            <a:prstGeom prst="roundRect">
              <a:avLst>
                <a:gd name="adj" fmla="val 50000"/>
              </a:avLst>
            </a:prstGeom>
            <a:solidFill>
              <a:schemeClr val="accent2"/>
            </a:solidFill>
            <a:ln>
              <a:noFill/>
            </a:ln>
          </p:spPr>
          <p:txBody>
            <a:bodyPr/>
            <a:lstStyle/>
            <a:p>
              <a:endParaRPr lang="en-US"/>
            </a:p>
          </p:txBody>
        </p:sp>
        <p:sp>
          <p:nvSpPr>
            <p:cNvPr id="8" name="TextBox 8"/>
            <p:cNvSpPr txBox="1"/>
            <p:nvPr/>
          </p:nvSpPr>
          <p:spPr>
            <a:xfrm>
              <a:off x="7585577" y="968375"/>
              <a:ext cx="1230897" cy="440055"/>
            </a:xfrm>
            <a:prstGeom prst="rect">
              <a:avLst/>
            </a:prstGeom>
            <a:noFill/>
            <a:ln>
              <a:noFill/>
            </a:ln>
          </p:spPr>
          <p:txBody>
            <a:bodyPr wrap="none" lIns="0" tIns="0" rIns="0" bIns="0" anchor="t" anchorCtr="0">
              <a:spAutoFit/>
            </a:bodyPr>
            <a:lstStyle/>
            <a:p>
              <a:pPr algn="ctr"/>
              <a:r>
                <a:rPr lang="en" sz="2250" dirty="0">
                  <a:solidFill>
                    <a:schemeClr val="dk1"/>
                  </a:solidFill>
                  <a:latin typeface="Segoe UI Semibold"/>
                  <a:ea typeface="Segoe UI Semibold"/>
                  <a:cs typeface="Segoe UI Semibold"/>
                </a:rPr>
                <a:t>C · Both</a:t>
              </a:r>
            </a:p>
          </p:txBody>
        </p:sp>
      </p:grpSp>
      <p:grpSp>
        <p:nvGrpSpPr>
          <p:cNvPr id="30" name="group-fewer"/>
          <p:cNvGrpSpPr/>
          <p:nvPr/>
        </p:nvGrpSpPr>
        <p:grpSpPr>
          <a:xfrm>
            <a:off x="590550" y="2686050"/>
            <a:ext cx="4076357" cy="2422144"/>
            <a:chOff x="590550" y="2686050"/>
            <a:chExt cx="4076357" cy="2422144"/>
          </a:xfrm>
        </p:grpSpPr>
        <p:grpSp>
          <p:nvGrpSpPr>
            <p:cNvPr id="26" name="dots-fewer"/>
            <p:cNvGrpSpPr/>
            <p:nvPr/>
          </p:nvGrpSpPr>
          <p:grpSpPr>
            <a:xfrm>
              <a:off x="609600" y="2686050"/>
              <a:ext cx="3409950" cy="819150"/>
              <a:chOff x="609600" y="2686050"/>
              <a:chExt cx="3409950" cy="819150"/>
            </a:xfrm>
          </p:grpSpPr>
          <p:sp>
            <p:nvSpPr>
              <p:cNvPr id="10" name="Ellipse 10"/>
              <p:cNvSpPr/>
              <p:nvPr/>
            </p:nvSpPr>
            <p:spPr>
              <a:xfrm>
                <a:off x="609600" y="2686050"/>
                <a:ext cx="342900" cy="342900"/>
              </a:xfrm>
              <a:prstGeom prst="ellipse">
                <a:avLst/>
              </a:prstGeom>
              <a:solidFill>
                <a:srgbClr val="E21F26"/>
              </a:solidFill>
              <a:ln>
                <a:noFill/>
              </a:ln>
            </p:spPr>
            <p:txBody>
              <a:bodyPr/>
              <a:lstStyle/>
              <a:p>
                <a:endParaRPr lang="en-US"/>
              </a:p>
            </p:txBody>
          </p:sp>
          <p:sp>
            <p:nvSpPr>
              <p:cNvPr id="11" name="Ellipse 11"/>
              <p:cNvSpPr/>
              <p:nvPr/>
            </p:nvSpPr>
            <p:spPr>
              <a:xfrm>
                <a:off x="1047750" y="2686050"/>
                <a:ext cx="342900" cy="342900"/>
              </a:xfrm>
              <a:prstGeom prst="ellipse">
                <a:avLst/>
              </a:prstGeom>
              <a:solidFill>
                <a:srgbClr val="E21F26"/>
              </a:solidFill>
              <a:ln>
                <a:noFill/>
              </a:ln>
            </p:spPr>
            <p:txBody>
              <a:bodyPr/>
              <a:lstStyle/>
              <a:p>
                <a:endParaRPr lang="en-US"/>
              </a:p>
            </p:txBody>
          </p:sp>
          <p:sp>
            <p:nvSpPr>
              <p:cNvPr id="12" name="Ellipse 12"/>
              <p:cNvSpPr/>
              <p:nvPr/>
            </p:nvSpPr>
            <p:spPr>
              <a:xfrm>
                <a:off x="1485900" y="2686050"/>
                <a:ext cx="342900" cy="342900"/>
              </a:xfrm>
              <a:prstGeom prst="ellipse">
                <a:avLst/>
              </a:prstGeom>
              <a:solidFill>
                <a:srgbClr val="E21F26"/>
              </a:solidFill>
              <a:ln>
                <a:noFill/>
              </a:ln>
            </p:spPr>
            <p:txBody>
              <a:bodyPr/>
              <a:lstStyle/>
              <a:p>
                <a:endParaRPr lang="en-US"/>
              </a:p>
            </p:txBody>
          </p:sp>
          <p:sp>
            <p:nvSpPr>
              <p:cNvPr id="13" name="Ellipse 13"/>
              <p:cNvSpPr/>
              <p:nvPr/>
            </p:nvSpPr>
            <p:spPr>
              <a:xfrm>
                <a:off x="1924050" y="2686050"/>
                <a:ext cx="342900" cy="342900"/>
              </a:xfrm>
              <a:prstGeom prst="ellipse">
                <a:avLst/>
              </a:prstGeom>
              <a:solidFill>
                <a:srgbClr val="E21F26"/>
              </a:solidFill>
              <a:ln>
                <a:noFill/>
              </a:ln>
            </p:spPr>
            <p:txBody>
              <a:bodyPr/>
              <a:lstStyle/>
              <a:p>
                <a:endParaRPr lang="en-US"/>
              </a:p>
            </p:txBody>
          </p:sp>
          <p:sp>
            <p:nvSpPr>
              <p:cNvPr id="14" name="Ellipse 14"/>
              <p:cNvSpPr/>
              <p:nvPr/>
            </p:nvSpPr>
            <p:spPr>
              <a:xfrm>
                <a:off x="2362200" y="2686050"/>
                <a:ext cx="342900" cy="342900"/>
              </a:xfrm>
              <a:prstGeom prst="ellipse">
                <a:avLst/>
              </a:prstGeom>
              <a:solidFill>
                <a:srgbClr val="E21F26"/>
              </a:solidFill>
              <a:ln>
                <a:noFill/>
              </a:ln>
            </p:spPr>
            <p:txBody>
              <a:bodyPr/>
              <a:lstStyle/>
              <a:p>
                <a:endParaRPr lang="en-US"/>
              </a:p>
            </p:txBody>
          </p:sp>
          <p:sp>
            <p:nvSpPr>
              <p:cNvPr id="15" name="Ellipse 15"/>
              <p:cNvSpPr/>
              <p:nvPr/>
            </p:nvSpPr>
            <p:spPr>
              <a:xfrm>
                <a:off x="2800350" y="2686050"/>
                <a:ext cx="342900" cy="342900"/>
              </a:xfrm>
              <a:prstGeom prst="ellipse">
                <a:avLst/>
              </a:prstGeom>
              <a:solidFill>
                <a:srgbClr val="E21F26"/>
              </a:solidFill>
              <a:ln>
                <a:noFill/>
              </a:ln>
            </p:spPr>
            <p:txBody>
              <a:bodyPr/>
              <a:lstStyle/>
              <a:p>
                <a:endParaRPr lang="en-US"/>
              </a:p>
            </p:txBody>
          </p:sp>
          <p:sp>
            <p:nvSpPr>
              <p:cNvPr id="16" name="Ellipse 16"/>
              <p:cNvSpPr/>
              <p:nvPr/>
            </p:nvSpPr>
            <p:spPr>
              <a:xfrm>
                <a:off x="3238500" y="2686050"/>
                <a:ext cx="342900" cy="342900"/>
              </a:xfrm>
              <a:prstGeom prst="ellipse">
                <a:avLst/>
              </a:prstGeom>
              <a:solidFill>
                <a:srgbClr val="E21F26"/>
              </a:solidFill>
              <a:ln>
                <a:noFill/>
              </a:ln>
            </p:spPr>
            <p:txBody>
              <a:bodyPr/>
              <a:lstStyle/>
              <a:p>
                <a:endParaRPr lang="en-US"/>
              </a:p>
            </p:txBody>
          </p:sp>
          <p:sp>
            <p:nvSpPr>
              <p:cNvPr id="17" name="Ellipse 17"/>
              <p:cNvSpPr/>
              <p:nvPr/>
            </p:nvSpPr>
            <p:spPr>
              <a:xfrm>
                <a:off x="3676650" y="2686050"/>
                <a:ext cx="342900" cy="342900"/>
              </a:xfrm>
              <a:prstGeom prst="ellipse">
                <a:avLst/>
              </a:prstGeom>
              <a:solidFill>
                <a:srgbClr val="E21F26"/>
              </a:solidFill>
              <a:ln>
                <a:noFill/>
              </a:ln>
            </p:spPr>
            <p:txBody>
              <a:bodyPr/>
              <a:lstStyle/>
              <a:p>
                <a:endParaRPr lang="en-US"/>
              </a:p>
            </p:txBody>
          </p:sp>
          <p:sp>
            <p:nvSpPr>
              <p:cNvPr id="18" name="Ellipse 18"/>
              <p:cNvSpPr/>
              <p:nvPr/>
            </p:nvSpPr>
            <p:spPr>
              <a:xfrm>
                <a:off x="609600" y="3162300"/>
                <a:ext cx="342900" cy="342900"/>
              </a:xfrm>
              <a:prstGeom prst="ellipse">
                <a:avLst/>
              </a:prstGeom>
              <a:solidFill>
                <a:srgbClr val="E21F26"/>
              </a:solidFill>
              <a:ln>
                <a:noFill/>
              </a:ln>
            </p:spPr>
            <p:txBody>
              <a:bodyPr/>
              <a:lstStyle/>
              <a:p>
                <a:endParaRPr lang="en-US"/>
              </a:p>
            </p:txBody>
          </p:sp>
          <p:sp>
            <p:nvSpPr>
              <p:cNvPr id="19" name="Ellipse 19"/>
              <p:cNvSpPr/>
              <p:nvPr/>
            </p:nvSpPr>
            <p:spPr>
              <a:xfrm>
                <a:off x="1047750" y="3162300"/>
                <a:ext cx="342900" cy="342900"/>
              </a:xfrm>
              <a:prstGeom prst="ellipse">
                <a:avLst/>
              </a:prstGeom>
              <a:solidFill>
                <a:srgbClr val="E21F26"/>
              </a:solidFill>
              <a:ln>
                <a:noFill/>
              </a:ln>
            </p:spPr>
            <p:txBody>
              <a:bodyPr/>
              <a:lstStyle/>
              <a:p>
                <a:endParaRPr lang="en-US"/>
              </a:p>
            </p:txBody>
          </p:sp>
          <p:sp>
            <p:nvSpPr>
              <p:cNvPr id="20" name="Ellipse 20"/>
              <p:cNvSpPr/>
              <p:nvPr/>
            </p:nvSpPr>
            <p:spPr>
              <a:xfrm>
                <a:off x="1485900" y="3162300"/>
                <a:ext cx="342900" cy="342900"/>
              </a:xfrm>
              <a:prstGeom prst="ellipse">
                <a:avLst/>
              </a:prstGeom>
              <a:solidFill>
                <a:srgbClr val="E21F26"/>
              </a:solidFill>
              <a:ln>
                <a:noFill/>
              </a:ln>
            </p:spPr>
            <p:txBody>
              <a:bodyPr/>
              <a:lstStyle/>
              <a:p>
                <a:endParaRPr lang="en-US"/>
              </a:p>
            </p:txBody>
          </p:sp>
          <p:sp>
            <p:nvSpPr>
              <p:cNvPr id="21" name="Ellipse 21"/>
              <p:cNvSpPr/>
              <p:nvPr/>
            </p:nvSpPr>
            <p:spPr>
              <a:xfrm>
                <a:off x="1924050" y="3162300"/>
                <a:ext cx="342900" cy="342900"/>
              </a:xfrm>
              <a:prstGeom prst="ellipse">
                <a:avLst/>
              </a:prstGeom>
              <a:solidFill>
                <a:srgbClr val="E21F26"/>
              </a:solidFill>
              <a:ln>
                <a:noFill/>
              </a:ln>
            </p:spPr>
            <p:txBody>
              <a:bodyPr/>
              <a:lstStyle/>
              <a:p>
                <a:endParaRPr lang="en-US"/>
              </a:p>
            </p:txBody>
          </p:sp>
          <p:sp>
            <p:nvSpPr>
              <p:cNvPr id="22" name="Ellipse 22"/>
              <p:cNvSpPr/>
              <p:nvPr/>
            </p:nvSpPr>
            <p:spPr>
              <a:xfrm>
                <a:off x="2362200" y="3162300"/>
                <a:ext cx="342900" cy="342900"/>
              </a:xfrm>
              <a:prstGeom prst="ellipse">
                <a:avLst/>
              </a:prstGeom>
              <a:solidFill>
                <a:srgbClr val="E21F26"/>
              </a:solidFill>
              <a:ln>
                <a:noFill/>
              </a:ln>
            </p:spPr>
            <p:txBody>
              <a:bodyPr/>
              <a:lstStyle/>
              <a:p>
                <a:endParaRPr lang="en-US"/>
              </a:p>
            </p:txBody>
          </p:sp>
          <p:sp>
            <p:nvSpPr>
              <p:cNvPr id="23" name="Ellipse 23"/>
              <p:cNvSpPr/>
              <p:nvPr/>
            </p:nvSpPr>
            <p:spPr>
              <a:xfrm>
                <a:off x="2800350" y="3162300"/>
                <a:ext cx="342900" cy="342900"/>
              </a:xfrm>
              <a:prstGeom prst="ellipse">
                <a:avLst/>
              </a:prstGeom>
              <a:solidFill>
                <a:srgbClr val="E21F26"/>
              </a:solidFill>
              <a:ln>
                <a:noFill/>
              </a:ln>
            </p:spPr>
            <p:txBody>
              <a:bodyPr/>
              <a:lstStyle/>
              <a:p>
                <a:endParaRPr lang="en-US"/>
              </a:p>
            </p:txBody>
          </p:sp>
          <p:sp>
            <p:nvSpPr>
              <p:cNvPr id="24" name="Ellipse 24"/>
              <p:cNvSpPr/>
              <p:nvPr/>
            </p:nvSpPr>
            <p:spPr>
              <a:xfrm>
                <a:off x="3238500" y="3162300"/>
                <a:ext cx="342900" cy="342900"/>
              </a:xfrm>
              <a:prstGeom prst="ellipse">
                <a:avLst/>
              </a:prstGeom>
              <a:solidFill>
                <a:srgbClr val="E21F26"/>
              </a:solidFill>
              <a:ln>
                <a:noFill/>
              </a:ln>
            </p:spPr>
            <p:txBody>
              <a:bodyPr/>
              <a:lstStyle/>
              <a:p>
                <a:endParaRPr lang="en-US"/>
              </a:p>
            </p:txBody>
          </p:sp>
          <p:sp>
            <p:nvSpPr>
              <p:cNvPr id="25" name="Ellipse 25"/>
              <p:cNvSpPr/>
              <p:nvPr/>
            </p:nvSpPr>
            <p:spPr>
              <a:xfrm>
                <a:off x="3676650" y="3162300"/>
                <a:ext cx="342900" cy="342900"/>
              </a:xfrm>
              <a:prstGeom prst="ellipse">
                <a:avLst/>
              </a:prstGeom>
              <a:solidFill>
                <a:srgbClr val="E21F26"/>
              </a:solidFill>
              <a:ln>
                <a:noFill/>
              </a:ln>
            </p:spPr>
            <p:txBody>
              <a:bodyPr/>
              <a:lstStyle/>
              <a:p>
                <a:endParaRPr lang="en-US"/>
              </a:p>
            </p:txBody>
          </p:sp>
        </p:grpSp>
        <p:sp>
          <p:nvSpPr>
            <p:cNvPr id="27" name="TextBox 27"/>
            <p:cNvSpPr txBox="1"/>
            <p:nvPr/>
          </p:nvSpPr>
          <p:spPr>
            <a:xfrm>
              <a:off x="590550" y="3721100"/>
              <a:ext cx="648310"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16</a:t>
              </a:r>
            </a:p>
          </p:txBody>
        </p:sp>
        <p:sp>
          <p:nvSpPr>
            <p:cNvPr id="28" name="TextBox 28"/>
            <p:cNvSpPr txBox="1"/>
            <p:nvPr/>
          </p:nvSpPr>
          <p:spPr>
            <a:xfrm>
              <a:off x="595122" y="4267200"/>
              <a:ext cx="2868092" cy="557403"/>
            </a:xfrm>
            <a:prstGeom prst="rect">
              <a:avLst/>
            </a:prstGeom>
            <a:noFill/>
            <a:ln>
              <a:noFill/>
            </a:ln>
          </p:spPr>
          <p:txBody>
            <a:bodyPr wrap="none" lIns="0" tIns="0" rIns="0" bIns="0" anchor="t" anchorCtr="0">
              <a:spAutoFit/>
            </a:bodyPr>
            <a:lstStyle/>
            <a:p>
              <a:pPr algn="l"/>
              <a:r>
                <a:rPr lang="en" sz="2850" dirty="0">
                  <a:solidFill>
                    <a:schemeClr val="dk1"/>
                  </a:solidFill>
                  <a:latin typeface="+mn-lt"/>
                  <a:ea typeface="+mn-ea"/>
                  <a:cs typeface="+mn-cs"/>
                </a:rPr>
                <a:t>fewer tourists</a:t>
              </a:r>
            </a:p>
          </p:txBody>
        </p:sp>
        <p:sp>
          <p:nvSpPr>
            <p:cNvPr id="29" name="TextBox 29"/>
            <p:cNvSpPr txBox="1"/>
            <p:nvPr/>
          </p:nvSpPr>
          <p:spPr>
            <a:xfrm>
              <a:off x="600456" y="4756150"/>
              <a:ext cx="4066451"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e.g. Nepal, South Korea, Germany</a:t>
              </a:r>
            </a:p>
          </p:txBody>
        </p:sp>
      </p:grpSp>
      <p:grpSp>
        <p:nvGrpSpPr>
          <p:cNvPr id="38" name="group-more"/>
          <p:cNvGrpSpPr/>
          <p:nvPr/>
        </p:nvGrpSpPr>
        <p:grpSpPr>
          <a:xfrm>
            <a:off x="4933950" y="2686050"/>
            <a:ext cx="3286996" cy="2422144"/>
            <a:chOff x="4933950" y="2686050"/>
            <a:chExt cx="3286996" cy="2422144"/>
          </a:xfrm>
        </p:grpSpPr>
        <p:grpSp>
          <p:nvGrpSpPr>
            <p:cNvPr id="34" name="dots-more"/>
            <p:cNvGrpSpPr/>
            <p:nvPr/>
          </p:nvGrpSpPr>
          <p:grpSpPr>
            <a:xfrm>
              <a:off x="4953000" y="2686050"/>
              <a:ext cx="1295400" cy="342900"/>
              <a:chOff x="4953000" y="2686050"/>
              <a:chExt cx="1295400" cy="342900"/>
            </a:xfrm>
          </p:grpSpPr>
          <p:sp>
            <p:nvSpPr>
              <p:cNvPr id="31" name="Ellipse 31"/>
              <p:cNvSpPr/>
              <p:nvPr/>
            </p:nvSpPr>
            <p:spPr>
              <a:xfrm>
                <a:off x="4953000" y="2686050"/>
                <a:ext cx="342900" cy="342900"/>
              </a:xfrm>
              <a:prstGeom prst="ellipse">
                <a:avLst/>
              </a:prstGeom>
              <a:solidFill>
                <a:schemeClr val="accent3"/>
              </a:solidFill>
              <a:ln>
                <a:noFill/>
              </a:ln>
            </p:spPr>
            <p:txBody>
              <a:bodyPr/>
              <a:lstStyle/>
              <a:p>
                <a:endParaRPr lang="en-US"/>
              </a:p>
            </p:txBody>
          </p:sp>
          <p:sp>
            <p:nvSpPr>
              <p:cNvPr id="32" name="Ellipse 32"/>
              <p:cNvSpPr/>
              <p:nvPr/>
            </p:nvSpPr>
            <p:spPr>
              <a:xfrm>
                <a:off x="5429250" y="2686050"/>
                <a:ext cx="342900" cy="342900"/>
              </a:xfrm>
              <a:prstGeom prst="ellipse">
                <a:avLst/>
              </a:prstGeom>
              <a:solidFill>
                <a:schemeClr val="accent3"/>
              </a:solidFill>
              <a:ln>
                <a:noFill/>
              </a:ln>
            </p:spPr>
            <p:txBody>
              <a:bodyPr/>
              <a:lstStyle/>
              <a:p>
                <a:endParaRPr lang="en-US"/>
              </a:p>
            </p:txBody>
          </p:sp>
          <p:sp>
            <p:nvSpPr>
              <p:cNvPr id="33" name="Ellipse 33"/>
              <p:cNvSpPr/>
              <p:nvPr/>
            </p:nvSpPr>
            <p:spPr>
              <a:xfrm>
                <a:off x="5905500" y="2686050"/>
                <a:ext cx="342900" cy="342900"/>
              </a:xfrm>
              <a:prstGeom prst="ellipse">
                <a:avLst/>
              </a:prstGeom>
              <a:solidFill>
                <a:schemeClr val="accent3"/>
              </a:solidFill>
              <a:ln>
                <a:noFill/>
              </a:ln>
            </p:spPr>
            <p:txBody>
              <a:bodyPr/>
              <a:lstStyle/>
              <a:p>
                <a:endParaRPr lang="en-US"/>
              </a:p>
            </p:txBody>
          </p:sp>
        </p:grpSp>
        <p:sp>
          <p:nvSpPr>
            <p:cNvPr id="35" name="TextBox 35"/>
            <p:cNvSpPr txBox="1"/>
            <p:nvPr/>
          </p:nvSpPr>
          <p:spPr>
            <a:xfrm>
              <a:off x="4933950" y="3721100"/>
              <a:ext cx="343205"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3</a:t>
              </a:r>
            </a:p>
          </p:txBody>
        </p:sp>
        <p:sp>
          <p:nvSpPr>
            <p:cNvPr id="36" name="TextBox 36"/>
            <p:cNvSpPr txBox="1"/>
            <p:nvPr/>
          </p:nvSpPr>
          <p:spPr>
            <a:xfrm>
              <a:off x="4938522" y="4267200"/>
              <a:ext cx="2657075" cy="557403"/>
            </a:xfrm>
            <a:prstGeom prst="rect">
              <a:avLst/>
            </a:prstGeom>
            <a:noFill/>
            <a:ln>
              <a:noFill/>
            </a:ln>
          </p:spPr>
          <p:txBody>
            <a:bodyPr wrap="none" lIns="0" tIns="0" rIns="0" bIns="0" anchor="t" anchorCtr="0">
              <a:spAutoFit/>
            </a:bodyPr>
            <a:lstStyle/>
            <a:p>
              <a:pPr algn="l"/>
              <a:r>
                <a:rPr lang="en" sz="2850" dirty="0">
                  <a:solidFill>
                    <a:schemeClr val="dk1"/>
                  </a:solidFill>
                  <a:latin typeface="+mn-lt"/>
                  <a:ea typeface="+mn-ea"/>
                  <a:cs typeface="+mn-cs"/>
                </a:rPr>
                <a:t>more tourists</a:t>
              </a:r>
            </a:p>
          </p:txBody>
        </p:sp>
        <p:sp>
          <p:nvSpPr>
            <p:cNvPr id="37" name="TextBox 37"/>
            <p:cNvSpPr txBox="1"/>
            <p:nvPr/>
          </p:nvSpPr>
          <p:spPr>
            <a:xfrm>
              <a:off x="4943856" y="4756150"/>
              <a:ext cx="3277090"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Singapore, Indonesia, China</a:t>
              </a:r>
            </a:p>
          </p:txBody>
        </p:sp>
      </p:grpSp>
      <p:grpSp>
        <p:nvGrpSpPr>
          <p:cNvPr id="43" name="group-flat"/>
          <p:cNvGrpSpPr/>
          <p:nvPr/>
        </p:nvGrpSpPr>
        <p:grpSpPr>
          <a:xfrm>
            <a:off x="8362950" y="2686050"/>
            <a:ext cx="3198781" cy="2422144"/>
            <a:chOff x="8362950" y="2686050"/>
            <a:chExt cx="3198781" cy="2422144"/>
          </a:xfrm>
        </p:grpSpPr>
        <p:sp>
          <p:nvSpPr>
            <p:cNvPr id="39" name="Ellipse 39"/>
            <p:cNvSpPr/>
            <p:nvPr/>
          </p:nvSpPr>
          <p:spPr>
            <a:xfrm>
              <a:off x="8382000" y="2686050"/>
              <a:ext cx="342900" cy="342900"/>
            </a:xfrm>
            <a:prstGeom prst="ellipse">
              <a:avLst/>
            </a:prstGeom>
            <a:solidFill>
              <a:srgbClr val="8A94AB"/>
            </a:solidFill>
            <a:ln>
              <a:noFill/>
            </a:ln>
          </p:spPr>
          <p:txBody>
            <a:bodyPr/>
            <a:lstStyle/>
            <a:p>
              <a:endParaRPr lang="en-US"/>
            </a:p>
          </p:txBody>
        </p:sp>
        <p:sp>
          <p:nvSpPr>
            <p:cNvPr id="40" name="TextBox 40"/>
            <p:cNvSpPr txBox="1"/>
            <p:nvPr/>
          </p:nvSpPr>
          <p:spPr>
            <a:xfrm>
              <a:off x="8362950" y="3721100"/>
              <a:ext cx="343205"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1</a:t>
              </a:r>
            </a:p>
          </p:txBody>
        </p:sp>
        <p:sp>
          <p:nvSpPr>
            <p:cNvPr id="41" name="TextBox 41"/>
            <p:cNvSpPr txBox="1"/>
            <p:nvPr/>
          </p:nvSpPr>
          <p:spPr>
            <a:xfrm>
              <a:off x="8367522" y="4267200"/>
              <a:ext cx="3194209" cy="557403"/>
            </a:xfrm>
            <a:prstGeom prst="rect">
              <a:avLst/>
            </a:prstGeom>
            <a:noFill/>
            <a:ln>
              <a:noFill/>
            </a:ln>
          </p:spPr>
          <p:txBody>
            <a:bodyPr wrap="none" lIns="0" tIns="0" rIns="0" bIns="0" anchor="t" anchorCtr="0">
              <a:spAutoFit/>
            </a:bodyPr>
            <a:lstStyle/>
            <a:p>
              <a:pPr algn="l"/>
              <a:r>
                <a:rPr lang="en" sz="2850" dirty="0">
                  <a:solidFill>
                    <a:schemeClr val="dk1"/>
                  </a:solidFill>
                  <a:latin typeface="+mn-lt"/>
                  <a:ea typeface="+mn-ea"/>
                  <a:cs typeface="+mn-cs"/>
                </a:rPr>
                <a:t>almost no change</a:t>
              </a:r>
            </a:p>
          </p:txBody>
        </p:sp>
        <p:sp>
          <p:nvSpPr>
            <p:cNvPr id="42" name="TextBox 42"/>
            <p:cNvSpPr txBox="1"/>
            <p:nvPr/>
          </p:nvSpPr>
          <p:spPr>
            <a:xfrm>
              <a:off x="8372856" y="4756150"/>
              <a:ext cx="970007"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Thailand</a:t>
              </a:r>
            </a:p>
          </p:txBody>
        </p:sp>
      </p:grpSp>
      <p:grpSp>
        <p:nvGrpSpPr>
          <p:cNvPr id="45" name="footnote"/>
          <p:cNvGrpSpPr/>
          <p:nvPr/>
        </p:nvGrpSpPr>
        <p:grpSpPr>
          <a:xfrm>
            <a:off x="601218" y="5892800"/>
            <a:ext cx="5170018" cy="322707"/>
            <a:chOff x="601218" y="5892800"/>
            <a:chExt cx="5170018" cy="322707"/>
          </a:xfrm>
        </p:grpSpPr>
        <p:sp>
          <p:nvSpPr>
            <p:cNvPr id="44" name="TextBox 44"/>
            <p:cNvSpPr txBox="1"/>
            <p:nvPr/>
          </p:nvSpPr>
          <p:spPr>
            <a:xfrm>
              <a:off x="601218" y="5892800"/>
              <a:ext cx="5170018"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20 modelled markets · associations, not causes</a:t>
              </a:r>
            </a:p>
          </p:txBody>
        </p:sp>
      </p:grpSp>
      <p:grpSp>
        <p:nvGrpSpPr>
          <p:cNvPr id="49" name="radar-mark"/>
          <p:cNvGrpSpPr/>
          <p:nvPr/>
        </p:nvGrpSpPr>
        <p:grpSpPr>
          <a:xfrm>
            <a:off x="11430000" y="6096000"/>
            <a:ext cx="1524000" cy="1524000"/>
            <a:chOff x="11430000" y="6096000"/>
            <a:chExt cx="1524000" cy="1524000"/>
          </a:xfrm>
        </p:grpSpPr>
        <p:sp>
          <p:nvSpPr>
            <p:cNvPr id="46" name="Freeform 46"/>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47" name="Freeform 47"/>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48" name="Freeform 48"/>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50" name="TextBox 50"/>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utoRev="1" fill="hold" nodeType="afterEffect">
                                  <p:stCondLst>
                                    <p:cond delay="300"/>
                                  </p:stCondLst>
                                  <p:childTnLst>
                                    <p:animScale>
                                      <p:cBhvr>
                                        <p:cTn id="6" dur="600" fill="hold"/>
                                        <p:tgtEl>
                                          <p:spTgt spid="9"/>
                                        </p:tgtEl>
                                      </p:cBhvr>
                                      <p:by x="150000" y="150000"/>
                                      <p:to x="115000" y="115000"/>
                                    </p:animScale>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right)">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right)">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right)">
                                      <p:cBhvr>
                                        <p:cTn id="21" dur="500"/>
                                        <p:tgtEl>
                                          <p:spTgt spid="43"/>
                                        </p:tgtEl>
                                      </p:cBhvr>
                                    </p:animEffect>
                                  </p:childTnLst>
                                </p:cTn>
                              </p:par>
                            </p:childTnLst>
                          </p:cTn>
                        </p:par>
                        <p:par>
                          <p:cTn id="22" fill="hold">
                            <p:stCondLst>
                              <p:cond delay="0"/>
                            </p:stCondLst>
                            <p:childTnLst>
                              <p:par>
                                <p:cTn id="23" presetID="10"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6-banner-photo"/>
          <p:cNvPicPr>
            <a:picLocks noChangeAspect="1"/>
          </p:cNvPicPr>
          <p:nvPr/>
        </p:nvPicPr>
        <p:blipFill>
          <a:blip r:embed="rId3"/>
          <a:srcRect l="33274"/>
          <a:stretch>
            <a:fillRect/>
          </a:stretch>
        </p:blipFill>
        <p:spPr>
          <a:xfrm>
            <a:off x="5715000" y="0"/>
            <a:ext cx="6477000" cy="2247900"/>
          </a:xfrm>
          <a:prstGeom prst="rect">
            <a:avLst/>
          </a:prstGeom>
        </p:spPr>
      </p:pic>
      <p:sp>
        <p:nvSpPr>
          <p:cNvPr id="3" name="p06-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4752975" cy="2003425"/>
            <a:chOff x="590550" y="387350"/>
            <a:chExt cx="4752975" cy="2003425"/>
          </a:xfrm>
        </p:grpSpPr>
        <p:sp>
          <p:nvSpPr>
            <p:cNvPr id="4" name="TextBox 4"/>
            <p:cNvSpPr txBox="1"/>
            <p:nvPr/>
          </p:nvSpPr>
          <p:spPr>
            <a:xfrm>
              <a:off x="601218" y="387350"/>
              <a:ext cx="1580693"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KEY INSIGHT</a:t>
              </a:r>
            </a:p>
          </p:txBody>
        </p:sp>
        <p:sp>
          <p:nvSpPr>
            <p:cNvPr id="5" name="TextBox 5"/>
            <p:cNvSpPr txBox="1"/>
            <p:nvPr/>
          </p:nvSpPr>
          <p:spPr>
            <a:xfrm>
              <a:off x="590550" y="742950"/>
              <a:ext cx="4752975"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Drops and rises</a:t>
              </a:r>
              <a:br>
                <a:rPr lang="en" sz="4950" dirty="0">
                  <a:solidFill>
                    <a:schemeClr val="dk1"/>
                  </a:solidFill>
                  <a:latin typeface="+mj-lt"/>
                  <a:ea typeface="+mj-ea"/>
                  <a:cs typeface="+mj-cs"/>
                </a:rPr>
              </a:br>
              <a:r>
                <a:rPr lang="en" sz="4950" dirty="0">
                  <a:solidFill>
                    <a:schemeClr val="dk1"/>
                  </a:solidFill>
                  <a:latin typeface="+mj-lt"/>
                  <a:ea typeface="+mj-ea"/>
                  <a:cs typeface="+mj-cs"/>
                </a:rPr>
                <a:t>cancel out</a:t>
              </a:r>
            </a:p>
          </p:txBody>
        </p:sp>
      </p:grpSp>
      <p:grpSp>
        <p:nvGrpSpPr>
          <p:cNvPr id="10" name="term-drops"/>
          <p:cNvGrpSpPr/>
          <p:nvPr/>
        </p:nvGrpSpPr>
        <p:grpSpPr>
          <a:xfrm>
            <a:off x="609600" y="2971800"/>
            <a:ext cx="2530754" cy="1860550"/>
            <a:chOff x="609600" y="2971800"/>
            <a:chExt cx="2530754" cy="1860550"/>
          </a:xfrm>
        </p:grpSpPr>
        <p:sp>
          <p:nvSpPr>
            <p:cNvPr id="7" name="Freeform 7"/>
            <p:cNvSpPr/>
            <p:nvPr/>
          </p:nvSpPr>
          <p:spPr>
            <a:xfrm>
              <a:off x="609600" y="2971800"/>
              <a:ext cx="838200" cy="1219200"/>
            </a:xfrm>
            <a:prstGeom prst="downArrow">
              <a:avLst/>
            </a:prstGeom>
            <a:solidFill>
              <a:srgbClr val="E21F26"/>
            </a:solidFill>
            <a:ln>
              <a:noFill/>
            </a:ln>
          </p:spPr>
          <p:txBody>
            <a:bodyPr/>
            <a:lstStyle/>
            <a:p>
              <a:endParaRPr lang="en-US"/>
            </a:p>
          </p:txBody>
        </p:sp>
        <p:sp>
          <p:nvSpPr>
            <p:cNvPr id="8" name="TextBox 8"/>
            <p:cNvSpPr txBox="1"/>
            <p:nvPr/>
          </p:nvSpPr>
          <p:spPr>
            <a:xfrm>
              <a:off x="1600200" y="2984500"/>
              <a:ext cx="1540154" cy="1847850"/>
            </a:xfrm>
            <a:prstGeom prst="rect">
              <a:avLst/>
            </a:prstGeom>
            <a:noFill/>
            <a:ln>
              <a:noFill/>
            </a:ln>
          </p:spPr>
          <p:txBody>
            <a:bodyPr wrap="none" lIns="0" tIns="0" rIns="0" bIns="0" anchor="t" anchorCtr="0">
              <a:spAutoFit/>
            </a:bodyPr>
            <a:lstStyle/>
            <a:p>
              <a:pPr algn="l"/>
              <a:r>
                <a:rPr lang="en" sz="9600" dirty="0">
                  <a:solidFill>
                    <a:schemeClr val="dk1"/>
                  </a:solidFill>
                  <a:latin typeface="+mj-lt"/>
                  <a:ea typeface="+mj-ea"/>
                  <a:cs typeface="+mj-cs"/>
                </a:rPr>
                <a:t>16</a:t>
              </a:r>
            </a:p>
          </p:txBody>
        </p:sp>
        <p:sp>
          <p:nvSpPr>
            <p:cNvPr id="9" name="TextBox 9"/>
            <p:cNvSpPr txBox="1"/>
            <p:nvPr/>
          </p:nvSpPr>
          <p:spPr>
            <a:xfrm>
              <a:off x="1645920" y="4330700"/>
              <a:ext cx="1249585"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markets</a:t>
              </a:r>
            </a:p>
          </p:txBody>
        </p:sp>
      </p:grpSp>
      <p:sp>
        <p:nvSpPr>
          <p:cNvPr id="11" name="Freeform 11"/>
          <p:cNvSpPr/>
          <p:nvPr/>
        </p:nvSpPr>
        <p:spPr>
          <a:xfrm>
            <a:off x="3429000" y="3238500"/>
            <a:ext cx="609600" cy="609600"/>
          </a:xfrm>
          <a:prstGeom prst="mathPlus">
            <a:avLst/>
          </a:prstGeom>
          <a:solidFill>
            <a:schemeClr val="accent1"/>
          </a:solidFill>
          <a:ln>
            <a:noFill/>
          </a:ln>
        </p:spPr>
        <p:txBody>
          <a:bodyPr/>
          <a:lstStyle/>
          <a:p>
            <a:endParaRPr lang="en-US"/>
          </a:p>
        </p:txBody>
      </p:sp>
      <p:grpSp>
        <p:nvGrpSpPr>
          <p:cNvPr id="15" name="term-rises"/>
          <p:cNvGrpSpPr/>
          <p:nvPr/>
        </p:nvGrpSpPr>
        <p:grpSpPr>
          <a:xfrm>
            <a:off x="4191000" y="2971800"/>
            <a:ext cx="2285905" cy="1860550"/>
            <a:chOff x="4191000" y="2971800"/>
            <a:chExt cx="2285905" cy="1860550"/>
          </a:xfrm>
        </p:grpSpPr>
        <p:sp>
          <p:nvSpPr>
            <p:cNvPr id="12" name="Freeform 12"/>
            <p:cNvSpPr/>
            <p:nvPr/>
          </p:nvSpPr>
          <p:spPr>
            <a:xfrm>
              <a:off x="4191000" y="2971800"/>
              <a:ext cx="838200" cy="1219200"/>
            </a:xfrm>
            <a:prstGeom prst="upArrow">
              <a:avLst/>
            </a:prstGeom>
            <a:solidFill>
              <a:schemeClr val="accent3"/>
            </a:solidFill>
            <a:ln>
              <a:noFill/>
            </a:ln>
          </p:spPr>
          <p:txBody>
            <a:bodyPr/>
            <a:lstStyle/>
            <a:p>
              <a:endParaRPr lang="en-US"/>
            </a:p>
          </p:txBody>
        </p:sp>
        <p:sp>
          <p:nvSpPr>
            <p:cNvPr id="13" name="TextBox 13"/>
            <p:cNvSpPr txBox="1"/>
            <p:nvPr/>
          </p:nvSpPr>
          <p:spPr>
            <a:xfrm>
              <a:off x="5181600" y="2984500"/>
              <a:ext cx="789127" cy="1847850"/>
            </a:xfrm>
            <a:prstGeom prst="rect">
              <a:avLst/>
            </a:prstGeom>
            <a:noFill/>
            <a:ln>
              <a:noFill/>
            </a:ln>
          </p:spPr>
          <p:txBody>
            <a:bodyPr wrap="none" lIns="0" tIns="0" rIns="0" bIns="0" anchor="t" anchorCtr="0">
              <a:spAutoFit/>
            </a:bodyPr>
            <a:lstStyle/>
            <a:p>
              <a:pPr algn="l"/>
              <a:r>
                <a:rPr lang="en" sz="9600" dirty="0">
                  <a:solidFill>
                    <a:schemeClr val="dk1"/>
                  </a:solidFill>
                  <a:latin typeface="+mj-lt"/>
                  <a:ea typeface="+mj-ea"/>
                  <a:cs typeface="+mj-cs"/>
                </a:rPr>
                <a:t>3</a:t>
              </a:r>
            </a:p>
          </p:txBody>
        </p:sp>
        <p:sp>
          <p:nvSpPr>
            <p:cNvPr id="14" name="TextBox 14"/>
            <p:cNvSpPr txBox="1"/>
            <p:nvPr/>
          </p:nvSpPr>
          <p:spPr>
            <a:xfrm>
              <a:off x="5227320" y="4330700"/>
              <a:ext cx="1249585"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markets</a:t>
              </a:r>
            </a:p>
          </p:txBody>
        </p:sp>
      </p:grpSp>
      <p:sp>
        <p:nvSpPr>
          <p:cNvPr id="16" name="Freeform 16"/>
          <p:cNvSpPr/>
          <p:nvPr/>
        </p:nvSpPr>
        <p:spPr>
          <a:xfrm>
            <a:off x="6362700" y="3238500"/>
            <a:ext cx="609600" cy="609600"/>
          </a:xfrm>
          <a:prstGeom prst="mathEqual">
            <a:avLst/>
          </a:prstGeom>
          <a:solidFill>
            <a:schemeClr val="accent1"/>
          </a:solidFill>
          <a:ln>
            <a:noFill/>
          </a:ln>
        </p:spPr>
        <p:txBody>
          <a:bodyPr/>
          <a:lstStyle/>
          <a:p>
            <a:endParaRPr lang="en-US"/>
          </a:p>
        </p:txBody>
      </p:sp>
      <p:grpSp>
        <p:nvGrpSpPr>
          <p:cNvPr id="19" name="term-national"/>
          <p:cNvGrpSpPr/>
          <p:nvPr/>
        </p:nvGrpSpPr>
        <p:grpSpPr>
          <a:xfrm>
            <a:off x="7143750" y="2984500"/>
            <a:ext cx="3793236" cy="1847850"/>
            <a:chOff x="7143750" y="2984500"/>
            <a:chExt cx="3793236" cy="1847850"/>
          </a:xfrm>
        </p:grpSpPr>
        <p:sp>
          <p:nvSpPr>
            <p:cNvPr id="17" name="TextBox 17"/>
            <p:cNvSpPr txBox="1"/>
            <p:nvPr/>
          </p:nvSpPr>
          <p:spPr>
            <a:xfrm>
              <a:off x="7143750" y="2984500"/>
              <a:ext cx="3793236" cy="1847850"/>
            </a:xfrm>
            <a:prstGeom prst="rect">
              <a:avLst/>
            </a:prstGeom>
            <a:noFill/>
            <a:ln>
              <a:noFill/>
            </a:ln>
          </p:spPr>
          <p:txBody>
            <a:bodyPr wrap="none" lIns="0" tIns="0" rIns="0" bIns="0" anchor="t" anchorCtr="0">
              <a:spAutoFit/>
            </a:bodyPr>
            <a:lstStyle/>
            <a:p>
              <a:pPr algn="l"/>
              <a:r>
                <a:rPr lang="en" sz="9600" dirty="0">
                  <a:solidFill>
                    <a:srgbClr val="8A94AB"/>
                  </a:solidFill>
                  <a:latin typeface="+mj-lt"/>
                  <a:ea typeface="+mj-ea"/>
                  <a:cs typeface="+mj-cs"/>
                </a:rPr>
                <a:t>+0.08</a:t>
              </a:r>
            </a:p>
          </p:txBody>
        </p:sp>
        <p:sp>
          <p:nvSpPr>
            <p:cNvPr id="18" name="TextBox 18"/>
            <p:cNvSpPr txBox="1"/>
            <p:nvPr/>
          </p:nvSpPr>
          <p:spPr>
            <a:xfrm>
              <a:off x="7189470" y="4330700"/>
              <a:ext cx="120415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national</a:t>
              </a:r>
            </a:p>
          </p:txBody>
        </p:sp>
      </p:grpSp>
      <p:grpSp>
        <p:nvGrpSpPr>
          <p:cNvPr id="22" name="conclusion"/>
          <p:cNvGrpSpPr/>
          <p:nvPr/>
        </p:nvGrpSpPr>
        <p:grpSpPr>
          <a:xfrm>
            <a:off x="590550" y="5105400"/>
            <a:ext cx="7988742" cy="882650"/>
            <a:chOff x="590550" y="5105400"/>
            <a:chExt cx="7988742" cy="882650"/>
          </a:xfrm>
        </p:grpSpPr>
        <p:sp>
          <p:nvSpPr>
            <p:cNvPr id="20" name="Rectangle 20"/>
            <p:cNvSpPr/>
            <p:nvPr/>
          </p:nvSpPr>
          <p:spPr>
            <a:xfrm>
              <a:off x="609600" y="5105400"/>
              <a:ext cx="914400" cy="38100"/>
            </a:xfrm>
            <a:prstGeom prst="rect">
              <a:avLst/>
            </a:prstGeom>
            <a:solidFill>
              <a:schemeClr val="accent2"/>
            </a:solidFill>
            <a:ln>
              <a:noFill/>
            </a:ln>
          </p:spPr>
          <p:txBody>
            <a:bodyPr/>
            <a:lstStyle/>
            <a:p>
              <a:endParaRPr lang="en-US"/>
            </a:p>
          </p:txBody>
        </p:sp>
        <p:sp>
          <p:nvSpPr>
            <p:cNvPr id="21" name="TextBox 21"/>
            <p:cNvSpPr txBox="1"/>
            <p:nvPr/>
          </p:nvSpPr>
          <p:spPr>
            <a:xfrm>
              <a:off x="590550" y="5226050"/>
              <a:ext cx="7988742" cy="762000"/>
            </a:xfrm>
            <a:prstGeom prst="rect">
              <a:avLst/>
            </a:prstGeom>
            <a:noFill/>
            <a:ln>
              <a:noFill/>
            </a:ln>
          </p:spPr>
          <p:txBody>
            <a:bodyPr wrap="none" lIns="0" tIns="0" rIns="0" bIns="0" anchor="t" anchorCtr="0">
              <a:spAutoFit/>
            </a:bodyPr>
            <a:lstStyle/>
            <a:p>
              <a:pPr algn="l"/>
              <a:r>
                <a:rPr lang="en" sz="3900" dirty="0">
                  <a:solidFill>
                    <a:schemeClr val="dk1"/>
                  </a:solidFill>
                  <a:latin typeface="+mj-lt"/>
                  <a:ea typeface="+mj-ea"/>
                  <a:cs typeface="+mj-cs"/>
                </a:rPr>
                <a:t>Watch risk market by market</a:t>
              </a:r>
            </a:p>
          </p:txBody>
        </p:sp>
      </p:grpSp>
      <p:grpSp>
        <p:nvGrpSpPr>
          <p:cNvPr id="24" name="footnote"/>
          <p:cNvGrpSpPr/>
          <p:nvPr/>
        </p:nvGrpSpPr>
        <p:grpSpPr>
          <a:xfrm>
            <a:off x="601218" y="6007100"/>
            <a:ext cx="3223207" cy="322707"/>
            <a:chOff x="601218" y="6007100"/>
            <a:chExt cx="3223207" cy="322707"/>
          </a:xfrm>
        </p:grpSpPr>
        <p:sp>
          <p:nvSpPr>
            <p:cNvPr id="23" name="TextBox 23"/>
            <p:cNvSpPr txBox="1"/>
            <p:nvPr/>
          </p:nvSpPr>
          <p:spPr>
            <a:xfrm>
              <a:off x="601218" y="6007100"/>
              <a:ext cx="322320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Patterns, not proof of cause</a:t>
              </a:r>
            </a:p>
          </p:txBody>
        </p:sp>
      </p:grpSp>
      <p:grpSp>
        <p:nvGrpSpPr>
          <p:cNvPr id="28" name="radar-mark"/>
          <p:cNvGrpSpPr/>
          <p:nvPr/>
        </p:nvGrpSpPr>
        <p:grpSpPr>
          <a:xfrm>
            <a:off x="11430000" y="6096000"/>
            <a:ext cx="1524000" cy="1524000"/>
            <a:chOff x="11430000" y="6096000"/>
            <a:chExt cx="1524000" cy="1524000"/>
          </a:xfrm>
        </p:grpSpPr>
        <p:sp>
          <p:nvSpPr>
            <p:cNvPr id="25" name="Freeform 25"/>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26" name="Freeform 26"/>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27" name="Freeform 27"/>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29" name="TextBox 29"/>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700"/>
                            </p:stCondLst>
                            <p:childTnLst>
                              <p:par>
                                <p:cTn id="9" presetID="10" presetClass="entr" presetSubtype="0" fill="hold"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700"/>
                            </p:stCondLst>
                            <p:childTnLst>
                              <p:par>
                                <p:cTn id="13" presetID="10" presetClass="entr" presetSubtype="0" fill="hold" nodeType="after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par>
                          <p:cTn id="16" fill="hold">
                            <p:stCondLst>
                              <p:cond delay="2700"/>
                            </p:stCondLst>
                            <p:childTnLst>
                              <p:par>
                                <p:cTn id="17" presetID="10" presetClass="entr" presetSubtype="0" fill="hold" nodeType="afterEffect">
                                  <p:stCondLst>
                                    <p:cond delay="5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3700"/>
                            </p:stCondLst>
                            <p:childTnLst>
                              <p:par>
                                <p:cTn id="21" presetID="10" presetClass="entr" presetSubtype="0" fill="hold" nodeType="afterEffect">
                                  <p:stCondLst>
                                    <p:cond delay="5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right)">
                                      <p:cBhvr>
                                        <p:cTn id="28" dur="500"/>
                                        <p:tgtEl>
                                          <p:spTgt spid="22"/>
                                        </p:tgtEl>
                                      </p:cBhvr>
                                    </p:animEffect>
                                  </p:childTnLst>
                                </p:cTn>
                              </p:par>
                            </p:childTnLst>
                          </p:cTn>
                        </p:par>
                        <p:par>
                          <p:cTn id="29" fill="hold">
                            <p:stCondLst>
                              <p:cond delay="0"/>
                            </p:stCondLst>
                            <p:childTnLst>
                              <p:par>
                                <p:cTn id="30" presetID="10"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7-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7-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5224462" cy="2003425"/>
            <a:chOff x="590550" y="387350"/>
            <a:chExt cx="5224462" cy="2003425"/>
          </a:xfrm>
        </p:grpSpPr>
        <p:sp>
          <p:nvSpPr>
            <p:cNvPr id="4" name="TextBox 4"/>
            <p:cNvSpPr txBox="1"/>
            <p:nvPr/>
          </p:nvSpPr>
          <p:spPr>
            <a:xfrm>
              <a:off x="601218" y="387350"/>
              <a:ext cx="2110892"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SECOND FINDING</a:t>
              </a:r>
            </a:p>
          </p:txBody>
        </p:sp>
        <p:sp>
          <p:nvSpPr>
            <p:cNvPr id="5" name="TextBox 5"/>
            <p:cNvSpPr txBox="1"/>
            <p:nvPr/>
          </p:nvSpPr>
          <p:spPr>
            <a:xfrm>
              <a:off x="590550" y="742950"/>
              <a:ext cx="5224462"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LightGBM had the</a:t>
              </a:r>
              <a:br>
                <a:rPr lang="en" sz="4950" dirty="0">
                  <a:solidFill>
                    <a:schemeClr val="dk1"/>
                  </a:solidFill>
                  <a:latin typeface="+mj-lt"/>
                  <a:ea typeface="+mj-ea"/>
                  <a:cs typeface="+mj-cs"/>
                </a:rPr>
              </a:br>
              <a:r>
                <a:rPr lang="en" sz="4950" dirty="0">
                  <a:solidFill>
                    <a:schemeClr val="dk1"/>
                  </a:solidFill>
                  <a:latin typeface="+mj-lt"/>
                  <a:ea typeface="+mj-ea"/>
                  <a:cs typeface="+mj-cs"/>
                </a:rPr>
                <a:t>smallest error</a:t>
              </a:r>
            </a:p>
          </p:txBody>
        </p:sp>
      </p:grpSp>
      <p:grpSp>
        <p:nvGrpSpPr>
          <p:cNvPr id="9" name="chart-panel"/>
          <p:cNvGrpSpPr/>
          <p:nvPr/>
        </p:nvGrpSpPr>
        <p:grpSpPr>
          <a:xfrm>
            <a:off x="533400" y="2482850"/>
            <a:ext cx="11049000" cy="3517900"/>
            <a:chOff x="533400" y="2482850"/>
            <a:chExt cx="11049000" cy="3517900"/>
          </a:xfrm>
        </p:grpSpPr>
        <p:sp>
          <p:nvSpPr>
            <p:cNvPr id="7" name="TextBox 7"/>
            <p:cNvSpPr txBox="1"/>
            <p:nvPr/>
          </p:nvSpPr>
          <p:spPr>
            <a:xfrm>
              <a:off x="601218" y="2482850"/>
              <a:ext cx="865425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Average error · arrivals per market per month · tested on past data, as if live</a:t>
              </a:r>
            </a:p>
          </p:txBody>
        </p:sp>
        <p:graphicFrame>
          <p:nvGraphicFramePr>
            <p:cNvPr id="8" name="mae-by-model"/>
            <p:cNvGraphicFramePr>
              <a:graphicFrameLocks noGrp="1"/>
            </p:cNvGraphicFramePr>
            <p:nvPr/>
          </p:nvGraphicFramePr>
          <p:xfrm>
            <a:off x="533400" y="2857500"/>
            <a:ext cx="11049000" cy="3143250"/>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13" name="radar-mark"/>
          <p:cNvGrpSpPr/>
          <p:nvPr/>
        </p:nvGrpSpPr>
        <p:grpSpPr>
          <a:xfrm>
            <a:off x="11430000" y="6096000"/>
            <a:ext cx="1524000" cy="1524000"/>
            <a:chOff x="11430000" y="6096000"/>
            <a:chExt cx="1524000" cy="1524000"/>
          </a:xfrm>
        </p:grpSpPr>
        <p:sp>
          <p:nvSpPr>
            <p:cNvPr id="10" name="Freeform 10"/>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11" name="Freeform 11"/>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12" name="Freeform 12"/>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14" name="TextBox 14"/>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07</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8-banner-photo"/>
          <p:cNvPicPr>
            <a:picLocks noChangeAspect="1"/>
          </p:cNvPicPr>
          <p:nvPr/>
        </p:nvPicPr>
        <p:blipFill>
          <a:blip r:embed="rId3"/>
          <a:srcRect l="33274"/>
          <a:stretch>
            <a:fillRect/>
          </a:stretch>
        </p:blipFill>
        <p:spPr>
          <a:xfrm>
            <a:off x="5715000" y="0"/>
            <a:ext cx="6477000" cy="2247900"/>
          </a:xfrm>
          <a:prstGeom prst="rect">
            <a:avLst/>
          </a:prstGeom>
        </p:spPr>
      </p:pic>
      <p:sp>
        <p:nvSpPr>
          <p:cNvPr id="3" name="p08-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5381625" cy="2003425"/>
            <a:chOff x="590550" y="387350"/>
            <a:chExt cx="5381625" cy="2003425"/>
          </a:xfrm>
        </p:grpSpPr>
        <p:sp>
          <p:nvSpPr>
            <p:cNvPr id="4" name="TextBox 4"/>
            <p:cNvSpPr txBox="1"/>
            <p:nvPr/>
          </p:nvSpPr>
          <p:spPr>
            <a:xfrm>
              <a:off x="601218" y="387350"/>
              <a:ext cx="2055419"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HOW FAR AHEAD</a:t>
              </a:r>
            </a:p>
          </p:txBody>
        </p:sp>
        <p:sp>
          <p:nvSpPr>
            <p:cNvPr id="5" name="TextBox 5"/>
            <p:cNvSpPr txBox="1"/>
            <p:nvPr/>
          </p:nvSpPr>
          <p:spPr>
            <a:xfrm>
              <a:off x="590550" y="742950"/>
              <a:ext cx="5381625"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Most accurate</a:t>
              </a:r>
              <a:br>
                <a:rPr lang="en" sz="4950" dirty="0">
                  <a:solidFill>
                    <a:schemeClr val="dk1"/>
                  </a:solidFill>
                  <a:latin typeface="+mj-lt"/>
                  <a:ea typeface="+mj-ea"/>
                  <a:cs typeface="+mj-cs"/>
                </a:rPr>
              </a:br>
              <a:r>
                <a:rPr lang="en" sz="4950" dirty="0">
                  <a:solidFill>
                    <a:schemeClr val="dk1"/>
                  </a:solidFill>
                  <a:latin typeface="+mj-lt"/>
                  <a:ea typeface="+mj-ea"/>
                  <a:cs typeface="+mj-cs"/>
                </a:rPr>
                <a:t>1–2 months ahead</a:t>
              </a:r>
            </a:p>
          </p:txBody>
        </p:sp>
      </p:grpSp>
      <p:grpSp>
        <p:nvGrpSpPr>
          <p:cNvPr id="24" name="horizon-tiles"/>
          <p:cNvGrpSpPr/>
          <p:nvPr/>
        </p:nvGrpSpPr>
        <p:grpSpPr>
          <a:xfrm>
            <a:off x="601218" y="2482850"/>
            <a:ext cx="10981182" cy="1698625"/>
            <a:chOff x="601218" y="2482850"/>
            <a:chExt cx="10981182" cy="1698625"/>
          </a:xfrm>
        </p:grpSpPr>
        <p:sp>
          <p:nvSpPr>
            <p:cNvPr id="7" name="TextBox 7"/>
            <p:cNvSpPr txBox="1"/>
            <p:nvPr/>
          </p:nvSpPr>
          <p:spPr>
            <a:xfrm>
              <a:off x="601218" y="2482850"/>
              <a:ext cx="456798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LightGBM average error, by months ahead</a:t>
              </a:r>
            </a:p>
          </p:txBody>
        </p:sp>
        <p:grpSp>
          <p:nvGrpSpPr>
            <p:cNvPr id="11" name="tile-month-1"/>
            <p:cNvGrpSpPr/>
            <p:nvPr/>
          </p:nvGrpSpPr>
          <p:grpSpPr>
            <a:xfrm>
              <a:off x="609600" y="2857500"/>
              <a:ext cx="2571750" cy="1323975"/>
              <a:chOff x="609600" y="2857500"/>
              <a:chExt cx="2571750" cy="1323975"/>
            </a:xfrm>
          </p:grpSpPr>
          <p:sp>
            <p:nvSpPr>
              <p:cNvPr id="8" name="Rectangle 8"/>
              <p:cNvSpPr/>
              <p:nvPr/>
            </p:nvSpPr>
            <p:spPr>
              <a:xfrm>
                <a:off x="609600" y="2857500"/>
                <a:ext cx="2571750" cy="1143000"/>
              </a:xfrm>
              <a:prstGeom prst="roundRect">
                <a:avLst>
                  <a:gd name="adj" fmla="val 6667"/>
                </a:avLst>
              </a:prstGeom>
              <a:solidFill>
                <a:schemeClr val="accent3">
                  <a:alpha val="14000"/>
                </a:schemeClr>
              </a:solidFill>
              <a:ln>
                <a:noFill/>
              </a:ln>
            </p:spPr>
            <p:txBody>
              <a:bodyPr/>
              <a:lstStyle/>
              <a:p>
                <a:endParaRPr lang="en-US"/>
              </a:p>
            </p:txBody>
          </p:sp>
          <p:sp>
            <p:nvSpPr>
              <p:cNvPr id="9" name="TextBox 9"/>
              <p:cNvSpPr txBox="1"/>
              <p:nvPr/>
            </p:nvSpPr>
            <p:spPr>
              <a:xfrm>
                <a:off x="788670" y="2978150"/>
                <a:ext cx="118689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Month 1</a:t>
                </a:r>
              </a:p>
            </p:txBody>
          </p:sp>
          <p:sp>
            <p:nvSpPr>
              <p:cNvPr id="10" name="TextBox 10"/>
              <p:cNvSpPr txBox="1"/>
              <p:nvPr/>
            </p:nvSpPr>
            <p:spPr>
              <a:xfrm>
                <a:off x="781050" y="3219450"/>
                <a:ext cx="2361590"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11,817</a:t>
                </a:r>
              </a:p>
            </p:txBody>
          </p:sp>
        </p:grpSp>
        <p:grpSp>
          <p:nvGrpSpPr>
            <p:cNvPr id="15" name="tile-month-2"/>
            <p:cNvGrpSpPr/>
            <p:nvPr/>
          </p:nvGrpSpPr>
          <p:grpSpPr>
            <a:xfrm>
              <a:off x="3409950" y="2857500"/>
              <a:ext cx="2571750" cy="1323975"/>
              <a:chOff x="3409950" y="2857500"/>
              <a:chExt cx="2571750" cy="1323975"/>
            </a:xfrm>
          </p:grpSpPr>
          <p:sp>
            <p:nvSpPr>
              <p:cNvPr id="12" name="Rectangle 12"/>
              <p:cNvSpPr/>
              <p:nvPr/>
            </p:nvSpPr>
            <p:spPr>
              <a:xfrm>
                <a:off x="3409950" y="2857500"/>
                <a:ext cx="2571750" cy="1143000"/>
              </a:xfrm>
              <a:prstGeom prst="roundRect">
                <a:avLst>
                  <a:gd name="adj" fmla="val 6667"/>
                </a:avLst>
              </a:prstGeom>
              <a:solidFill>
                <a:schemeClr val="accent3">
                  <a:alpha val="14000"/>
                </a:schemeClr>
              </a:solidFill>
              <a:ln>
                <a:noFill/>
              </a:ln>
            </p:spPr>
            <p:txBody>
              <a:bodyPr/>
              <a:lstStyle/>
              <a:p>
                <a:endParaRPr lang="en-US"/>
              </a:p>
            </p:txBody>
          </p:sp>
          <p:sp>
            <p:nvSpPr>
              <p:cNvPr id="13" name="TextBox 13"/>
              <p:cNvSpPr txBox="1"/>
              <p:nvPr/>
            </p:nvSpPr>
            <p:spPr>
              <a:xfrm>
                <a:off x="3589020" y="2978150"/>
                <a:ext cx="118689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Month 2</a:t>
                </a:r>
              </a:p>
            </p:txBody>
          </p:sp>
          <p:sp>
            <p:nvSpPr>
              <p:cNvPr id="14" name="TextBox 14"/>
              <p:cNvSpPr txBox="1"/>
              <p:nvPr/>
            </p:nvSpPr>
            <p:spPr>
              <a:xfrm>
                <a:off x="3581400" y="3219450"/>
                <a:ext cx="1974342"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9,571</a:t>
                </a:r>
              </a:p>
            </p:txBody>
          </p:sp>
        </p:grpSp>
        <p:grpSp>
          <p:nvGrpSpPr>
            <p:cNvPr id="19" name="tile-month-3"/>
            <p:cNvGrpSpPr/>
            <p:nvPr/>
          </p:nvGrpSpPr>
          <p:grpSpPr>
            <a:xfrm>
              <a:off x="6210300" y="2857500"/>
              <a:ext cx="2571750" cy="1323975"/>
              <a:chOff x="6210300" y="2857500"/>
              <a:chExt cx="2571750" cy="1323975"/>
            </a:xfrm>
          </p:grpSpPr>
          <p:sp>
            <p:nvSpPr>
              <p:cNvPr id="16" name="Rectangle 16"/>
              <p:cNvSpPr/>
              <p:nvPr/>
            </p:nvSpPr>
            <p:spPr>
              <a:xfrm>
                <a:off x="6210300" y="2857500"/>
                <a:ext cx="2571750" cy="1143000"/>
              </a:xfrm>
              <a:prstGeom prst="roundRect">
                <a:avLst>
                  <a:gd name="adj" fmla="val 6667"/>
                </a:avLst>
              </a:prstGeom>
              <a:solidFill>
                <a:schemeClr val="lt2"/>
              </a:solidFill>
              <a:ln w="9525">
                <a:solidFill>
                  <a:schemeClr val="accent6"/>
                </a:solidFill>
              </a:ln>
            </p:spPr>
            <p:txBody>
              <a:bodyPr/>
              <a:lstStyle/>
              <a:p>
                <a:endParaRPr lang="en-US"/>
              </a:p>
            </p:txBody>
          </p:sp>
          <p:sp>
            <p:nvSpPr>
              <p:cNvPr id="17" name="TextBox 17"/>
              <p:cNvSpPr txBox="1"/>
              <p:nvPr/>
            </p:nvSpPr>
            <p:spPr>
              <a:xfrm>
                <a:off x="6389370" y="2978150"/>
                <a:ext cx="118689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Month 3</a:t>
                </a:r>
              </a:p>
            </p:txBody>
          </p:sp>
          <p:sp>
            <p:nvSpPr>
              <p:cNvPr id="18" name="TextBox 18"/>
              <p:cNvSpPr txBox="1"/>
              <p:nvPr/>
            </p:nvSpPr>
            <p:spPr>
              <a:xfrm>
                <a:off x="6381750" y="3219450"/>
                <a:ext cx="2361590"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21,504</a:t>
                </a:r>
              </a:p>
            </p:txBody>
          </p:sp>
        </p:grpSp>
        <p:grpSp>
          <p:nvGrpSpPr>
            <p:cNvPr id="23" name="tile-month-4"/>
            <p:cNvGrpSpPr/>
            <p:nvPr/>
          </p:nvGrpSpPr>
          <p:grpSpPr>
            <a:xfrm>
              <a:off x="9010650" y="2857500"/>
              <a:ext cx="2571750" cy="1323975"/>
              <a:chOff x="9010650" y="2857500"/>
              <a:chExt cx="2571750" cy="1323975"/>
            </a:xfrm>
          </p:grpSpPr>
          <p:sp>
            <p:nvSpPr>
              <p:cNvPr id="20" name="Rectangle 20"/>
              <p:cNvSpPr/>
              <p:nvPr/>
            </p:nvSpPr>
            <p:spPr>
              <a:xfrm>
                <a:off x="9010650" y="2857500"/>
                <a:ext cx="2571750" cy="1143000"/>
              </a:xfrm>
              <a:prstGeom prst="roundRect">
                <a:avLst>
                  <a:gd name="adj" fmla="val 6667"/>
                </a:avLst>
              </a:prstGeom>
              <a:solidFill>
                <a:schemeClr val="lt2"/>
              </a:solidFill>
              <a:ln w="9525">
                <a:solidFill>
                  <a:schemeClr val="accent6"/>
                </a:solidFill>
              </a:ln>
            </p:spPr>
            <p:txBody>
              <a:bodyPr/>
              <a:lstStyle/>
              <a:p>
                <a:endParaRPr lang="en-US"/>
              </a:p>
            </p:txBody>
          </p:sp>
          <p:sp>
            <p:nvSpPr>
              <p:cNvPr id="21" name="TextBox 21"/>
              <p:cNvSpPr txBox="1"/>
              <p:nvPr/>
            </p:nvSpPr>
            <p:spPr>
              <a:xfrm>
                <a:off x="9189720" y="2978150"/>
                <a:ext cx="1186891" cy="440055"/>
              </a:xfrm>
              <a:prstGeom prst="rect">
                <a:avLst/>
              </a:prstGeom>
              <a:noFill/>
              <a:ln>
                <a:noFill/>
              </a:ln>
            </p:spPr>
            <p:txBody>
              <a:bodyPr wrap="none" lIns="0" tIns="0" rIns="0" bIns="0" anchor="t" anchorCtr="0">
                <a:spAutoFit/>
              </a:bodyPr>
              <a:lstStyle/>
              <a:p>
                <a:pPr algn="l"/>
                <a:r>
                  <a:rPr lang="en" sz="2250" dirty="0">
                    <a:solidFill>
                      <a:schemeClr val="accent5"/>
                    </a:solidFill>
                    <a:latin typeface="+mn-lt"/>
                    <a:ea typeface="+mn-ea"/>
                    <a:cs typeface="+mn-cs"/>
                  </a:rPr>
                  <a:t>Month 4</a:t>
                </a:r>
              </a:p>
            </p:txBody>
          </p:sp>
          <p:sp>
            <p:nvSpPr>
              <p:cNvPr id="22" name="TextBox 22"/>
              <p:cNvSpPr txBox="1"/>
              <p:nvPr/>
            </p:nvSpPr>
            <p:spPr>
              <a:xfrm>
                <a:off x="9182100" y="3219450"/>
                <a:ext cx="2361590"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20,983</a:t>
                </a:r>
              </a:p>
            </p:txBody>
          </p:sp>
        </p:grpSp>
      </p:grpSp>
      <p:grpSp>
        <p:nvGrpSpPr>
          <p:cNvPr id="29" name="horizon-brackets"/>
          <p:cNvGrpSpPr/>
          <p:nvPr/>
        </p:nvGrpSpPr>
        <p:grpSpPr>
          <a:xfrm>
            <a:off x="609600" y="4152900"/>
            <a:ext cx="10972800" cy="2800350"/>
            <a:chOff x="609600" y="4152900"/>
            <a:chExt cx="10972800" cy="2800350"/>
          </a:xfrm>
        </p:grpSpPr>
        <p:sp>
          <p:nvSpPr>
            <p:cNvPr id="25" name="Freeform 25"/>
            <p:cNvSpPr/>
            <p:nvPr/>
          </p:nvSpPr>
          <p:spPr>
            <a:xfrm rot="5400000">
              <a:off x="3181350" y="1581150"/>
              <a:ext cx="228600" cy="5372100"/>
            </a:xfrm>
            <a:prstGeom prst="rightBracket">
              <a:avLst/>
            </a:prstGeom>
            <a:noFill/>
            <a:ln w="28575">
              <a:solidFill>
                <a:schemeClr val="accent3"/>
              </a:solidFill>
            </a:ln>
          </p:spPr>
          <p:txBody>
            <a:bodyPr/>
            <a:lstStyle/>
            <a:p>
              <a:endParaRPr lang="en-US"/>
            </a:p>
          </p:txBody>
        </p:sp>
        <p:sp>
          <p:nvSpPr>
            <p:cNvPr id="26" name="Freeform 26"/>
            <p:cNvSpPr/>
            <p:nvPr/>
          </p:nvSpPr>
          <p:spPr>
            <a:xfrm rot="5400000">
              <a:off x="8782050" y="1581150"/>
              <a:ext cx="228600" cy="5372100"/>
            </a:xfrm>
            <a:prstGeom prst="rightBracket">
              <a:avLst/>
            </a:prstGeom>
            <a:noFill/>
            <a:ln w="28575">
              <a:solidFill>
                <a:srgbClr val="8A94AB"/>
              </a:solidFill>
            </a:ln>
          </p:spPr>
          <p:txBody>
            <a:bodyPr/>
            <a:lstStyle/>
            <a:p>
              <a:endParaRPr lang="en-US"/>
            </a:p>
          </p:txBody>
        </p:sp>
        <p:sp>
          <p:nvSpPr>
            <p:cNvPr id="27" name="TextBox 27"/>
            <p:cNvSpPr txBox="1"/>
            <p:nvPr/>
          </p:nvSpPr>
          <p:spPr>
            <a:xfrm>
              <a:off x="2063029" y="4514850"/>
              <a:ext cx="2465241"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under 12,000</a:t>
              </a:r>
            </a:p>
          </p:txBody>
        </p:sp>
        <p:sp>
          <p:nvSpPr>
            <p:cNvPr id="28" name="TextBox 28"/>
            <p:cNvSpPr txBox="1"/>
            <p:nvPr/>
          </p:nvSpPr>
          <p:spPr>
            <a:xfrm>
              <a:off x="7711688" y="4514850"/>
              <a:ext cx="2369325" cy="557403"/>
            </a:xfrm>
            <a:prstGeom prst="rect">
              <a:avLst/>
            </a:prstGeom>
            <a:noFill/>
            <a:ln>
              <a:noFill/>
            </a:ln>
          </p:spPr>
          <p:txBody>
            <a:bodyPr wrap="none" lIns="0" tIns="0" rIns="0" bIns="0" anchor="t" anchorCtr="0">
              <a:spAutoFit/>
            </a:bodyPr>
            <a:lstStyle/>
            <a:p>
              <a:pPr algn="ctr"/>
              <a:r>
                <a:rPr lang="en" sz="2850" dirty="0">
                  <a:solidFill>
                    <a:schemeClr val="dk1"/>
                  </a:solidFill>
                  <a:latin typeface="+mn-lt"/>
                  <a:ea typeface="+mn-ea"/>
                  <a:cs typeface="+mn-cs"/>
                </a:rPr>
                <a:t>about double</a:t>
              </a:r>
            </a:p>
          </p:txBody>
        </p:sp>
      </p:grpSp>
      <p:grpSp>
        <p:nvGrpSpPr>
          <p:cNvPr id="36" name="covid-note"/>
          <p:cNvGrpSpPr/>
          <p:nvPr/>
        </p:nvGrpSpPr>
        <p:grpSpPr>
          <a:xfrm>
            <a:off x="609600" y="5353050"/>
            <a:ext cx="6781800" cy="685800"/>
            <a:chOff x="609600" y="5353050"/>
            <a:chExt cx="6781800" cy="685800"/>
          </a:xfrm>
        </p:grpSpPr>
        <p:sp>
          <p:nvSpPr>
            <p:cNvPr id="30" name="Rectangle 30"/>
            <p:cNvSpPr/>
            <p:nvPr/>
          </p:nvSpPr>
          <p:spPr>
            <a:xfrm>
              <a:off x="609600" y="5353050"/>
              <a:ext cx="6781800" cy="685800"/>
            </a:xfrm>
            <a:prstGeom prst="roundRect">
              <a:avLst>
                <a:gd name="adj" fmla="val 11111"/>
              </a:avLst>
            </a:prstGeom>
            <a:solidFill>
              <a:schemeClr val="lt2"/>
            </a:solidFill>
            <a:ln w="9525">
              <a:solidFill>
                <a:schemeClr val="accent6"/>
              </a:solidFill>
            </a:ln>
          </p:spPr>
          <p:txBody>
            <a:bodyPr/>
            <a:lstStyle/>
            <a:p>
              <a:endParaRPr lang="en-US"/>
            </a:p>
          </p:txBody>
        </p:sp>
        <p:grpSp>
          <p:nvGrpSpPr>
            <p:cNvPr id="34" name="Group 34"/>
            <p:cNvGrpSpPr/>
            <p:nvPr/>
          </p:nvGrpSpPr>
          <p:grpSpPr>
            <a:xfrm>
              <a:off x="843469" y="5577431"/>
              <a:ext cx="256151" cy="220068"/>
              <a:chOff x="843469" y="5577431"/>
              <a:chExt cx="256151" cy="220068"/>
            </a:xfrm>
          </p:grpSpPr>
          <p:sp>
            <p:nvSpPr>
              <p:cNvPr id="31" name="Freeform 31"/>
              <p:cNvSpPr/>
              <p:nvPr/>
            </p:nvSpPr>
            <p:spPr>
              <a:xfrm>
                <a:off x="971550" y="5657850"/>
                <a:ext cx="9525" cy="50800"/>
              </a:xfrm>
              <a:custGeom>
                <a:avLst/>
                <a:gdLst/>
                <a:ahLst/>
                <a:cxnLst/>
                <a:rect l="l" t="t" r="r" b="b"/>
                <a:pathLst>
                  <a:path w="9525" h="50800">
                    <a:moveTo>
                      <a:pt x="0" y="0"/>
                    </a:moveTo>
                    <a:lnTo>
                      <a:pt x="0" y="50800"/>
                    </a:lnTo>
                  </a:path>
                </a:pathLst>
              </a:custGeom>
              <a:noFill/>
              <a:ln w="25400">
                <a:solidFill>
                  <a:srgbClr val="8A6A12"/>
                </a:solidFill>
              </a:ln>
            </p:spPr>
            <p:txBody>
              <a:bodyPr/>
              <a:lstStyle/>
              <a:p>
                <a:endParaRPr lang="en-US"/>
              </a:p>
            </p:txBody>
          </p:sp>
          <p:sp>
            <p:nvSpPr>
              <p:cNvPr id="32" name="Freeform 32"/>
              <p:cNvSpPr/>
              <p:nvPr/>
            </p:nvSpPr>
            <p:spPr>
              <a:xfrm>
                <a:off x="843469" y="5577431"/>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rgbClr val="8A6A12"/>
                </a:solidFill>
              </a:ln>
            </p:spPr>
            <p:txBody>
              <a:bodyPr/>
              <a:lstStyle/>
              <a:p>
                <a:endParaRPr lang="en-US"/>
              </a:p>
            </p:txBody>
          </p:sp>
          <p:sp>
            <p:nvSpPr>
              <p:cNvPr id="33" name="Freeform 33"/>
              <p:cNvSpPr/>
              <p:nvPr/>
            </p:nvSpPr>
            <p:spPr>
              <a:xfrm>
                <a:off x="971550" y="5746749"/>
                <a:ext cx="9525" cy="9525"/>
              </a:xfrm>
              <a:custGeom>
                <a:avLst/>
                <a:gdLst/>
                <a:ahLst/>
                <a:cxnLst/>
                <a:rect l="l" t="t" r="r" b="b"/>
                <a:pathLst>
                  <a:path w="9525" h="9525">
                    <a:moveTo>
                      <a:pt x="0" y="0"/>
                    </a:moveTo>
                    <a:lnTo>
                      <a:pt x="127" y="0"/>
                    </a:lnTo>
                  </a:path>
                </a:pathLst>
              </a:custGeom>
              <a:noFill/>
              <a:ln w="25400">
                <a:solidFill>
                  <a:srgbClr val="8A6A12"/>
                </a:solidFill>
              </a:ln>
            </p:spPr>
            <p:txBody>
              <a:bodyPr/>
              <a:lstStyle/>
              <a:p>
                <a:endParaRPr lang="en-US"/>
              </a:p>
            </p:txBody>
          </p:sp>
        </p:grpSp>
        <p:sp>
          <p:nvSpPr>
            <p:cNvPr id="35" name="TextBox 35"/>
            <p:cNvSpPr txBox="1"/>
            <p:nvPr/>
          </p:nvSpPr>
          <p:spPr>
            <a:xfrm>
              <a:off x="1264920" y="5521325"/>
              <a:ext cx="5915471"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During COVID, repeating last month won</a:t>
              </a:r>
            </a:p>
          </p:txBody>
        </p:sp>
      </p:grpSp>
      <p:grpSp>
        <p:nvGrpSpPr>
          <p:cNvPr id="40" name="radar-mark"/>
          <p:cNvGrpSpPr/>
          <p:nvPr/>
        </p:nvGrpSpPr>
        <p:grpSpPr>
          <a:xfrm>
            <a:off x="11430000" y="6096000"/>
            <a:ext cx="1524000" cy="1524000"/>
            <a:chOff x="11430000" y="6096000"/>
            <a:chExt cx="1524000" cy="1524000"/>
          </a:xfrm>
        </p:grpSpPr>
        <p:sp>
          <p:nvSpPr>
            <p:cNvPr id="37" name="Freeform 37"/>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38" name="Freeform 38"/>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39" name="Freeform 39"/>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1" name="TextBox 41"/>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08</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
                                  </p:stCondLst>
                                  <p:childTnLst>
                                    <p:set>
                                      <p:cBhvr>
                                        <p:cTn id="6" dur="1" fill="hold">
                                          <p:stCondLst>
                                            <p:cond delay="0"/>
                                          </p:stCondLst>
                                        </p:cTn>
                                        <p:tgtEl>
                                          <p:spTgt spid="24"/>
                                        </p:tgtEl>
                                        <p:attrNameLst>
                                          <p:attrName>style.visibility</p:attrName>
                                        </p:attrNameLst>
                                      </p:cBhvr>
                                      <p:to>
                                        <p:strVal val="visible"/>
                                      </p:to>
                                    </p:set>
                                    <p:animEffect transition="in" filter="wipe(right)">
                                      <p:cBhvr>
                                        <p:cTn id="7" dur="500"/>
                                        <p:tgtEl>
                                          <p:spTgt spid="24"/>
                                        </p:tgtEl>
                                      </p:cBhvr>
                                    </p:animEffect>
                                  </p:childTnLst>
                                </p:cTn>
                              </p:par>
                            </p:childTnLst>
                          </p:cTn>
                        </p:par>
                        <p:par>
                          <p:cTn id="8" fill="hold">
                            <p:stCondLst>
                              <p:cond delay="700"/>
                            </p:stCondLst>
                            <p:childTnLst>
                              <p:par>
                                <p:cTn id="9" presetID="10" presetClass="entr" presetSubtype="0" fill="hold"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09-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09-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4564380" cy="2003425"/>
            <a:chOff x="590550" y="387350"/>
            <a:chExt cx="4564380" cy="2003425"/>
          </a:xfrm>
        </p:grpSpPr>
        <p:sp>
          <p:nvSpPr>
            <p:cNvPr id="4" name="TextBox 4"/>
            <p:cNvSpPr txBox="1"/>
            <p:nvPr/>
          </p:nvSpPr>
          <p:spPr>
            <a:xfrm>
              <a:off x="601218" y="387350"/>
              <a:ext cx="2849118"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POWER BI DASHBOARD</a:t>
              </a:r>
            </a:p>
          </p:txBody>
        </p:sp>
        <p:sp>
          <p:nvSpPr>
            <p:cNvPr id="5" name="TextBox 5"/>
            <p:cNvSpPr txBox="1"/>
            <p:nvPr/>
          </p:nvSpPr>
          <p:spPr>
            <a:xfrm>
              <a:off x="590550" y="742950"/>
              <a:ext cx="4564380"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Live demo:</a:t>
              </a:r>
              <a:br>
                <a:rPr lang="en" sz="4950" dirty="0">
                  <a:solidFill>
                    <a:schemeClr val="dk1"/>
                  </a:solidFill>
                  <a:latin typeface="+mj-lt"/>
                  <a:ea typeface="+mj-ea"/>
                  <a:cs typeface="+mj-cs"/>
                </a:rPr>
              </a:br>
              <a:r>
                <a:rPr lang="en" sz="4950" dirty="0">
                  <a:solidFill>
                    <a:schemeClr val="dk1"/>
                  </a:solidFill>
                  <a:latin typeface="+mj-lt"/>
                  <a:ea typeface="+mj-ea"/>
                  <a:cs typeface="+mj-cs"/>
                </a:rPr>
                <a:t>four questions</a:t>
              </a:r>
            </a:p>
          </p:txBody>
        </p:sp>
      </p:grpSp>
      <p:grpSp>
        <p:nvGrpSpPr>
          <p:cNvPr id="11" name="demo-start"/>
          <p:cNvGrpSpPr/>
          <p:nvPr/>
        </p:nvGrpSpPr>
        <p:grpSpPr>
          <a:xfrm>
            <a:off x="609600" y="2514600"/>
            <a:ext cx="4572000" cy="376682"/>
            <a:chOff x="609600" y="2514600"/>
            <a:chExt cx="4572000" cy="376682"/>
          </a:xfrm>
        </p:grpSpPr>
        <p:sp>
          <p:nvSpPr>
            <p:cNvPr id="7" name="Rectangle 7"/>
            <p:cNvSpPr/>
            <p:nvPr/>
          </p:nvSpPr>
          <p:spPr>
            <a:xfrm>
              <a:off x="609600" y="2514600"/>
              <a:ext cx="2038350" cy="361950"/>
            </a:xfrm>
            <a:prstGeom prst="roundRect">
              <a:avLst>
                <a:gd name="adj" fmla="val 50000"/>
              </a:avLst>
            </a:prstGeom>
            <a:solidFill>
              <a:schemeClr val="lt2"/>
            </a:solidFill>
            <a:ln w="9525">
              <a:solidFill>
                <a:schemeClr val="accent6"/>
              </a:solidFill>
            </a:ln>
          </p:spPr>
          <p:txBody>
            <a:bodyPr/>
            <a:lstStyle/>
            <a:p>
              <a:endParaRPr lang="en-US"/>
            </a:p>
          </p:txBody>
        </p:sp>
        <p:sp>
          <p:nvSpPr>
            <p:cNvPr id="8" name="TextBox 8"/>
            <p:cNvSpPr txBox="1"/>
            <p:nvPr/>
          </p:nvSpPr>
          <p:spPr>
            <a:xfrm>
              <a:off x="707359" y="2568575"/>
              <a:ext cx="1842831"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Start: Overview</a:t>
              </a:r>
            </a:p>
          </p:txBody>
        </p:sp>
        <p:sp>
          <p:nvSpPr>
            <p:cNvPr id="9" name="Rectangle 9"/>
            <p:cNvSpPr/>
            <p:nvPr/>
          </p:nvSpPr>
          <p:spPr>
            <a:xfrm>
              <a:off x="2781300" y="2514600"/>
              <a:ext cx="2400300" cy="361950"/>
            </a:xfrm>
            <a:prstGeom prst="roundRect">
              <a:avLst>
                <a:gd name="adj" fmla="val 50000"/>
              </a:avLst>
            </a:prstGeom>
            <a:solidFill>
              <a:schemeClr val="lt2"/>
            </a:solidFill>
            <a:ln w="9525">
              <a:solidFill>
                <a:schemeClr val="accent6"/>
              </a:solidFill>
            </a:ln>
          </p:spPr>
          <p:txBody>
            <a:bodyPr/>
            <a:lstStyle/>
            <a:p>
              <a:endParaRPr lang="en-US"/>
            </a:p>
          </p:txBody>
        </p:sp>
        <p:sp>
          <p:nvSpPr>
            <p:cNvPr id="10" name="TextBox 10"/>
            <p:cNvSpPr txBox="1"/>
            <p:nvPr/>
          </p:nvSpPr>
          <p:spPr>
            <a:xfrm>
              <a:off x="2879112" y="2568575"/>
              <a:ext cx="2204676"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20 modelled markets</a:t>
              </a:r>
            </a:p>
          </p:txBody>
        </p:sp>
      </p:grpSp>
      <p:grpSp>
        <p:nvGrpSpPr>
          <p:cNvPr id="17" name="beat-1"/>
          <p:cNvGrpSpPr/>
          <p:nvPr/>
        </p:nvGrpSpPr>
        <p:grpSpPr>
          <a:xfrm>
            <a:off x="609600" y="3143250"/>
            <a:ext cx="6019800" cy="446405"/>
            <a:chOff x="609600" y="3143250"/>
            <a:chExt cx="6019800" cy="446405"/>
          </a:xfrm>
        </p:grpSpPr>
        <p:sp>
          <p:nvSpPr>
            <p:cNvPr id="12" name="Ellipse 12"/>
            <p:cNvSpPr/>
            <p:nvPr/>
          </p:nvSpPr>
          <p:spPr>
            <a:xfrm>
              <a:off x="609600" y="3143250"/>
              <a:ext cx="381000" cy="381000"/>
            </a:xfrm>
            <a:prstGeom prst="ellipse">
              <a:avLst/>
            </a:prstGeom>
            <a:solidFill>
              <a:schemeClr val="accent1"/>
            </a:solidFill>
            <a:ln>
              <a:noFill/>
            </a:ln>
          </p:spPr>
          <p:txBody>
            <a:bodyPr/>
            <a:lstStyle/>
            <a:p>
              <a:endParaRPr lang="en-US"/>
            </a:p>
          </p:txBody>
        </p:sp>
        <p:sp>
          <p:nvSpPr>
            <p:cNvPr id="13" name="TextBox 13"/>
            <p:cNvSpPr txBox="1"/>
            <p:nvPr/>
          </p:nvSpPr>
          <p:spPr>
            <a:xfrm>
              <a:off x="730634" y="3206750"/>
              <a:ext cx="138932" cy="322707"/>
            </a:xfrm>
            <a:prstGeom prst="rect">
              <a:avLst/>
            </a:prstGeom>
            <a:noFill/>
            <a:ln>
              <a:noFill/>
            </a:ln>
          </p:spPr>
          <p:txBody>
            <a:bodyPr wrap="none" lIns="0" tIns="0" rIns="0" bIns="0" anchor="t" anchorCtr="0">
              <a:spAutoFit/>
            </a:bodyPr>
            <a:lstStyle/>
            <a:p>
              <a:pPr algn="ctr"/>
              <a:r>
                <a:rPr lang="en" sz="1650" dirty="0">
                  <a:solidFill>
                    <a:srgbClr val="F5F7FB"/>
                  </a:solidFill>
                  <a:latin typeface="Segoe UI Semibold"/>
                  <a:ea typeface="Segoe UI Semibold"/>
                  <a:cs typeface="Segoe UI Semibold"/>
                </a:rPr>
                <a:t>1</a:t>
              </a:r>
            </a:p>
          </p:txBody>
        </p:sp>
        <p:sp>
          <p:nvSpPr>
            <p:cNvPr id="14" name="TextBox 14"/>
            <p:cNvSpPr txBox="1"/>
            <p:nvPr/>
          </p:nvSpPr>
          <p:spPr>
            <a:xfrm>
              <a:off x="1131570" y="3149600"/>
              <a:ext cx="3486722"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Which markets matter?</a:t>
              </a:r>
            </a:p>
          </p:txBody>
        </p:sp>
        <p:sp>
          <p:nvSpPr>
            <p:cNvPr id="15" name="Rectangle 15"/>
            <p:cNvSpPr/>
            <p:nvPr/>
          </p:nvSpPr>
          <p:spPr>
            <a:xfrm>
              <a:off x="4724400" y="3162300"/>
              <a:ext cx="1905000" cy="342900"/>
            </a:xfrm>
            <a:prstGeom prst="roundRect">
              <a:avLst>
                <a:gd name="adj" fmla="val 50000"/>
              </a:avLst>
            </a:prstGeom>
            <a:solidFill>
              <a:schemeClr val="accent3">
                <a:alpha val="16000"/>
              </a:schemeClr>
            </a:solidFill>
            <a:ln>
              <a:noFill/>
            </a:ln>
          </p:spPr>
          <p:txBody>
            <a:bodyPr/>
            <a:lstStyle/>
            <a:p>
              <a:endParaRPr lang="en-US"/>
            </a:p>
          </p:txBody>
        </p:sp>
        <p:sp>
          <p:nvSpPr>
            <p:cNvPr id="16" name="TextBox 16"/>
            <p:cNvSpPr txBox="1"/>
            <p:nvPr/>
          </p:nvSpPr>
          <p:spPr>
            <a:xfrm>
              <a:off x="4806429" y="3206750"/>
              <a:ext cx="1740941"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Market Analysis</a:t>
              </a:r>
            </a:p>
          </p:txBody>
        </p:sp>
      </p:grpSp>
      <p:grpSp>
        <p:nvGrpSpPr>
          <p:cNvPr id="23" name="beat-2"/>
          <p:cNvGrpSpPr/>
          <p:nvPr/>
        </p:nvGrpSpPr>
        <p:grpSpPr>
          <a:xfrm>
            <a:off x="609600" y="3752850"/>
            <a:ext cx="6019800" cy="446405"/>
            <a:chOff x="609600" y="3752850"/>
            <a:chExt cx="6019800" cy="446405"/>
          </a:xfrm>
        </p:grpSpPr>
        <p:sp>
          <p:nvSpPr>
            <p:cNvPr id="18" name="Ellipse 18"/>
            <p:cNvSpPr/>
            <p:nvPr/>
          </p:nvSpPr>
          <p:spPr>
            <a:xfrm>
              <a:off x="609600" y="3752850"/>
              <a:ext cx="381000" cy="381000"/>
            </a:xfrm>
            <a:prstGeom prst="ellipse">
              <a:avLst/>
            </a:prstGeom>
            <a:solidFill>
              <a:schemeClr val="accent1"/>
            </a:solidFill>
            <a:ln>
              <a:noFill/>
            </a:ln>
          </p:spPr>
          <p:txBody>
            <a:bodyPr/>
            <a:lstStyle/>
            <a:p>
              <a:endParaRPr lang="en-US"/>
            </a:p>
          </p:txBody>
        </p:sp>
        <p:sp>
          <p:nvSpPr>
            <p:cNvPr id="19" name="TextBox 19"/>
            <p:cNvSpPr txBox="1"/>
            <p:nvPr/>
          </p:nvSpPr>
          <p:spPr>
            <a:xfrm>
              <a:off x="730634" y="3816350"/>
              <a:ext cx="138932" cy="322707"/>
            </a:xfrm>
            <a:prstGeom prst="rect">
              <a:avLst/>
            </a:prstGeom>
            <a:noFill/>
            <a:ln>
              <a:noFill/>
            </a:ln>
          </p:spPr>
          <p:txBody>
            <a:bodyPr wrap="none" lIns="0" tIns="0" rIns="0" bIns="0" anchor="t" anchorCtr="0">
              <a:spAutoFit/>
            </a:bodyPr>
            <a:lstStyle/>
            <a:p>
              <a:pPr algn="ctr"/>
              <a:r>
                <a:rPr lang="en" sz="1650" dirty="0">
                  <a:solidFill>
                    <a:srgbClr val="F5F7FB"/>
                  </a:solidFill>
                  <a:latin typeface="Segoe UI Semibold"/>
                  <a:ea typeface="Segoe UI Semibold"/>
                  <a:cs typeface="Segoe UI Semibold"/>
                </a:rPr>
                <a:t>2</a:t>
              </a:r>
            </a:p>
          </p:txBody>
        </p:sp>
        <p:sp>
          <p:nvSpPr>
            <p:cNvPr id="20" name="TextBox 20"/>
            <p:cNvSpPr txBox="1"/>
            <p:nvPr/>
          </p:nvSpPr>
          <p:spPr>
            <a:xfrm>
              <a:off x="1131570" y="3759200"/>
              <a:ext cx="3183457"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What moves arrivals?</a:t>
              </a:r>
            </a:p>
          </p:txBody>
        </p:sp>
        <p:sp>
          <p:nvSpPr>
            <p:cNvPr id="21" name="Rectangle 21"/>
            <p:cNvSpPr/>
            <p:nvPr/>
          </p:nvSpPr>
          <p:spPr>
            <a:xfrm>
              <a:off x="4724400" y="3771900"/>
              <a:ext cx="1905000" cy="342900"/>
            </a:xfrm>
            <a:prstGeom prst="roundRect">
              <a:avLst>
                <a:gd name="adj" fmla="val 50000"/>
              </a:avLst>
            </a:prstGeom>
            <a:solidFill>
              <a:schemeClr val="accent3">
                <a:alpha val="16000"/>
              </a:schemeClr>
            </a:solidFill>
            <a:ln>
              <a:noFill/>
            </a:ln>
          </p:spPr>
          <p:txBody>
            <a:bodyPr/>
            <a:lstStyle/>
            <a:p>
              <a:endParaRPr lang="en-US"/>
            </a:p>
          </p:txBody>
        </p:sp>
        <p:sp>
          <p:nvSpPr>
            <p:cNvPr id="22" name="TextBox 22"/>
            <p:cNvSpPr txBox="1"/>
            <p:nvPr/>
          </p:nvSpPr>
          <p:spPr>
            <a:xfrm>
              <a:off x="4806429" y="3816350"/>
              <a:ext cx="1740941"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Tourism Drivers</a:t>
              </a:r>
            </a:p>
          </p:txBody>
        </p:sp>
      </p:grpSp>
      <p:grpSp>
        <p:nvGrpSpPr>
          <p:cNvPr id="29" name="beat-3"/>
          <p:cNvGrpSpPr/>
          <p:nvPr/>
        </p:nvGrpSpPr>
        <p:grpSpPr>
          <a:xfrm>
            <a:off x="609600" y="4362450"/>
            <a:ext cx="6019800" cy="446405"/>
            <a:chOff x="609600" y="4362450"/>
            <a:chExt cx="6019800" cy="446405"/>
          </a:xfrm>
        </p:grpSpPr>
        <p:sp>
          <p:nvSpPr>
            <p:cNvPr id="24" name="Ellipse 24"/>
            <p:cNvSpPr/>
            <p:nvPr/>
          </p:nvSpPr>
          <p:spPr>
            <a:xfrm>
              <a:off x="609600" y="4362450"/>
              <a:ext cx="381000" cy="381000"/>
            </a:xfrm>
            <a:prstGeom prst="ellipse">
              <a:avLst/>
            </a:prstGeom>
            <a:solidFill>
              <a:schemeClr val="accent1"/>
            </a:solidFill>
            <a:ln>
              <a:noFill/>
            </a:ln>
          </p:spPr>
          <p:txBody>
            <a:bodyPr/>
            <a:lstStyle/>
            <a:p>
              <a:endParaRPr lang="en-US"/>
            </a:p>
          </p:txBody>
        </p:sp>
        <p:sp>
          <p:nvSpPr>
            <p:cNvPr id="25" name="TextBox 25"/>
            <p:cNvSpPr txBox="1"/>
            <p:nvPr/>
          </p:nvSpPr>
          <p:spPr>
            <a:xfrm>
              <a:off x="730634" y="4425950"/>
              <a:ext cx="138932" cy="322707"/>
            </a:xfrm>
            <a:prstGeom prst="rect">
              <a:avLst/>
            </a:prstGeom>
            <a:noFill/>
            <a:ln>
              <a:noFill/>
            </a:ln>
          </p:spPr>
          <p:txBody>
            <a:bodyPr wrap="none" lIns="0" tIns="0" rIns="0" bIns="0" anchor="t" anchorCtr="0">
              <a:spAutoFit/>
            </a:bodyPr>
            <a:lstStyle/>
            <a:p>
              <a:pPr algn="ctr"/>
              <a:r>
                <a:rPr lang="en" sz="1650" dirty="0">
                  <a:solidFill>
                    <a:srgbClr val="F5F7FB"/>
                  </a:solidFill>
                  <a:latin typeface="Segoe UI Semibold"/>
                  <a:ea typeface="Segoe UI Semibold"/>
                  <a:cs typeface="Segoe UI Semibold"/>
                </a:rPr>
                <a:t>3</a:t>
              </a:r>
            </a:p>
          </p:txBody>
        </p:sp>
        <p:sp>
          <p:nvSpPr>
            <p:cNvPr id="26" name="TextBox 26"/>
            <p:cNvSpPr txBox="1"/>
            <p:nvPr/>
          </p:nvSpPr>
          <p:spPr>
            <a:xfrm>
              <a:off x="1131570" y="4368800"/>
              <a:ext cx="326010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What do we forecast?</a:t>
              </a:r>
            </a:p>
          </p:txBody>
        </p:sp>
        <p:sp>
          <p:nvSpPr>
            <p:cNvPr id="27" name="Rectangle 27"/>
            <p:cNvSpPr/>
            <p:nvPr/>
          </p:nvSpPr>
          <p:spPr>
            <a:xfrm>
              <a:off x="4724400" y="4381500"/>
              <a:ext cx="1905000" cy="342900"/>
            </a:xfrm>
            <a:prstGeom prst="roundRect">
              <a:avLst>
                <a:gd name="adj" fmla="val 50000"/>
              </a:avLst>
            </a:prstGeom>
            <a:solidFill>
              <a:schemeClr val="accent3">
                <a:alpha val="16000"/>
              </a:schemeClr>
            </a:solidFill>
            <a:ln>
              <a:noFill/>
            </a:ln>
          </p:spPr>
          <p:txBody>
            <a:bodyPr/>
            <a:lstStyle/>
            <a:p>
              <a:endParaRPr lang="en-US"/>
            </a:p>
          </p:txBody>
        </p:sp>
        <p:sp>
          <p:nvSpPr>
            <p:cNvPr id="28" name="TextBox 28"/>
            <p:cNvSpPr txBox="1"/>
            <p:nvPr/>
          </p:nvSpPr>
          <p:spPr>
            <a:xfrm>
              <a:off x="5176390" y="4425950"/>
              <a:ext cx="1001020"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Forecast</a:t>
              </a:r>
            </a:p>
          </p:txBody>
        </p:sp>
      </p:grpSp>
      <p:grpSp>
        <p:nvGrpSpPr>
          <p:cNvPr id="35" name="beat-4"/>
          <p:cNvGrpSpPr/>
          <p:nvPr/>
        </p:nvGrpSpPr>
        <p:grpSpPr>
          <a:xfrm>
            <a:off x="609600" y="4972050"/>
            <a:ext cx="6019800" cy="446405"/>
            <a:chOff x="609600" y="4972050"/>
            <a:chExt cx="6019800" cy="446405"/>
          </a:xfrm>
        </p:grpSpPr>
        <p:sp>
          <p:nvSpPr>
            <p:cNvPr id="30" name="Ellipse 30"/>
            <p:cNvSpPr/>
            <p:nvPr/>
          </p:nvSpPr>
          <p:spPr>
            <a:xfrm>
              <a:off x="609600" y="4972050"/>
              <a:ext cx="381000" cy="381000"/>
            </a:xfrm>
            <a:prstGeom prst="ellipse">
              <a:avLst/>
            </a:prstGeom>
            <a:solidFill>
              <a:schemeClr val="accent1"/>
            </a:solidFill>
            <a:ln>
              <a:noFill/>
            </a:ln>
          </p:spPr>
          <p:txBody>
            <a:bodyPr/>
            <a:lstStyle/>
            <a:p>
              <a:endParaRPr lang="en-US"/>
            </a:p>
          </p:txBody>
        </p:sp>
        <p:sp>
          <p:nvSpPr>
            <p:cNvPr id="31" name="TextBox 31"/>
            <p:cNvSpPr txBox="1"/>
            <p:nvPr/>
          </p:nvSpPr>
          <p:spPr>
            <a:xfrm>
              <a:off x="730634" y="5035550"/>
              <a:ext cx="138932" cy="322707"/>
            </a:xfrm>
            <a:prstGeom prst="rect">
              <a:avLst/>
            </a:prstGeom>
            <a:noFill/>
            <a:ln>
              <a:noFill/>
            </a:ln>
          </p:spPr>
          <p:txBody>
            <a:bodyPr wrap="none" lIns="0" tIns="0" rIns="0" bIns="0" anchor="t" anchorCtr="0">
              <a:spAutoFit/>
            </a:bodyPr>
            <a:lstStyle/>
            <a:p>
              <a:pPr algn="ctr"/>
              <a:r>
                <a:rPr lang="en" sz="1650" dirty="0">
                  <a:solidFill>
                    <a:srgbClr val="F5F7FB"/>
                  </a:solidFill>
                  <a:latin typeface="Segoe UI Semibold"/>
                  <a:ea typeface="Segoe UI Semibold"/>
                  <a:cs typeface="Segoe UI Semibold"/>
                </a:rPr>
                <a:t>4</a:t>
              </a:r>
            </a:p>
          </p:txBody>
        </p:sp>
        <p:sp>
          <p:nvSpPr>
            <p:cNvPr id="32" name="TextBox 32"/>
            <p:cNvSpPr txBox="1"/>
            <p:nvPr/>
          </p:nvSpPr>
          <p:spPr>
            <a:xfrm>
              <a:off x="1131570" y="4978400"/>
              <a:ext cx="2880817"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How accurate is it?</a:t>
              </a:r>
            </a:p>
          </p:txBody>
        </p:sp>
        <p:sp>
          <p:nvSpPr>
            <p:cNvPr id="33" name="Rectangle 33"/>
            <p:cNvSpPr/>
            <p:nvPr/>
          </p:nvSpPr>
          <p:spPr>
            <a:xfrm>
              <a:off x="4724400" y="4991100"/>
              <a:ext cx="1905000" cy="342900"/>
            </a:xfrm>
            <a:prstGeom prst="roundRect">
              <a:avLst>
                <a:gd name="adj" fmla="val 50000"/>
              </a:avLst>
            </a:prstGeom>
            <a:solidFill>
              <a:schemeClr val="accent3">
                <a:alpha val="16000"/>
              </a:schemeClr>
            </a:solidFill>
            <a:ln>
              <a:noFill/>
            </a:ln>
          </p:spPr>
          <p:txBody>
            <a:bodyPr/>
            <a:lstStyle/>
            <a:p>
              <a:endParaRPr lang="en-US"/>
            </a:p>
          </p:txBody>
        </p:sp>
        <p:sp>
          <p:nvSpPr>
            <p:cNvPr id="34" name="TextBox 34"/>
            <p:cNvSpPr txBox="1"/>
            <p:nvPr/>
          </p:nvSpPr>
          <p:spPr>
            <a:xfrm>
              <a:off x="5176390" y="5035550"/>
              <a:ext cx="1001020"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Forecast</a:t>
              </a:r>
            </a:p>
          </p:txBody>
        </p:sp>
      </p:grpSp>
      <p:grpSp>
        <p:nvGrpSpPr>
          <p:cNvPr id="38" name="demo-backup-link"/>
          <p:cNvGrpSpPr/>
          <p:nvPr/>
        </p:nvGrpSpPr>
        <p:grpSpPr>
          <a:xfrm>
            <a:off x="609600" y="5734050"/>
            <a:ext cx="1866900" cy="386207"/>
            <a:chOff x="609600" y="5734050"/>
            <a:chExt cx="1866900" cy="386207"/>
          </a:xfrm>
        </p:grpSpPr>
        <p:sp>
          <p:nvSpPr>
            <p:cNvPr id="36" name="Rectangle 36">
              <a:hlinkClick r:id="rId4" action="ppaction://hlinksldjump"/>
            </p:cNvPr>
            <p:cNvSpPr/>
            <p:nvPr/>
          </p:nvSpPr>
          <p:spPr>
            <a:xfrm>
              <a:off x="609600" y="5734050"/>
              <a:ext cx="186690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37" name="TextBox 37">
              <a:hlinkClick r:id="rId4" action="ppaction://hlinksldjump"/>
            </p:cNvPr>
            <p:cNvSpPr txBox="1"/>
            <p:nvPr/>
          </p:nvSpPr>
          <p:spPr>
            <a:xfrm>
              <a:off x="769590" y="5797550"/>
              <a:ext cx="1546919"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Demo backup ▸</a:t>
              </a:r>
            </a:p>
          </p:txBody>
        </p:sp>
      </p:grpSp>
      <p:grpSp>
        <p:nvGrpSpPr>
          <p:cNvPr id="45" name="dashboard-frame"/>
          <p:cNvGrpSpPr/>
          <p:nvPr/>
        </p:nvGrpSpPr>
        <p:grpSpPr>
          <a:xfrm>
            <a:off x="6858000" y="2495550"/>
            <a:ext cx="4724400" cy="3657600"/>
            <a:chOff x="6858000" y="2495550"/>
            <a:chExt cx="4724400" cy="3657600"/>
          </a:xfrm>
        </p:grpSpPr>
        <p:sp>
          <p:nvSpPr>
            <p:cNvPr id="39" name="Rectangle 39"/>
            <p:cNvSpPr/>
            <p:nvPr/>
          </p:nvSpPr>
          <p:spPr>
            <a:xfrm>
              <a:off x="6858000" y="2495550"/>
              <a:ext cx="4724400" cy="3657600"/>
            </a:xfrm>
            <a:prstGeom prst="roundRect">
              <a:avLst>
                <a:gd name="adj" fmla="val 2083"/>
              </a:avLst>
            </a:prstGeom>
            <a:solidFill>
              <a:schemeClr val="lt2"/>
            </a:solidFill>
            <a:ln w="9525">
              <a:solidFill>
                <a:schemeClr val="accent6"/>
              </a:solidFill>
            </a:ln>
          </p:spPr>
          <p:txBody>
            <a:bodyPr/>
            <a:lstStyle/>
            <a:p>
              <a:endParaRPr lang="en-US"/>
            </a:p>
          </p:txBody>
        </p:sp>
        <p:sp>
          <p:nvSpPr>
            <p:cNvPr id="40" name="Ellipse 40"/>
            <p:cNvSpPr/>
            <p:nvPr/>
          </p:nvSpPr>
          <p:spPr>
            <a:xfrm>
              <a:off x="7000875" y="2638425"/>
              <a:ext cx="95250" cy="95250"/>
            </a:xfrm>
            <a:prstGeom prst="ellipse">
              <a:avLst/>
            </a:prstGeom>
            <a:solidFill>
              <a:schemeClr val="accent6"/>
            </a:solidFill>
            <a:ln>
              <a:noFill/>
            </a:ln>
          </p:spPr>
          <p:txBody>
            <a:bodyPr/>
            <a:lstStyle/>
            <a:p>
              <a:endParaRPr lang="en-US"/>
            </a:p>
          </p:txBody>
        </p:sp>
        <p:sp>
          <p:nvSpPr>
            <p:cNvPr id="41" name="Ellipse 41"/>
            <p:cNvSpPr/>
            <p:nvPr/>
          </p:nvSpPr>
          <p:spPr>
            <a:xfrm>
              <a:off x="7153275" y="2638425"/>
              <a:ext cx="95250" cy="95250"/>
            </a:xfrm>
            <a:prstGeom prst="ellipse">
              <a:avLst/>
            </a:prstGeom>
            <a:solidFill>
              <a:schemeClr val="accent6"/>
            </a:solidFill>
            <a:ln>
              <a:noFill/>
            </a:ln>
          </p:spPr>
          <p:txBody>
            <a:bodyPr/>
            <a:lstStyle/>
            <a:p>
              <a:endParaRPr lang="en-US"/>
            </a:p>
          </p:txBody>
        </p:sp>
        <p:sp>
          <p:nvSpPr>
            <p:cNvPr id="42" name="Ellipse 42"/>
            <p:cNvSpPr/>
            <p:nvPr/>
          </p:nvSpPr>
          <p:spPr>
            <a:xfrm>
              <a:off x="7305675" y="2638425"/>
              <a:ext cx="95250" cy="95250"/>
            </a:xfrm>
            <a:prstGeom prst="ellipse">
              <a:avLst/>
            </a:prstGeom>
            <a:solidFill>
              <a:schemeClr val="accent6"/>
            </a:solidFill>
            <a:ln>
              <a:noFill/>
            </a:ln>
          </p:spPr>
          <p:txBody>
            <a:bodyPr/>
            <a:lstStyle/>
            <a:p>
              <a:endParaRPr lang="en-US"/>
            </a:p>
          </p:txBody>
        </p:sp>
        <p:sp>
          <p:nvSpPr>
            <p:cNvPr id="43" name="Ellipse 43"/>
            <p:cNvSpPr/>
            <p:nvPr/>
          </p:nvSpPr>
          <p:spPr>
            <a:xfrm>
              <a:off x="10877550" y="2628900"/>
              <a:ext cx="114300" cy="114300"/>
            </a:xfrm>
            <a:prstGeom prst="ellipse">
              <a:avLst/>
            </a:prstGeom>
            <a:solidFill>
              <a:srgbClr val="E21F26"/>
            </a:solidFill>
            <a:ln>
              <a:noFill/>
            </a:ln>
          </p:spPr>
          <p:txBody>
            <a:bodyPr/>
            <a:lstStyle/>
            <a:p>
              <a:endParaRPr lang="en-US"/>
            </a:p>
          </p:txBody>
        </p:sp>
        <p:sp>
          <p:nvSpPr>
            <p:cNvPr id="44" name="TextBox 44"/>
            <p:cNvSpPr txBox="1"/>
            <p:nvPr/>
          </p:nvSpPr>
          <p:spPr>
            <a:xfrm>
              <a:off x="11059668" y="2559050"/>
              <a:ext cx="474421"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LIVE</a:t>
              </a:r>
            </a:p>
          </p:txBody>
        </p:sp>
      </p:grpSp>
      <p:grpSp>
        <p:nvGrpSpPr>
          <p:cNvPr id="47" name="shot-overview"/>
          <p:cNvGrpSpPr/>
          <p:nvPr/>
        </p:nvGrpSpPr>
        <p:grpSpPr>
          <a:xfrm>
            <a:off x="7001461" y="2895600"/>
            <a:ext cx="2151479" cy="1485900"/>
            <a:chOff x="7001461" y="2895600"/>
            <a:chExt cx="2151479" cy="1485900"/>
          </a:xfrm>
        </p:grpSpPr>
        <p:pic>
          <p:nvPicPr>
            <p:cNvPr id="46" name="Image 46"/>
            <p:cNvPicPr>
              <a:picLocks noChangeAspect="1"/>
            </p:cNvPicPr>
            <p:nvPr/>
          </p:nvPicPr>
          <p:blipFill>
            <a:blip r:embed="rId5"/>
            <a:stretch>
              <a:fillRect/>
            </a:stretch>
          </p:blipFill>
          <p:spPr>
            <a:xfrm>
              <a:off x="7001461" y="2895600"/>
              <a:ext cx="2151479" cy="1485900"/>
            </a:xfrm>
            <a:prstGeom prst="rect">
              <a:avLst/>
            </a:prstGeom>
          </p:spPr>
        </p:pic>
      </p:grpSp>
      <p:grpSp>
        <p:nvGrpSpPr>
          <p:cNvPr id="49" name="shot-market"/>
          <p:cNvGrpSpPr/>
          <p:nvPr/>
        </p:nvGrpSpPr>
        <p:grpSpPr>
          <a:xfrm>
            <a:off x="9284754" y="2895600"/>
            <a:ext cx="2156891" cy="1485900"/>
            <a:chOff x="9284754" y="2895600"/>
            <a:chExt cx="2156891" cy="1485900"/>
          </a:xfrm>
        </p:grpSpPr>
        <p:pic>
          <p:nvPicPr>
            <p:cNvPr id="48" name="Image 48"/>
            <p:cNvPicPr>
              <a:picLocks noChangeAspect="1"/>
            </p:cNvPicPr>
            <p:nvPr/>
          </p:nvPicPr>
          <p:blipFill>
            <a:blip r:embed="rId6"/>
            <a:stretch>
              <a:fillRect/>
            </a:stretch>
          </p:blipFill>
          <p:spPr>
            <a:xfrm>
              <a:off x="9284754" y="2895600"/>
              <a:ext cx="2156891" cy="1485900"/>
            </a:xfrm>
            <a:prstGeom prst="rect">
              <a:avLst/>
            </a:prstGeom>
          </p:spPr>
        </p:pic>
      </p:grpSp>
      <p:grpSp>
        <p:nvGrpSpPr>
          <p:cNvPr id="51" name="shot-drivers"/>
          <p:cNvGrpSpPr/>
          <p:nvPr/>
        </p:nvGrpSpPr>
        <p:grpSpPr>
          <a:xfrm>
            <a:off x="7000109" y="4495800"/>
            <a:ext cx="2154182" cy="1485900"/>
            <a:chOff x="7000109" y="4495800"/>
            <a:chExt cx="2154182" cy="1485900"/>
          </a:xfrm>
        </p:grpSpPr>
        <p:pic>
          <p:nvPicPr>
            <p:cNvPr id="50" name="Image 50"/>
            <p:cNvPicPr>
              <a:picLocks noChangeAspect="1"/>
            </p:cNvPicPr>
            <p:nvPr/>
          </p:nvPicPr>
          <p:blipFill>
            <a:blip r:embed="rId7"/>
            <a:stretch>
              <a:fillRect/>
            </a:stretch>
          </p:blipFill>
          <p:spPr>
            <a:xfrm>
              <a:off x="7000109" y="4495800"/>
              <a:ext cx="2154182" cy="1485900"/>
            </a:xfrm>
            <a:prstGeom prst="rect">
              <a:avLst/>
            </a:prstGeom>
          </p:spPr>
        </p:pic>
      </p:grpSp>
      <p:grpSp>
        <p:nvGrpSpPr>
          <p:cNvPr id="53" name="shot-forecast"/>
          <p:cNvGrpSpPr/>
          <p:nvPr/>
        </p:nvGrpSpPr>
        <p:grpSpPr>
          <a:xfrm>
            <a:off x="9286623" y="4495800"/>
            <a:ext cx="2153153" cy="1485900"/>
            <a:chOff x="9286623" y="4495800"/>
            <a:chExt cx="2153153" cy="1485900"/>
          </a:xfrm>
        </p:grpSpPr>
        <p:pic>
          <p:nvPicPr>
            <p:cNvPr id="52" name="Image 52"/>
            <p:cNvPicPr>
              <a:picLocks noChangeAspect="1"/>
            </p:cNvPicPr>
            <p:nvPr/>
          </p:nvPicPr>
          <p:blipFill>
            <a:blip r:embed="rId8"/>
            <a:stretch>
              <a:fillRect/>
            </a:stretch>
          </p:blipFill>
          <p:spPr>
            <a:xfrm>
              <a:off x="9286623" y="4495800"/>
              <a:ext cx="2153153" cy="1485900"/>
            </a:xfrm>
            <a:prstGeom prst="rect">
              <a:avLst/>
            </a:prstGeom>
          </p:spPr>
        </p:pic>
      </p:grpSp>
      <p:grpSp>
        <p:nvGrpSpPr>
          <p:cNvPr id="57" name="radar-mark"/>
          <p:cNvGrpSpPr/>
          <p:nvPr/>
        </p:nvGrpSpPr>
        <p:grpSpPr>
          <a:xfrm>
            <a:off x="11430000" y="6096000"/>
            <a:ext cx="1524000" cy="1524000"/>
            <a:chOff x="11430000" y="6096000"/>
            <a:chExt cx="1524000" cy="1524000"/>
          </a:xfrm>
        </p:grpSpPr>
        <p:sp>
          <p:nvSpPr>
            <p:cNvPr id="54" name="Freeform 54"/>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55" name="Freeform 55"/>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56" name="Freeform 56"/>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58" name="TextBox 58"/>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09</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200"/>
                            </p:stCondLst>
                            <p:childTnLst>
                              <p:par>
                                <p:cTn id="9" presetID="10"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childTnLst>
                          </p:cTn>
                        </p:par>
                        <p:par>
                          <p:cTn id="12" fill="hold">
                            <p:stCondLst>
                              <p:cond delay="200"/>
                            </p:stCondLst>
                            <p:childTnLst>
                              <p:par>
                                <p:cTn id="13" presetID="23" presetClass="entr" presetSubtype="16"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p:cTn id="15" dur="500" fill="hold"/>
                                        <p:tgtEl>
                                          <p:spTgt spid="47"/>
                                        </p:tgtEl>
                                        <p:attrNameLst>
                                          <p:attrName>ppt_w</p:attrName>
                                        </p:attrNameLst>
                                      </p:cBhvr>
                                      <p:tavLst>
                                        <p:tav tm="0">
                                          <p:val>
                                            <p:fltVal val="0"/>
                                          </p:val>
                                        </p:tav>
                                        <p:tav tm="100000">
                                          <p:val>
                                            <p:strVal val="#ppt_w"/>
                                          </p:val>
                                        </p:tav>
                                      </p:tavLst>
                                    </p:anim>
                                    <p:anim calcmode="lin" valueType="num">
                                      <p:cBhvr>
                                        <p:cTn id="16" dur="500" fill="hold"/>
                                        <p:tgtEl>
                                          <p:spTgt spid="47"/>
                                        </p:tgtEl>
                                        <p:attrNameLst>
                                          <p:attrName>ppt_h</p:attrName>
                                        </p:attrNameLst>
                                      </p:cBhvr>
                                      <p:tavLst>
                                        <p:tav tm="0">
                                          <p:val>
                                            <p:fltVal val="0"/>
                                          </p:val>
                                        </p:tav>
                                        <p:tav tm="100000">
                                          <p:val>
                                            <p:strVal val="#ppt_h"/>
                                          </p:val>
                                        </p:tav>
                                      </p:tavLst>
                                    </p:anim>
                                  </p:childTnLst>
                                </p:cTn>
                              </p:par>
                            </p:childTnLst>
                          </p:cTn>
                        </p:par>
                        <p:par>
                          <p:cTn id="17" fill="hold">
                            <p:stCondLst>
                              <p:cond delay="700"/>
                            </p:stCondLst>
                            <p:childTnLst>
                              <p:par>
                                <p:cTn id="18" presetID="22" presetClass="entr" presetSubtype="2" fill="hold" nodeType="afterEffect">
                                  <p:stCondLst>
                                    <p:cond delay="500"/>
                                  </p:stCondLst>
                                  <p:childTnLst>
                                    <p:set>
                                      <p:cBhvr>
                                        <p:cTn id="19" dur="1" fill="hold">
                                          <p:stCondLst>
                                            <p:cond delay="0"/>
                                          </p:stCondLst>
                                        </p:cTn>
                                        <p:tgtEl>
                                          <p:spTgt spid="17"/>
                                        </p:tgtEl>
                                        <p:attrNameLst>
                                          <p:attrName>style.visibility</p:attrName>
                                        </p:attrNameLst>
                                      </p:cBhvr>
                                      <p:to>
                                        <p:strVal val="visible"/>
                                      </p:to>
                                    </p:set>
                                    <p:animEffect transition="in" filter="wipe(right)">
                                      <p:cBhvr>
                                        <p:cTn id="20" dur="500"/>
                                        <p:tgtEl>
                                          <p:spTgt spid="17"/>
                                        </p:tgtEl>
                                      </p:cBhvr>
                                    </p:animEffect>
                                  </p:childTnLst>
                                </p:cTn>
                              </p:par>
                            </p:childTnLst>
                          </p:cTn>
                        </p:par>
                        <p:par>
                          <p:cTn id="21" fill="hold">
                            <p:stCondLst>
                              <p:cond delay="1200"/>
                            </p:stCondLst>
                            <p:childTnLst>
                              <p:par>
                                <p:cTn id="22" presetID="23" presetClass="entr" presetSubtype="16" fill="hold" nodeType="with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p:cTn id="24" dur="500" fill="hold"/>
                                        <p:tgtEl>
                                          <p:spTgt spid="49"/>
                                        </p:tgtEl>
                                        <p:attrNameLst>
                                          <p:attrName>ppt_w</p:attrName>
                                        </p:attrNameLst>
                                      </p:cBhvr>
                                      <p:tavLst>
                                        <p:tav tm="0">
                                          <p:val>
                                            <p:fltVal val="0"/>
                                          </p:val>
                                        </p:tav>
                                        <p:tav tm="100000">
                                          <p:val>
                                            <p:strVal val="#ppt_w"/>
                                          </p:val>
                                        </p:tav>
                                      </p:tavLst>
                                    </p:anim>
                                    <p:anim calcmode="lin" valueType="num">
                                      <p:cBhvr>
                                        <p:cTn id="25" dur="500" fill="hold"/>
                                        <p:tgtEl>
                                          <p:spTgt spid="49"/>
                                        </p:tgtEl>
                                        <p:attrNameLst>
                                          <p:attrName>ppt_h</p:attrName>
                                        </p:attrNameLst>
                                      </p:cBhvr>
                                      <p:tavLst>
                                        <p:tav tm="0">
                                          <p:val>
                                            <p:fltVal val="0"/>
                                          </p:val>
                                        </p:tav>
                                        <p:tav tm="100000">
                                          <p:val>
                                            <p:strVal val="#ppt_h"/>
                                          </p:val>
                                        </p:tav>
                                      </p:tavLst>
                                    </p:anim>
                                  </p:childTnLst>
                                </p:cTn>
                              </p:par>
                            </p:childTnLst>
                          </p:cTn>
                        </p:par>
                        <p:par>
                          <p:cTn id="26" fill="hold">
                            <p:stCondLst>
                              <p:cond delay="1700"/>
                            </p:stCondLst>
                            <p:childTnLst>
                              <p:par>
                                <p:cTn id="27" presetID="22" presetClass="entr" presetSubtype="2" fill="hold" nodeType="afterEffect">
                                  <p:stCondLst>
                                    <p:cond delay="500"/>
                                  </p:stCondLst>
                                  <p:childTnLst>
                                    <p:set>
                                      <p:cBhvr>
                                        <p:cTn id="28" dur="1" fill="hold">
                                          <p:stCondLst>
                                            <p:cond delay="0"/>
                                          </p:stCondLst>
                                        </p:cTn>
                                        <p:tgtEl>
                                          <p:spTgt spid="23"/>
                                        </p:tgtEl>
                                        <p:attrNameLst>
                                          <p:attrName>style.visibility</p:attrName>
                                        </p:attrNameLst>
                                      </p:cBhvr>
                                      <p:to>
                                        <p:strVal val="visible"/>
                                      </p:to>
                                    </p:set>
                                    <p:animEffect transition="in" filter="wipe(right)">
                                      <p:cBhvr>
                                        <p:cTn id="29" dur="500"/>
                                        <p:tgtEl>
                                          <p:spTgt spid="23"/>
                                        </p:tgtEl>
                                      </p:cBhvr>
                                    </p:animEffect>
                                  </p:childTnLst>
                                </p:cTn>
                              </p:par>
                            </p:childTnLst>
                          </p:cTn>
                        </p:par>
                        <p:par>
                          <p:cTn id="30" fill="hold">
                            <p:stCondLst>
                              <p:cond delay="2200"/>
                            </p:stCondLst>
                            <p:childTnLst>
                              <p:par>
                                <p:cTn id="31" presetID="23" presetClass="entr" presetSubtype="16"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anim calcmode="lin" valueType="num">
                                      <p:cBhvr>
                                        <p:cTn id="33" dur="500" fill="hold"/>
                                        <p:tgtEl>
                                          <p:spTgt spid="51"/>
                                        </p:tgtEl>
                                        <p:attrNameLst>
                                          <p:attrName>ppt_w</p:attrName>
                                        </p:attrNameLst>
                                      </p:cBhvr>
                                      <p:tavLst>
                                        <p:tav tm="0">
                                          <p:val>
                                            <p:fltVal val="0"/>
                                          </p:val>
                                        </p:tav>
                                        <p:tav tm="100000">
                                          <p:val>
                                            <p:strVal val="#ppt_w"/>
                                          </p:val>
                                        </p:tav>
                                      </p:tavLst>
                                    </p:anim>
                                    <p:anim calcmode="lin" valueType="num">
                                      <p:cBhvr>
                                        <p:cTn id="34" dur="500" fill="hold"/>
                                        <p:tgtEl>
                                          <p:spTgt spid="51"/>
                                        </p:tgtEl>
                                        <p:attrNameLst>
                                          <p:attrName>ppt_h</p:attrName>
                                        </p:attrNameLst>
                                      </p:cBhvr>
                                      <p:tavLst>
                                        <p:tav tm="0">
                                          <p:val>
                                            <p:fltVal val="0"/>
                                          </p:val>
                                        </p:tav>
                                        <p:tav tm="100000">
                                          <p:val>
                                            <p:strVal val="#ppt_h"/>
                                          </p:val>
                                        </p:tav>
                                      </p:tavLst>
                                    </p:anim>
                                  </p:childTnLst>
                                </p:cTn>
                              </p:par>
                            </p:childTnLst>
                          </p:cTn>
                        </p:par>
                        <p:par>
                          <p:cTn id="35" fill="hold">
                            <p:stCondLst>
                              <p:cond delay="2700"/>
                            </p:stCondLst>
                            <p:childTnLst>
                              <p:par>
                                <p:cTn id="36" presetID="22" presetClass="entr" presetSubtype="2" fill="hold" nodeType="afterEffect">
                                  <p:stCondLst>
                                    <p:cond delay="500"/>
                                  </p:stCondLst>
                                  <p:childTnLst>
                                    <p:set>
                                      <p:cBhvr>
                                        <p:cTn id="37" dur="1" fill="hold">
                                          <p:stCondLst>
                                            <p:cond delay="0"/>
                                          </p:stCondLst>
                                        </p:cTn>
                                        <p:tgtEl>
                                          <p:spTgt spid="29"/>
                                        </p:tgtEl>
                                        <p:attrNameLst>
                                          <p:attrName>style.visibility</p:attrName>
                                        </p:attrNameLst>
                                      </p:cBhvr>
                                      <p:to>
                                        <p:strVal val="visible"/>
                                      </p:to>
                                    </p:set>
                                    <p:animEffect transition="in" filter="wipe(right)">
                                      <p:cBhvr>
                                        <p:cTn id="38" dur="500"/>
                                        <p:tgtEl>
                                          <p:spTgt spid="29"/>
                                        </p:tgtEl>
                                      </p:cBhvr>
                                    </p:animEffect>
                                  </p:childTnLst>
                                </p:cTn>
                              </p:par>
                            </p:childTnLst>
                          </p:cTn>
                        </p:par>
                        <p:par>
                          <p:cTn id="39" fill="hold">
                            <p:stCondLst>
                              <p:cond delay="3200"/>
                            </p:stCondLst>
                            <p:childTnLst>
                              <p:par>
                                <p:cTn id="40" presetID="23" presetClass="entr" presetSubtype="16"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 calcmode="lin" valueType="num">
                                      <p:cBhvr>
                                        <p:cTn id="42" dur="500" fill="hold"/>
                                        <p:tgtEl>
                                          <p:spTgt spid="53"/>
                                        </p:tgtEl>
                                        <p:attrNameLst>
                                          <p:attrName>ppt_w</p:attrName>
                                        </p:attrNameLst>
                                      </p:cBhvr>
                                      <p:tavLst>
                                        <p:tav tm="0">
                                          <p:val>
                                            <p:fltVal val="0"/>
                                          </p:val>
                                        </p:tav>
                                        <p:tav tm="100000">
                                          <p:val>
                                            <p:strVal val="#ppt_w"/>
                                          </p:val>
                                        </p:tav>
                                      </p:tavLst>
                                    </p:anim>
                                    <p:anim calcmode="lin" valueType="num">
                                      <p:cBhvr>
                                        <p:cTn id="43" dur="500" fill="hold"/>
                                        <p:tgtEl>
                                          <p:spTgt spid="53"/>
                                        </p:tgtEl>
                                        <p:attrNameLst>
                                          <p:attrName>ppt_h</p:attrName>
                                        </p:attrNameLst>
                                      </p:cBhvr>
                                      <p:tavLst>
                                        <p:tav tm="0">
                                          <p:val>
                                            <p:fltVal val="0"/>
                                          </p:val>
                                        </p:tav>
                                        <p:tav tm="100000">
                                          <p:val>
                                            <p:strVal val="#ppt_h"/>
                                          </p:val>
                                        </p:tav>
                                      </p:tavLst>
                                    </p:anim>
                                  </p:childTnLst>
                                </p:cTn>
                              </p:par>
                            </p:childTnLst>
                          </p:cTn>
                        </p:par>
                        <p:par>
                          <p:cTn id="44" fill="hold">
                            <p:stCondLst>
                              <p:cond delay="3700"/>
                            </p:stCondLst>
                            <p:childTnLst>
                              <p:par>
                                <p:cTn id="45" presetID="22" presetClass="entr" presetSubtype="2" fill="hold" nodeType="afterEffect">
                                  <p:stCondLst>
                                    <p:cond delay="500"/>
                                  </p:stCondLst>
                                  <p:childTnLst>
                                    <p:set>
                                      <p:cBhvr>
                                        <p:cTn id="46" dur="1" fill="hold">
                                          <p:stCondLst>
                                            <p:cond delay="0"/>
                                          </p:stCondLst>
                                        </p:cTn>
                                        <p:tgtEl>
                                          <p:spTgt spid="35"/>
                                        </p:tgtEl>
                                        <p:attrNameLst>
                                          <p:attrName>style.visibility</p:attrName>
                                        </p:attrNameLst>
                                      </p:cBhvr>
                                      <p:to>
                                        <p:strVal val="visible"/>
                                      </p:to>
                                    </p:set>
                                    <p:animEffect transition="in" filter="wipe(right)">
                                      <p:cBhvr>
                                        <p:cTn id="4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0-homestay-photo"/>
          <p:cNvPicPr>
            <a:picLocks noChangeAspect="1"/>
          </p:cNvPicPr>
          <p:nvPr/>
        </p:nvPicPr>
        <p:blipFill>
          <a:blip r:embed="rId3"/>
          <a:srcRect l="77519"/>
          <a:stretch>
            <a:fillRect/>
          </a:stretch>
        </p:blipFill>
        <p:spPr>
          <a:xfrm>
            <a:off x="9429750" y="0"/>
            <a:ext cx="2762250" cy="6858000"/>
          </a:xfrm>
          <a:prstGeom prst="rect">
            <a:avLst/>
          </a:prstGeom>
        </p:spPr>
      </p:pic>
      <p:sp>
        <p:nvSpPr>
          <p:cNvPr id="3" name="p10-photo-fade"/>
          <p:cNvSpPr/>
          <p:nvPr/>
        </p:nvSpPr>
        <p:spPr>
          <a:xfrm>
            <a:off x="9429750" y="0"/>
            <a:ext cx="762000" cy="6858000"/>
          </a:xfrm>
          <a:prstGeom prst="rect">
            <a:avLst/>
          </a:prstGeom>
          <a:gradFill>
            <a:gsLst>
              <a:gs pos="0">
                <a:schemeClr val="lt1"/>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482600"/>
            <a:ext cx="5381625" cy="2003425"/>
            <a:chOff x="590550" y="482600"/>
            <a:chExt cx="5381625" cy="2003425"/>
          </a:xfrm>
        </p:grpSpPr>
        <p:sp>
          <p:nvSpPr>
            <p:cNvPr id="4" name="TextBox 4"/>
            <p:cNvSpPr txBox="1"/>
            <p:nvPr/>
          </p:nvSpPr>
          <p:spPr>
            <a:xfrm>
              <a:off x="601218" y="482600"/>
              <a:ext cx="2157832"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WHY IT MATTERS</a:t>
              </a:r>
            </a:p>
          </p:txBody>
        </p:sp>
        <p:sp>
          <p:nvSpPr>
            <p:cNvPr id="5" name="TextBox 5"/>
            <p:cNvSpPr txBox="1"/>
            <p:nvPr/>
          </p:nvSpPr>
          <p:spPr>
            <a:xfrm>
              <a:off x="590550" y="838200"/>
              <a:ext cx="5381625"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Useful, on-theme</a:t>
              </a:r>
              <a:br>
                <a:rPr lang="en" sz="4950" dirty="0">
                  <a:solidFill>
                    <a:schemeClr val="dk1"/>
                  </a:solidFill>
                  <a:latin typeface="+mj-lt"/>
                  <a:ea typeface="+mj-ea"/>
                  <a:cs typeface="+mj-cs"/>
                </a:rPr>
              </a:br>
              <a:r>
                <a:rPr lang="en" sz="4950" dirty="0">
                  <a:solidFill>
                    <a:schemeClr val="dk1"/>
                  </a:solidFill>
                  <a:latin typeface="+mj-lt"/>
                  <a:ea typeface="+mj-ea"/>
                  <a:cs typeface="+mj-cs"/>
                </a:rPr>
                <a:t>and realistic</a:t>
              </a:r>
            </a:p>
          </p:txBody>
        </p:sp>
      </p:grpSp>
      <p:sp>
        <p:nvSpPr>
          <p:cNvPr id="7" name="p10-timeline"/>
          <p:cNvSpPr/>
          <p:nvPr/>
        </p:nvSpPr>
        <p:spPr>
          <a:xfrm>
            <a:off x="609600" y="2619375"/>
            <a:ext cx="8553450" cy="28575"/>
          </a:xfrm>
          <a:prstGeom prst="rect">
            <a:avLst/>
          </a:prstGeom>
          <a:solidFill>
            <a:schemeClr val="accent2"/>
          </a:solidFill>
          <a:ln>
            <a:noFill/>
          </a:ln>
        </p:spPr>
        <p:txBody>
          <a:bodyPr/>
          <a:lstStyle/>
          <a:p>
            <a:endParaRPr lang="en-US"/>
          </a:p>
        </p:txBody>
      </p:sp>
      <p:grpSp>
        <p:nvGrpSpPr>
          <p:cNvPr id="14" name="col-useful"/>
          <p:cNvGrpSpPr/>
          <p:nvPr/>
        </p:nvGrpSpPr>
        <p:grpSpPr>
          <a:xfrm>
            <a:off x="590550" y="2562225"/>
            <a:ext cx="2532964" cy="2716530"/>
            <a:chOff x="590550" y="2562225"/>
            <a:chExt cx="2532964" cy="2716530"/>
          </a:xfrm>
        </p:grpSpPr>
        <p:sp>
          <p:nvSpPr>
            <p:cNvPr id="8" name="Ellipse 8"/>
            <p:cNvSpPr/>
            <p:nvPr/>
          </p:nvSpPr>
          <p:spPr>
            <a:xfrm>
              <a:off x="619125" y="2562225"/>
              <a:ext cx="133350" cy="133350"/>
            </a:xfrm>
            <a:prstGeom prst="ellipse">
              <a:avLst/>
            </a:prstGeom>
            <a:solidFill>
              <a:schemeClr val="accent2"/>
            </a:solidFill>
            <a:ln>
              <a:noFill/>
            </a:ln>
          </p:spPr>
          <p:txBody>
            <a:bodyPr/>
            <a:lstStyle/>
            <a:p>
              <a:endParaRPr lang="en-US"/>
            </a:p>
          </p:txBody>
        </p:sp>
        <p:sp>
          <p:nvSpPr>
            <p:cNvPr id="9" name="TextBox 9"/>
            <p:cNvSpPr txBox="1"/>
            <p:nvPr/>
          </p:nvSpPr>
          <p:spPr>
            <a:xfrm>
              <a:off x="590550" y="2819400"/>
              <a:ext cx="425348"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1</a:t>
              </a:r>
            </a:p>
          </p:txBody>
        </p:sp>
        <p:sp>
          <p:nvSpPr>
            <p:cNvPr id="10" name="TextBox 10"/>
            <p:cNvSpPr txBox="1"/>
            <p:nvPr/>
          </p:nvSpPr>
          <p:spPr>
            <a:xfrm>
              <a:off x="1055370" y="3054350"/>
              <a:ext cx="955405" cy="440055"/>
            </a:xfrm>
            <a:prstGeom prst="rect">
              <a:avLst/>
            </a:prstGeom>
            <a:noFill/>
            <a:ln>
              <a:noFill/>
            </a:ln>
          </p:spPr>
          <p:txBody>
            <a:bodyPr wrap="none" lIns="0" tIns="0" rIns="0" bIns="0" anchor="t" anchorCtr="0">
              <a:spAutoFit/>
            </a:bodyPr>
            <a:lstStyle/>
            <a:p>
              <a:pPr algn="l"/>
              <a:r>
                <a:rPr lang="en" sz="2250" dirty="0">
                  <a:solidFill>
                    <a:schemeClr val="dk1"/>
                  </a:solidFill>
                  <a:latin typeface="Segoe UI Semibold"/>
                  <a:ea typeface="Segoe UI Semibold"/>
                  <a:cs typeface="Segoe UI Semibold"/>
                </a:rPr>
                <a:t>Useful</a:t>
              </a:r>
            </a:p>
          </p:txBody>
        </p:sp>
        <p:sp>
          <p:nvSpPr>
            <p:cNvPr id="11" name="TextBox 11"/>
            <p:cNvSpPr txBox="1"/>
            <p:nvPr/>
          </p:nvSpPr>
          <p:spPr>
            <a:xfrm>
              <a:off x="598170" y="3625850"/>
              <a:ext cx="252534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Tourism Malaysia</a:t>
              </a:r>
            </a:p>
          </p:txBody>
        </p:sp>
        <p:sp>
          <p:nvSpPr>
            <p:cNvPr id="12" name="TextBox 12"/>
            <p:cNvSpPr txBox="1"/>
            <p:nvPr/>
          </p:nvSpPr>
          <p:spPr>
            <a:xfrm>
              <a:off x="598170" y="4064000"/>
              <a:ext cx="85496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DOSM</a:t>
              </a:r>
            </a:p>
          </p:txBody>
        </p:sp>
        <p:sp>
          <p:nvSpPr>
            <p:cNvPr id="13" name="TextBox 13"/>
            <p:cNvSpPr txBox="1"/>
            <p:nvPr/>
          </p:nvSpPr>
          <p:spPr>
            <a:xfrm>
              <a:off x="598170" y="4514850"/>
              <a:ext cx="2337435"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Hotels, airlines,</a:t>
              </a:r>
              <a:br>
                <a:rPr lang="en" sz="2250" dirty="0">
                  <a:solidFill>
                    <a:schemeClr val="dk1"/>
                  </a:solidFill>
                  <a:latin typeface="+mn-lt"/>
                  <a:ea typeface="+mn-ea"/>
                  <a:cs typeface="+mn-cs"/>
                </a:rPr>
              </a:br>
              <a:r>
                <a:rPr lang="en" sz="2250" dirty="0">
                  <a:solidFill>
                    <a:schemeClr val="dk1"/>
                  </a:solidFill>
                  <a:latin typeface="+mn-lt"/>
                  <a:ea typeface="+mn-ea"/>
                  <a:cs typeface="+mn-cs"/>
                </a:rPr>
                <a:t>homestays</a:t>
              </a:r>
            </a:p>
          </p:txBody>
        </p:sp>
      </p:grpSp>
      <p:grpSp>
        <p:nvGrpSpPr>
          <p:cNvPr id="23" name="col-on-theme"/>
          <p:cNvGrpSpPr/>
          <p:nvPr/>
        </p:nvGrpSpPr>
        <p:grpSpPr>
          <a:xfrm>
            <a:off x="3505200" y="2562225"/>
            <a:ext cx="2402205" cy="3040380"/>
            <a:chOff x="3505200" y="2562225"/>
            <a:chExt cx="2402205" cy="3040380"/>
          </a:xfrm>
        </p:grpSpPr>
        <p:sp>
          <p:nvSpPr>
            <p:cNvPr id="15" name="Ellipse 15"/>
            <p:cNvSpPr/>
            <p:nvPr/>
          </p:nvSpPr>
          <p:spPr>
            <a:xfrm>
              <a:off x="3533775" y="2562225"/>
              <a:ext cx="133350" cy="133350"/>
            </a:xfrm>
            <a:prstGeom prst="ellipse">
              <a:avLst/>
            </a:prstGeom>
            <a:solidFill>
              <a:schemeClr val="accent2"/>
            </a:solidFill>
            <a:ln>
              <a:noFill/>
            </a:ln>
          </p:spPr>
          <p:txBody>
            <a:bodyPr/>
            <a:lstStyle/>
            <a:p>
              <a:endParaRPr lang="en-US"/>
            </a:p>
          </p:txBody>
        </p:sp>
        <p:sp>
          <p:nvSpPr>
            <p:cNvPr id="16" name="TextBox 16"/>
            <p:cNvSpPr txBox="1"/>
            <p:nvPr/>
          </p:nvSpPr>
          <p:spPr>
            <a:xfrm>
              <a:off x="3505200" y="2819400"/>
              <a:ext cx="425348"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2</a:t>
              </a:r>
            </a:p>
          </p:txBody>
        </p:sp>
        <p:sp>
          <p:nvSpPr>
            <p:cNvPr id="17" name="TextBox 17"/>
            <p:cNvSpPr txBox="1"/>
            <p:nvPr/>
          </p:nvSpPr>
          <p:spPr>
            <a:xfrm>
              <a:off x="3970020" y="3054350"/>
              <a:ext cx="1488513" cy="440055"/>
            </a:xfrm>
            <a:prstGeom prst="rect">
              <a:avLst/>
            </a:prstGeom>
            <a:noFill/>
            <a:ln>
              <a:noFill/>
            </a:ln>
          </p:spPr>
          <p:txBody>
            <a:bodyPr wrap="none" lIns="0" tIns="0" rIns="0" bIns="0" anchor="t" anchorCtr="0">
              <a:spAutoFit/>
            </a:bodyPr>
            <a:lstStyle/>
            <a:p>
              <a:pPr algn="l"/>
              <a:r>
                <a:rPr lang="en" sz="2250" dirty="0">
                  <a:solidFill>
                    <a:schemeClr val="dk1"/>
                  </a:solidFill>
                  <a:latin typeface="Segoe UI Semibold"/>
                  <a:ea typeface="Segoe UI Semibold"/>
                  <a:cs typeface="Segoe UI Semibold"/>
                </a:rPr>
                <a:t>On-theme</a:t>
              </a:r>
            </a:p>
          </p:txBody>
        </p:sp>
        <p:sp>
          <p:nvSpPr>
            <p:cNvPr id="18" name="Rectangle 18"/>
            <p:cNvSpPr/>
            <p:nvPr/>
          </p:nvSpPr>
          <p:spPr>
            <a:xfrm>
              <a:off x="3524250" y="3676650"/>
              <a:ext cx="57150" cy="285750"/>
            </a:xfrm>
            <a:prstGeom prst="rect">
              <a:avLst/>
            </a:prstGeom>
            <a:solidFill>
              <a:srgbClr val="A21942"/>
            </a:solidFill>
            <a:ln>
              <a:noFill/>
            </a:ln>
          </p:spPr>
          <p:txBody>
            <a:bodyPr/>
            <a:lstStyle/>
            <a:p>
              <a:endParaRPr lang="en-US"/>
            </a:p>
          </p:txBody>
        </p:sp>
        <p:sp>
          <p:nvSpPr>
            <p:cNvPr id="19" name="TextBox 19"/>
            <p:cNvSpPr txBox="1"/>
            <p:nvPr/>
          </p:nvSpPr>
          <p:spPr>
            <a:xfrm>
              <a:off x="3684270" y="3625850"/>
              <a:ext cx="117500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SDG 8.9</a:t>
              </a:r>
            </a:p>
          </p:txBody>
        </p:sp>
        <p:sp>
          <p:nvSpPr>
            <p:cNvPr id="20" name="Rectangle 20"/>
            <p:cNvSpPr/>
            <p:nvPr/>
          </p:nvSpPr>
          <p:spPr>
            <a:xfrm>
              <a:off x="3524250" y="4114800"/>
              <a:ext cx="57150" cy="609600"/>
            </a:xfrm>
            <a:prstGeom prst="rect">
              <a:avLst/>
            </a:prstGeom>
            <a:solidFill>
              <a:srgbClr val="BF8B2E"/>
            </a:solidFill>
            <a:ln>
              <a:noFill/>
            </a:ln>
          </p:spPr>
          <p:txBody>
            <a:bodyPr/>
            <a:lstStyle/>
            <a:p>
              <a:endParaRPr lang="en-US"/>
            </a:p>
          </p:txBody>
        </p:sp>
        <p:sp>
          <p:nvSpPr>
            <p:cNvPr id="21" name="TextBox 21"/>
            <p:cNvSpPr txBox="1"/>
            <p:nvPr/>
          </p:nvSpPr>
          <p:spPr>
            <a:xfrm>
              <a:off x="3684270" y="4076700"/>
              <a:ext cx="2223135"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Supports SDG</a:t>
              </a:r>
              <a:br>
                <a:rPr lang="en" sz="2250" dirty="0">
                  <a:solidFill>
                    <a:schemeClr val="dk1"/>
                  </a:solidFill>
                  <a:latin typeface="+mn-lt"/>
                  <a:ea typeface="+mn-ea"/>
                  <a:cs typeface="+mn-cs"/>
                </a:rPr>
              </a:br>
              <a:r>
                <a:rPr lang="en" sz="2250" dirty="0">
                  <a:solidFill>
                    <a:schemeClr val="dk1"/>
                  </a:solidFill>
                  <a:latin typeface="+mn-lt"/>
                  <a:ea typeface="+mn-ea"/>
                  <a:cs typeface="+mn-cs"/>
                </a:rPr>
                <a:t>12.b monitoring</a:t>
              </a:r>
            </a:p>
          </p:txBody>
        </p:sp>
        <p:sp>
          <p:nvSpPr>
            <p:cNvPr id="22" name="TextBox 22"/>
            <p:cNvSpPr txBox="1"/>
            <p:nvPr/>
          </p:nvSpPr>
          <p:spPr>
            <a:xfrm>
              <a:off x="3512820" y="4838700"/>
              <a:ext cx="2323148"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National Tourism</a:t>
              </a:r>
              <a:br>
                <a:rPr lang="en" sz="2250" dirty="0">
                  <a:solidFill>
                    <a:schemeClr val="dk1"/>
                  </a:solidFill>
                  <a:latin typeface="+mn-lt"/>
                  <a:ea typeface="+mn-ea"/>
                  <a:cs typeface="+mn-cs"/>
                </a:rPr>
              </a:br>
              <a:r>
                <a:rPr lang="en" sz="2250" dirty="0">
                  <a:solidFill>
                    <a:schemeClr val="dk1"/>
                  </a:solidFill>
                  <a:latin typeface="+mn-lt"/>
                  <a:ea typeface="+mn-ea"/>
                  <a:cs typeface="+mn-cs"/>
                </a:rPr>
                <a:t>Policy 2020–2030</a:t>
              </a:r>
            </a:p>
          </p:txBody>
        </p:sp>
      </p:grpSp>
      <p:grpSp>
        <p:nvGrpSpPr>
          <p:cNvPr id="30" name="col-realistic"/>
          <p:cNvGrpSpPr/>
          <p:nvPr/>
        </p:nvGrpSpPr>
        <p:grpSpPr>
          <a:xfrm>
            <a:off x="6419850" y="2562225"/>
            <a:ext cx="2720584" cy="3040380"/>
            <a:chOff x="6419850" y="2562225"/>
            <a:chExt cx="2720584" cy="3040380"/>
          </a:xfrm>
        </p:grpSpPr>
        <p:sp>
          <p:nvSpPr>
            <p:cNvPr id="24" name="Ellipse 24"/>
            <p:cNvSpPr/>
            <p:nvPr/>
          </p:nvSpPr>
          <p:spPr>
            <a:xfrm>
              <a:off x="6448425" y="2562225"/>
              <a:ext cx="133350" cy="133350"/>
            </a:xfrm>
            <a:prstGeom prst="ellipse">
              <a:avLst/>
            </a:prstGeom>
            <a:solidFill>
              <a:schemeClr val="accent2"/>
            </a:solidFill>
            <a:ln>
              <a:noFill/>
            </a:ln>
          </p:spPr>
          <p:txBody>
            <a:bodyPr/>
            <a:lstStyle/>
            <a:p>
              <a:endParaRPr lang="en-US"/>
            </a:p>
          </p:txBody>
        </p:sp>
        <p:sp>
          <p:nvSpPr>
            <p:cNvPr id="25" name="TextBox 25"/>
            <p:cNvSpPr txBox="1"/>
            <p:nvPr/>
          </p:nvSpPr>
          <p:spPr>
            <a:xfrm>
              <a:off x="6419850" y="2819400"/>
              <a:ext cx="425348" cy="962025"/>
            </a:xfrm>
            <a:prstGeom prst="rect">
              <a:avLst/>
            </a:prstGeom>
            <a:noFill/>
            <a:ln>
              <a:noFill/>
            </a:ln>
          </p:spPr>
          <p:txBody>
            <a:bodyPr wrap="none" lIns="0" tIns="0" rIns="0" bIns="0" anchor="t" anchorCtr="0">
              <a:spAutoFit/>
            </a:bodyPr>
            <a:lstStyle/>
            <a:p>
              <a:pPr algn="l"/>
              <a:r>
                <a:rPr lang="en" sz="4950" dirty="0">
                  <a:solidFill>
                    <a:schemeClr val="dk1"/>
                  </a:solidFill>
                  <a:latin typeface="+mj-lt"/>
                  <a:ea typeface="+mj-ea"/>
                  <a:cs typeface="+mj-cs"/>
                </a:rPr>
                <a:t>3</a:t>
              </a:r>
            </a:p>
          </p:txBody>
        </p:sp>
        <p:sp>
          <p:nvSpPr>
            <p:cNvPr id="26" name="TextBox 26"/>
            <p:cNvSpPr txBox="1"/>
            <p:nvPr/>
          </p:nvSpPr>
          <p:spPr>
            <a:xfrm>
              <a:off x="6884670" y="3054350"/>
              <a:ext cx="1303020" cy="440055"/>
            </a:xfrm>
            <a:prstGeom prst="rect">
              <a:avLst/>
            </a:prstGeom>
            <a:noFill/>
            <a:ln>
              <a:noFill/>
            </a:ln>
          </p:spPr>
          <p:txBody>
            <a:bodyPr wrap="none" lIns="0" tIns="0" rIns="0" bIns="0" anchor="t" anchorCtr="0">
              <a:spAutoFit/>
            </a:bodyPr>
            <a:lstStyle/>
            <a:p>
              <a:pPr algn="l"/>
              <a:r>
                <a:rPr lang="en" sz="2250" dirty="0">
                  <a:solidFill>
                    <a:schemeClr val="dk1"/>
                  </a:solidFill>
                  <a:latin typeface="Segoe UI Semibold"/>
                  <a:ea typeface="Segoe UI Semibold"/>
                  <a:cs typeface="Segoe UI Semibold"/>
                </a:rPr>
                <a:t>Realistic</a:t>
              </a:r>
            </a:p>
          </p:txBody>
        </p:sp>
        <p:sp>
          <p:nvSpPr>
            <p:cNvPr id="27" name="TextBox 27"/>
            <p:cNvSpPr txBox="1"/>
            <p:nvPr/>
          </p:nvSpPr>
          <p:spPr>
            <a:xfrm>
              <a:off x="6427470" y="3625850"/>
              <a:ext cx="271296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Open official data</a:t>
              </a:r>
            </a:p>
          </p:txBody>
        </p:sp>
        <p:sp>
          <p:nvSpPr>
            <p:cNvPr id="28" name="TextBox 28"/>
            <p:cNvSpPr txBox="1"/>
            <p:nvPr/>
          </p:nvSpPr>
          <p:spPr>
            <a:xfrm>
              <a:off x="6427470" y="4076700"/>
              <a:ext cx="2137410"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One-command</a:t>
              </a:r>
              <a:br>
                <a:rPr lang="en" sz="2250" dirty="0">
                  <a:solidFill>
                    <a:schemeClr val="dk1"/>
                  </a:solidFill>
                  <a:latin typeface="+mn-lt"/>
                  <a:ea typeface="+mn-ea"/>
                  <a:cs typeface="+mn-cs"/>
                </a:rPr>
              </a:br>
              <a:r>
                <a:rPr lang="en" sz="2250" dirty="0">
                  <a:solidFill>
                    <a:schemeClr val="dk1"/>
                  </a:solidFill>
                  <a:latin typeface="+mn-lt"/>
                  <a:ea typeface="+mn-ea"/>
                  <a:cs typeface="+mn-cs"/>
                </a:rPr>
                <a:t>monthly update</a:t>
              </a:r>
            </a:p>
          </p:txBody>
        </p:sp>
        <p:sp>
          <p:nvSpPr>
            <p:cNvPr id="29" name="TextBox 29"/>
            <p:cNvSpPr txBox="1"/>
            <p:nvPr/>
          </p:nvSpPr>
          <p:spPr>
            <a:xfrm>
              <a:off x="6427470" y="4838700"/>
              <a:ext cx="1951672" cy="763905"/>
            </a:xfrm>
            <a:prstGeom prst="rect">
              <a:avLst/>
            </a:prstGeom>
            <a:noFill/>
            <a:ln>
              <a:noFill/>
            </a:ln>
          </p:spPr>
          <p:txBody>
            <a:bodyPr wrap="none" lIns="0" tIns="0" rIns="0" bIns="0" anchor="t" anchorCtr="0">
              <a:spAutoFit/>
            </a:bodyPr>
            <a:lstStyle/>
            <a:p>
              <a:pPr algn="l">
                <a:lnSpc>
                  <a:spcPts val="2550"/>
                </a:lnSpc>
              </a:pPr>
              <a:r>
                <a:rPr lang="en" sz="2250" dirty="0">
                  <a:solidFill>
                    <a:schemeClr val="dk1"/>
                  </a:solidFill>
                  <a:latin typeface="+mn-lt"/>
                  <a:ea typeface="+mn-ea"/>
                  <a:cs typeface="+mn-cs"/>
                </a:rPr>
                <a:t>More markets</a:t>
              </a:r>
              <a:br>
                <a:rPr lang="en" sz="2250" dirty="0">
                  <a:solidFill>
                    <a:schemeClr val="dk1"/>
                  </a:solidFill>
                  <a:latin typeface="+mn-lt"/>
                  <a:ea typeface="+mn-ea"/>
                  <a:cs typeface="+mn-cs"/>
                </a:rPr>
              </a:br>
              <a:r>
                <a:rPr lang="en" sz="2250" dirty="0">
                  <a:solidFill>
                    <a:schemeClr val="dk1"/>
                  </a:solidFill>
                  <a:latin typeface="+mn-lt"/>
                  <a:ea typeface="+mn-ea"/>
                  <a:cs typeface="+mn-cs"/>
                </a:rPr>
                <a:t>and states</a:t>
              </a:r>
            </a:p>
          </p:txBody>
        </p:sp>
      </p:grpSp>
      <p:grpSp>
        <p:nvGrpSpPr>
          <p:cNvPr id="37" name="honesty-strip"/>
          <p:cNvGrpSpPr/>
          <p:nvPr/>
        </p:nvGrpSpPr>
        <p:grpSpPr>
          <a:xfrm>
            <a:off x="609600" y="5734050"/>
            <a:ext cx="8553450" cy="514350"/>
            <a:chOff x="609600" y="5734050"/>
            <a:chExt cx="8553450" cy="514350"/>
          </a:xfrm>
        </p:grpSpPr>
        <p:sp>
          <p:nvSpPr>
            <p:cNvPr id="31" name="Rectangle 31"/>
            <p:cNvSpPr/>
            <p:nvPr/>
          </p:nvSpPr>
          <p:spPr>
            <a:xfrm>
              <a:off x="609600" y="5734050"/>
              <a:ext cx="8553450" cy="514350"/>
            </a:xfrm>
            <a:prstGeom prst="roundRect">
              <a:avLst>
                <a:gd name="adj" fmla="val 14815"/>
              </a:avLst>
            </a:prstGeom>
            <a:solidFill>
              <a:schemeClr val="lt2"/>
            </a:solidFill>
            <a:ln w="9525">
              <a:solidFill>
                <a:schemeClr val="accent6"/>
              </a:solidFill>
            </a:ln>
          </p:spPr>
          <p:txBody>
            <a:bodyPr/>
            <a:lstStyle/>
            <a:p>
              <a:endParaRPr lang="en-US"/>
            </a:p>
          </p:txBody>
        </p:sp>
        <p:grpSp>
          <p:nvGrpSpPr>
            <p:cNvPr id="35" name="Group 35"/>
            <p:cNvGrpSpPr/>
            <p:nvPr/>
          </p:nvGrpSpPr>
          <p:grpSpPr>
            <a:xfrm>
              <a:off x="841949" y="5880113"/>
              <a:ext cx="240143" cy="206314"/>
              <a:chOff x="841949" y="5880113"/>
              <a:chExt cx="240143" cy="206314"/>
            </a:xfrm>
          </p:grpSpPr>
          <p:sp>
            <p:nvSpPr>
              <p:cNvPr id="32" name="Freeform 32"/>
              <p:cNvSpPr/>
              <p:nvPr/>
            </p:nvSpPr>
            <p:spPr>
              <a:xfrm>
                <a:off x="962025" y="5955506"/>
                <a:ext cx="9525" cy="47625"/>
              </a:xfrm>
              <a:custGeom>
                <a:avLst/>
                <a:gdLst/>
                <a:ahLst/>
                <a:cxnLst/>
                <a:rect l="l" t="t" r="r" b="b"/>
                <a:pathLst>
                  <a:path w="9525" h="47625">
                    <a:moveTo>
                      <a:pt x="0" y="0"/>
                    </a:moveTo>
                    <a:lnTo>
                      <a:pt x="0" y="47625"/>
                    </a:lnTo>
                  </a:path>
                </a:pathLst>
              </a:custGeom>
              <a:noFill/>
              <a:ln w="23812">
                <a:solidFill>
                  <a:srgbClr val="8A6A12"/>
                </a:solidFill>
              </a:ln>
            </p:spPr>
            <p:txBody>
              <a:bodyPr/>
              <a:lstStyle/>
              <a:p>
                <a:endParaRPr lang="en-US"/>
              </a:p>
            </p:txBody>
          </p:sp>
          <p:sp>
            <p:nvSpPr>
              <p:cNvPr id="33" name="Freeform 33"/>
              <p:cNvSpPr/>
              <p:nvPr/>
            </p:nvSpPr>
            <p:spPr>
              <a:xfrm>
                <a:off x="841949" y="58801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23812">
                <a:solidFill>
                  <a:srgbClr val="8A6A12"/>
                </a:solidFill>
              </a:ln>
            </p:spPr>
            <p:txBody>
              <a:bodyPr/>
              <a:lstStyle/>
              <a:p>
                <a:endParaRPr lang="en-US"/>
              </a:p>
            </p:txBody>
          </p:sp>
          <p:sp>
            <p:nvSpPr>
              <p:cNvPr id="34" name="Freeform 34"/>
              <p:cNvSpPr/>
              <p:nvPr/>
            </p:nvSpPr>
            <p:spPr>
              <a:xfrm>
                <a:off x="962025" y="6038850"/>
                <a:ext cx="9525" cy="9525"/>
              </a:xfrm>
              <a:custGeom>
                <a:avLst/>
                <a:gdLst/>
                <a:ahLst/>
                <a:cxnLst/>
                <a:rect l="l" t="t" r="r" b="b"/>
                <a:pathLst>
                  <a:path w="9525" h="9525">
                    <a:moveTo>
                      <a:pt x="0" y="0"/>
                    </a:moveTo>
                    <a:lnTo>
                      <a:pt x="119" y="0"/>
                    </a:lnTo>
                  </a:path>
                </a:pathLst>
              </a:custGeom>
              <a:noFill/>
              <a:ln w="23812">
                <a:solidFill>
                  <a:srgbClr val="8A6A12"/>
                </a:solidFill>
              </a:ln>
            </p:spPr>
            <p:txBody>
              <a:bodyPr/>
              <a:lstStyle/>
              <a:p>
                <a:endParaRPr lang="en-US"/>
              </a:p>
            </p:txBody>
          </p:sp>
        </p:grpSp>
        <p:sp>
          <p:nvSpPr>
            <p:cNvPr id="36" name="TextBox 36"/>
            <p:cNvSpPr txBox="1"/>
            <p:nvPr/>
          </p:nvSpPr>
          <p:spPr>
            <a:xfrm>
              <a:off x="1245870" y="5807075"/>
              <a:ext cx="5879074"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Possible uses: impact not yet measured</a:t>
              </a:r>
            </a:p>
          </p:txBody>
        </p:sp>
      </p:grpSp>
      <p:grpSp>
        <p:nvGrpSpPr>
          <p:cNvPr id="41" name="radar-mark"/>
          <p:cNvGrpSpPr/>
          <p:nvPr/>
        </p:nvGrpSpPr>
        <p:grpSpPr>
          <a:xfrm>
            <a:off x="11430000" y="6096000"/>
            <a:ext cx="1524000" cy="1524000"/>
            <a:chOff x="11430000" y="6096000"/>
            <a:chExt cx="1524000" cy="1524000"/>
          </a:xfrm>
        </p:grpSpPr>
        <p:sp>
          <p:nvSpPr>
            <p:cNvPr id="38" name="Freeform 38"/>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39" name="Freeform 39"/>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40" name="Freeform 40"/>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2" name="TextBox 42"/>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chemeClr val="accent2"/>
                </a:solidFill>
                <a:latin typeface="Segoe UI Semibold"/>
                <a:ea typeface="Segoe UI Semibold"/>
                <a:cs typeface="Segoe UI Semibold"/>
              </a:rPr>
              <a:t>10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righ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right)">
                                      <p:cBhvr>
                                        <p:cTn id="17" dur="500"/>
                                        <p:tgtEl>
                                          <p:spTgt spid="30"/>
                                        </p:tgtEl>
                                      </p:cBhvr>
                                    </p:animEffect>
                                  </p:childTnLst>
                                </p:cTn>
                              </p:par>
                            </p:childTnLst>
                          </p:cTn>
                        </p:par>
                        <p:par>
                          <p:cTn id="18" fill="hold">
                            <p:stCondLst>
                              <p:cond delay="500"/>
                            </p:stCondLst>
                            <p:childTnLst>
                              <p:par>
                                <p:cTn id="19" presetID="10" presetClass="entr" presetSubtype="0" fill="hold" nodeType="afterEffect">
                                  <p:stCondLst>
                                    <p:cond delay="40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1-banner-photo"/>
          <p:cNvPicPr>
            <a:picLocks noChangeAspect="1"/>
          </p:cNvPicPr>
          <p:nvPr/>
        </p:nvPicPr>
        <p:blipFill>
          <a:blip r:embed="rId3"/>
          <a:srcRect l="16637" r="16637"/>
          <a:stretch>
            <a:fillRect/>
          </a:stretch>
        </p:blipFill>
        <p:spPr>
          <a:xfrm>
            <a:off x="5715000" y="0"/>
            <a:ext cx="6477000" cy="2247900"/>
          </a:xfrm>
          <a:prstGeom prst="rect">
            <a:avLst/>
          </a:prstGeom>
        </p:spPr>
      </p:pic>
      <p:sp>
        <p:nvSpPr>
          <p:cNvPr id="3" name="p11-banner-fade"/>
          <p:cNvSpPr/>
          <p:nvPr/>
        </p:nvSpPr>
        <p:spPr>
          <a:xfrm>
            <a:off x="5715000" y="0"/>
            <a:ext cx="3810000" cy="2247900"/>
          </a:xfrm>
          <a:prstGeom prst="rect">
            <a:avLst/>
          </a:prstGeom>
          <a:gradFill>
            <a:gsLst>
              <a:gs pos="0">
                <a:schemeClr val="lt1"/>
              </a:gs>
              <a:gs pos="50000">
                <a:schemeClr val="lt1">
                  <a:alpha val="85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0550" y="387350"/>
            <a:ext cx="3872865" cy="2003425"/>
            <a:chOff x="590550" y="387350"/>
            <a:chExt cx="3872865" cy="2003425"/>
          </a:xfrm>
        </p:grpSpPr>
        <p:sp>
          <p:nvSpPr>
            <p:cNvPr id="4" name="TextBox 4"/>
            <p:cNvSpPr txBox="1"/>
            <p:nvPr/>
          </p:nvSpPr>
          <p:spPr>
            <a:xfrm>
              <a:off x="601218" y="387350"/>
              <a:ext cx="1630832"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CONCLUSION</a:t>
              </a:r>
            </a:p>
          </p:txBody>
        </p:sp>
        <p:sp>
          <p:nvSpPr>
            <p:cNvPr id="5" name="TextBox 5"/>
            <p:cNvSpPr txBox="1"/>
            <p:nvPr/>
          </p:nvSpPr>
          <p:spPr>
            <a:xfrm>
              <a:off x="590550" y="742950"/>
              <a:ext cx="3872865" cy="1647825"/>
            </a:xfrm>
            <a:prstGeom prst="rect">
              <a:avLst/>
            </a:prstGeom>
            <a:noFill/>
            <a:ln>
              <a:noFill/>
            </a:ln>
          </p:spPr>
          <p:txBody>
            <a:bodyPr wrap="none" lIns="0" tIns="0" rIns="0" bIns="0" anchor="t" anchorCtr="0">
              <a:spAutoFit/>
            </a:bodyPr>
            <a:lstStyle/>
            <a:p>
              <a:pPr algn="l">
                <a:lnSpc>
                  <a:spcPts val="5400"/>
                </a:lnSpc>
              </a:pPr>
              <a:r>
                <a:rPr lang="en" sz="4950" dirty="0">
                  <a:solidFill>
                    <a:schemeClr val="dk1"/>
                  </a:solidFill>
                  <a:latin typeface="+mj-lt"/>
                  <a:ea typeface="+mj-ea"/>
                  <a:cs typeface="+mj-cs"/>
                </a:rPr>
                <a:t>Three things</a:t>
              </a:r>
              <a:br>
                <a:rPr lang="en" sz="4950" dirty="0">
                  <a:solidFill>
                    <a:schemeClr val="dk1"/>
                  </a:solidFill>
                  <a:latin typeface="+mj-lt"/>
                  <a:ea typeface="+mj-ea"/>
                  <a:cs typeface="+mj-cs"/>
                </a:rPr>
              </a:br>
              <a:r>
                <a:rPr lang="en" sz="4950" dirty="0">
                  <a:solidFill>
                    <a:schemeClr val="dk1"/>
                  </a:solidFill>
                  <a:latin typeface="+mj-lt"/>
                  <a:ea typeface="+mj-ea"/>
                  <a:cs typeface="+mj-cs"/>
                </a:rPr>
                <a:t>we found</a:t>
              </a:r>
            </a:p>
          </p:txBody>
        </p:sp>
      </p:grpSp>
      <p:grpSp>
        <p:nvGrpSpPr>
          <p:cNvPr id="16" name="finding-1"/>
          <p:cNvGrpSpPr/>
          <p:nvPr/>
        </p:nvGrpSpPr>
        <p:grpSpPr>
          <a:xfrm>
            <a:off x="609600" y="2495550"/>
            <a:ext cx="3505200" cy="2133600"/>
            <a:chOff x="609600" y="2495550"/>
            <a:chExt cx="3505200" cy="2133600"/>
          </a:xfrm>
        </p:grpSpPr>
        <p:sp>
          <p:nvSpPr>
            <p:cNvPr id="7" name="Rectangle 7"/>
            <p:cNvSpPr/>
            <p:nvPr/>
          </p:nvSpPr>
          <p:spPr>
            <a:xfrm>
              <a:off x="609600" y="2495550"/>
              <a:ext cx="3505200" cy="2133600"/>
            </a:xfrm>
            <a:prstGeom prst="roundRect">
              <a:avLst>
                <a:gd name="adj" fmla="val 3571"/>
              </a:avLst>
            </a:prstGeom>
            <a:solidFill>
              <a:schemeClr val="lt2"/>
            </a:solidFill>
            <a:ln w="9525">
              <a:solidFill>
                <a:schemeClr val="accent6"/>
              </a:solidFill>
            </a:ln>
          </p:spPr>
          <p:txBody>
            <a:bodyPr/>
            <a:lstStyle/>
            <a:p>
              <a:endParaRPr lang="en-US"/>
            </a:p>
          </p:txBody>
        </p:sp>
        <p:sp>
          <p:nvSpPr>
            <p:cNvPr id="8" name="Rectangle 8"/>
            <p:cNvSpPr/>
            <p:nvPr/>
          </p:nvSpPr>
          <p:spPr>
            <a:xfrm>
              <a:off x="609600" y="2609850"/>
              <a:ext cx="57150" cy="1905000"/>
            </a:xfrm>
            <a:prstGeom prst="rect">
              <a:avLst/>
            </a:prstGeom>
            <a:solidFill>
              <a:schemeClr val="accent3"/>
            </a:solidFill>
            <a:ln>
              <a:noFill/>
            </a:ln>
          </p:spPr>
          <p:txBody>
            <a:bodyPr/>
            <a:lstStyle/>
            <a:p>
              <a:endParaRPr lang="en-US"/>
            </a:p>
          </p:txBody>
        </p:sp>
        <p:sp>
          <p:nvSpPr>
            <p:cNvPr id="9" name="TextBox 9"/>
            <p:cNvSpPr txBox="1"/>
            <p:nvPr/>
          </p:nvSpPr>
          <p:spPr>
            <a:xfrm>
              <a:off x="819150" y="2609850"/>
              <a:ext cx="425348" cy="962025"/>
            </a:xfrm>
            <a:prstGeom prst="rect">
              <a:avLst/>
            </a:prstGeom>
            <a:noFill/>
            <a:ln>
              <a:noFill/>
            </a:ln>
          </p:spPr>
          <p:txBody>
            <a:bodyPr wrap="none" lIns="0" tIns="0" rIns="0" bIns="0" anchor="t" anchorCtr="0">
              <a:spAutoFit/>
            </a:bodyPr>
            <a:lstStyle/>
            <a:p>
              <a:pPr algn="l"/>
              <a:r>
                <a:rPr lang="en" sz="4950" dirty="0">
                  <a:solidFill>
                    <a:schemeClr val="accent3"/>
                  </a:solidFill>
                  <a:latin typeface="+mj-lt"/>
                  <a:ea typeface="+mj-ea"/>
                  <a:cs typeface="+mj-cs"/>
                </a:rPr>
                <a:t>1</a:t>
              </a:r>
            </a:p>
          </p:txBody>
        </p:sp>
        <p:grpSp>
          <p:nvGrpSpPr>
            <p:cNvPr id="14" name="Group 14"/>
            <p:cNvGrpSpPr/>
            <p:nvPr/>
          </p:nvGrpSpPr>
          <p:grpSpPr>
            <a:xfrm>
              <a:off x="3552825" y="2787650"/>
              <a:ext cx="285751" cy="254000"/>
              <a:chOff x="3552825" y="2787650"/>
              <a:chExt cx="285751" cy="254000"/>
            </a:xfrm>
          </p:grpSpPr>
          <p:sp>
            <p:nvSpPr>
              <p:cNvPr id="10" name="Freeform 10"/>
              <p:cNvSpPr/>
              <p:nvPr/>
            </p:nvSpPr>
            <p:spPr>
              <a:xfrm>
                <a:off x="3552825" y="2914650"/>
                <a:ext cx="285751" cy="79375"/>
              </a:xfrm>
              <a:custGeom>
                <a:avLst/>
                <a:gdLst/>
                <a:ahLst/>
                <a:cxnLst/>
                <a:rect l="l" t="t" r="r" b="b"/>
                <a:pathLst>
                  <a:path w="285751" h="79375">
                    <a:moveTo>
                      <a:pt x="285751" y="79375"/>
                    </a:moveTo>
                    <a:lnTo>
                      <a:pt x="158750" y="79375"/>
                    </a:lnTo>
                    <a:lnTo>
                      <a:pt x="103188" y="0"/>
                    </a:lnTo>
                    <a:lnTo>
                      <a:pt x="0" y="0"/>
                    </a:lnTo>
                  </a:path>
                </a:pathLst>
              </a:custGeom>
              <a:noFill/>
              <a:ln w="27781">
                <a:solidFill>
                  <a:schemeClr val="accent1"/>
                </a:solidFill>
              </a:ln>
            </p:spPr>
            <p:txBody>
              <a:bodyPr/>
              <a:lstStyle/>
              <a:p>
                <a:endParaRPr lang="en-US"/>
              </a:p>
            </p:txBody>
          </p:sp>
          <p:sp>
            <p:nvSpPr>
              <p:cNvPr id="11" name="Freeform 11"/>
              <p:cNvSpPr/>
              <p:nvPr/>
            </p:nvSpPr>
            <p:spPr>
              <a:xfrm>
                <a:off x="3656092" y="2835275"/>
                <a:ext cx="182483" cy="79375"/>
              </a:xfrm>
              <a:custGeom>
                <a:avLst/>
                <a:gdLst/>
                <a:ahLst/>
                <a:cxnLst/>
                <a:rect l="l" t="t" r="r" b="b"/>
                <a:pathLst>
                  <a:path w="182483" h="79375">
                    <a:moveTo>
                      <a:pt x="182483" y="0"/>
                    </a:moveTo>
                    <a:lnTo>
                      <a:pt x="55483" y="0"/>
                    </a:lnTo>
                    <a:lnTo>
                      <a:pt x="0" y="79375"/>
                    </a:lnTo>
                  </a:path>
                </a:pathLst>
              </a:custGeom>
              <a:noFill/>
              <a:ln w="27781">
                <a:solidFill>
                  <a:schemeClr val="accent1"/>
                </a:solidFill>
              </a:ln>
            </p:spPr>
            <p:txBody>
              <a:bodyPr/>
              <a:lstStyle/>
              <a:p>
                <a:endParaRPr lang="en-US"/>
              </a:p>
            </p:txBody>
          </p:sp>
          <p:sp>
            <p:nvSpPr>
              <p:cNvPr id="12" name="Freeform 12"/>
              <p:cNvSpPr/>
              <p:nvPr/>
            </p:nvSpPr>
            <p:spPr>
              <a:xfrm>
                <a:off x="3790951" y="2787650"/>
                <a:ext cx="47625" cy="95250"/>
              </a:xfrm>
              <a:custGeom>
                <a:avLst/>
                <a:gdLst/>
                <a:ahLst/>
                <a:cxnLst/>
                <a:rect l="l" t="t" r="r" b="b"/>
                <a:pathLst>
                  <a:path w="47625" h="95250">
                    <a:moveTo>
                      <a:pt x="0" y="95250"/>
                    </a:moveTo>
                    <a:lnTo>
                      <a:pt x="47625" y="47625"/>
                    </a:lnTo>
                    <a:lnTo>
                      <a:pt x="0" y="0"/>
                    </a:lnTo>
                  </a:path>
                </a:pathLst>
              </a:custGeom>
              <a:noFill/>
              <a:ln w="27781">
                <a:solidFill>
                  <a:schemeClr val="accent1"/>
                </a:solidFill>
              </a:ln>
            </p:spPr>
            <p:txBody>
              <a:bodyPr/>
              <a:lstStyle/>
              <a:p>
                <a:endParaRPr lang="en-US"/>
              </a:p>
            </p:txBody>
          </p:sp>
          <p:sp>
            <p:nvSpPr>
              <p:cNvPr id="13" name="Freeform 13"/>
              <p:cNvSpPr/>
              <p:nvPr/>
            </p:nvSpPr>
            <p:spPr>
              <a:xfrm>
                <a:off x="3790951" y="2946400"/>
                <a:ext cx="47625" cy="95250"/>
              </a:xfrm>
              <a:custGeom>
                <a:avLst/>
                <a:gdLst/>
                <a:ahLst/>
                <a:cxnLst/>
                <a:rect l="l" t="t" r="r" b="b"/>
                <a:pathLst>
                  <a:path w="47625" h="95250">
                    <a:moveTo>
                      <a:pt x="0" y="95250"/>
                    </a:moveTo>
                    <a:lnTo>
                      <a:pt x="47625" y="47625"/>
                    </a:lnTo>
                    <a:lnTo>
                      <a:pt x="0" y="0"/>
                    </a:lnTo>
                  </a:path>
                </a:pathLst>
              </a:custGeom>
              <a:noFill/>
              <a:ln w="27781">
                <a:solidFill>
                  <a:schemeClr val="accent1"/>
                </a:solidFill>
              </a:ln>
            </p:spPr>
            <p:txBody>
              <a:bodyPr/>
              <a:lstStyle/>
              <a:p>
                <a:endParaRPr lang="en-US"/>
              </a:p>
            </p:txBody>
          </p:sp>
        </p:grpSp>
        <p:sp>
          <p:nvSpPr>
            <p:cNvPr id="15" name="TextBox 15"/>
            <p:cNvSpPr txBox="1"/>
            <p:nvPr/>
          </p:nvSpPr>
          <p:spPr>
            <a:xfrm>
              <a:off x="826770" y="3473450"/>
              <a:ext cx="2766060"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dk1"/>
                  </a:solidFill>
                  <a:latin typeface="+mn-lt"/>
                  <a:ea typeface="+mn-ea"/>
                  <a:cs typeface="+mn-cs"/>
                </a:rPr>
                <a:t>Each market reacts</a:t>
              </a:r>
              <a:br>
                <a:rPr lang="en" sz="2250" dirty="0">
                  <a:solidFill>
                    <a:schemeClr val="dk1"/>
                  </a:solidFill>
                  <a:latin typeface="+mn-lt"/>
                  <a:ea typeface="+mn-ea"/>
                  <a:cs typeface="+mn-cs"/>
                </a:rPr>
              </a:br>
              <a:r>
                <a:rPr lang="en" sz="2250" dirty="0">
                  <a:solidFill>
                    <a:schemeClr val="dk1"/>
                  </a:solidFill>
                  <a:latin typeface="+mn-lt"/>
                  <a:ea typeface="+mn-ea"/>
                  <a:cs typeface="+mn-cs"/>
                </a:rPr>
                <a:t>differently</a:t>
              </a:r>
            </a:p>
          </p:txBody>
        </p:sp>
      </p:grpSp>
      <p:grpSp>
        <p:nvGrpSpPr>
          <p:cNvPr id="26" name="finding-2"/>
          <p:cNvGrpSpPr/>
          <p:nvPr/>
        </p:nvGrpSpPr>
        <p:grpSpPr>
          <a:xfrm>
            <a:off x="4267200" y="2495550"/>
            <a:ext cx="3505200" cy="2133600"/>
            <a:chOff x="4267200" y="2495550"/>
            <a:chExt cx="3505200" cy="2133600"/>
          </a:xfrm>
        </p:grpSpPr>
        <p:sp>
          <p:nvSpPr>
            <p:cNvPr id="17" name="Rectangle 17"/>
            <p:cNvSpPr/>
            <p:nvPr/>
          </p:nvSpPr>
          <p:spPr>
            <a:xfrm>
              <a:off x="4267200" y="2495550"/>
              <a:ext cx="3505200" cy="2133600"/>
            </a:xfrm>
            <a:prstGeom prst="roundRect">
              <a:avLst>
                <a:gd name="adj" fmla="val 3571"/>
              </a:avLst>
            </a:prstGeom>
            <a:solidFill>
              <a:schemeClr val="lt2"/>
            </a:solidFill>
            <a:ln w="9525">
              <a:solidFill>
                <a:schemeClr val="accent6"/>
              </a:solidFill>
            </a:ln>
          </p:spPr>
          <p:txBody>
            <a:bodyPr/>
            <a:lstStyle/>
            <a:p>
              <a:endParaRPr lang="en-US"/>
            </a:p>
          </p:txBody>
        </p:sp>
        <p:sp>
          <p:nvSpPr>
            <p:cNvPr id="18" name="Rectangle 18"/>
            <p:cNvSpPr/>
            <p:nvPr/>
          </p:nvSpPr>
          <p:spPr>
            <a:xfrm>
              <a:off x="4267200" y="2609850"/>
              <a:ext cx="57150" cy="1905000"/>
            </a:xfrm>
            <a:prstGeom prst="rect">
              <a:avLst/>
            </a:prstGeom>
            <a:solidFill>
              <a:schemeClr val="accent3"/>
            </a:solidFill>
            <a:ln>
              <a:noFill/>
            </a:ln>
          </p:spPr>
          <p:txBody>
            <a:bodyPr/>
            <a:lstStyle/>
            <a:p>
              <a:endParaRPr lang="en-US"/>
            </a:p>
          </p:txBody>
        </p:sp>
        <p:sp>
          <p:nvSpPr>
            <p:cNvPr id="19" name="TextBox 19"/>
            <p:cNvSpPr txBox="1"/>
            <p:nvPr/>
          </p:nvSpPr>
          <p:spPr>
            <a:xfrm>
              <a:off x="4476750" y="2609850"/>
              <a:ext cx="425348" cy="962025"/>
            </a:xfrm>
            <a:prstGeom prst="rect">
              <a:avLst/>
            </a:prstGeom>
            <a:noFill/>
            <a:ln>
              <a:noFill/>
            </a:ln>
          </p:spPr>
          <p:txBody>
            <a:bodyPr wrap="none" lIns="0" tIns="0" rIns="0" bIns="0" anchor="t" anchorCtr="0">
              <a:spAutoFit/>
            </a:bodyPr>
            <a:lstStyle/>
            <a:p>
              <a:pPr algn="l"/>
              <a:r>
                <a:rPr lang="en" sz="4950" dirty="0">
                  <a:solidFill>
                    <a:schemeClr val="accent3"/>
                  </a:solidFill>
                  <a:latin typeface="+mj-lt"/>
                  <a:ea typeface="+mj-ea"/>
                  <a:cs typeface="+mj-cs"/>
                </a:rPr>
                <a:t>2</a:t>
              </a:r>
            </a:p>
          </p:txBody>
        </p:sp>
        <p:grpSp>
          <p:nvGrpSpPr>
            <p:cNvPr id="24" name="Group 24"/>
            <p:cNvGrpSpPr/>
            <p:nvPr/>
          </p:nvGrpSpPr>
          <p:grpSpPr>
            <a:xfrm>
              <a:off x="7210425" y="2771775"/>
              <a:ext cx="285750" cy="285750"/>
              <a:chOff x="7210425" y="2771775"/>
              <a:chExt cx="285750" cy="285750"/>
            </a:xfrm>
          </p:grpSpPr>
          <p:sp>
            <p:nvSpPr>
              <p:cNvPr id="20" name="Freeform 20"/>
              <p:cNvSpPr/>
              <p:nvPr/>
            </p:nvSpPr>
            <p:spPr>
              <a:xfrm>
                <a:off x="7210425" y="2771775"/>
                <a:ext cx="222250" cy="222250"/>
              </a:xfrm>
              <a:custGeom>
                <a:avLst/>
                <a:gdLst/>
                <a:ahLst/>
                <a:cxnLst/>
                <a:rect l="l" t="t" r="r" b="b"/>
                <a:pathLst>
                  <a:path w="222250" h="222250">
                    <a:moveTo>
                      <a:pt x="0" y="111125"/>
                    </a:moveTo>
                    <a:cubicBezTo>
                      <a:pt x="0" y="172498"/>
                      <a:pt x="49752" y="222250"/>
                      <a:pt x="111125" y="222250"/>
                    </a:cubicBezTo>
                    <a:cubicBezTo>
                      <a:pt x="172498" y="222250"/>
                      <a:pt x="222250" y="172498"/>
                      <a:pt x="222250" y="111125"/>
                    </a:cubicBezTo>
                    <a:cubicBezTo>
                      <a:pt x="222250" y="49752"/>
                      <a:pt x="172498" y="0"/>
                      <a:pt x="111125" y="0"/>
                    </a:cubicBezTo>
                    <a:cubicBezTo>
                      <a:pt x="49752" y="0"/>
                      <a:pt x="0" y="49752"/>
                      <a:pt x="0" y="111125"/>
                    </a:cubicBezTo>
                  </a:path>
                </a:pathLst>
              </a:custGeom>
              <a:noFill/>
              <a:ln w="27781">
                <a:solidFill>
                  <a:schemeClr val="accent1"/>
                </a:solidFill>
              </a:ln>
            </p:spPr>
            <p:txBody>
              <a:bodyPr/>
              <a:lstStyle/>
              <a:p>
                <a:endParaRPr lang="en-US"/>
              </a:p>
            </p:txBody>
          </p:sp>
          <p:sp>
            <p:nvSpPr>
              <p:cNvPr id="21" name="Freeform 21"/>
              <p:cNvSpPr/>
              <p:nvPr/>
            </p:nvSpPr>
            <p:spPr>
              <a:xfrm>
                <a:off x="7273925" y="2882900"/>
                <a:ext cx="95250" cy="9525"/>
              </a:xfrm>
              <a:custGeom>
                <a:avLst/>
                <a:gdLst/>
                <a:ahLst/>
                <a:cxnLst/>
                <a:rect l="l" t="t" r="r" b="b"/>
                <a:pathLst>
                  <a:path w="95250" h="9525">
                    <a:moveTo>
                      <a:pt x="0" y="0"/>
                    </a:moveTo>
                    <a:lnTo>
                      <a:pt x="95250" y="0"/>
                    </a:lnTo>
                  </a:path>
                </a:pathLst>
              </a:custGeom>
              <a:noFill/>
              <a:ln w="27781">
                <a:solidFill>
                  <a:schemeClr val="accent1"/>
                </a:solidFill>
              </a:ln>
            </p:spPr>
            <p:txBody>
              <a:bodyPr/>
              <a:lstStyle/>
              <a:p>
                <a:endParaRPr lang="en-US"/>
              </a:p>
            </p:txBody>
          </p:sp>
          <p:sp>
            <p:nvSpPr>
              <p:cNvPr id="22" name="Freeform 22"/>
              <p:cNvSpPr/>
              <p:nvPr/>
            </p:nvSpPr>
            <p:spPr>
              <a:xfrm>
                <a:off x="7321550" y="2835275"/>
                <a:ext cx="9525" cy="95250"/>
              </a:xfrm>
              <a:custGeom>
                <a:avLst/>
                <a:gdLst/>
                <a:ahLst/>
                <a:cxnLst/>
                <a:rect l="l" t="t" r="r" b="b"/>
                <a:pathLst>
                  <a:path w="9525" h="95250">
                    <a:moveTo>
                      <a:pt x="0" y="0"/>
                    </a:moveTo>
                    <a:lnTo>
                      <a:pt x="0" y="95250"/>
                    </a:lnTo>
                  </a:path>
                </a:pathLst>
              </a:custGeom>
              <a:noFill/>
              <a:ln w="27781">
                <a:solidFill>
                  <a:schemeClr val="accent1"/>
                </a:solidFill>
              </a:ln>
            </p:spPr>
            <p:txBody>
              <a:bodyPr/>
              <a:lstStyle/>
              <a:p>
                <a:endParaRPr lang="en-US"/>
              </a:p>
            </p:txBody>
          </p:sp>
          <p:sp>
            <p:nvSpPr>
              <p:cNvPr id="23" name="Freeform 23"/>
              <p:cNvSpPr/>
              <p:nvPr/>
            </p:nvSpPr>
            <p:spPr>
              <a:xfrm>
                <a:off x="7400925" y="2962275"/>
                <a:ext cx="95250" cy="95250"/>
              </a:xfrm>
              <a:custGeom>
                <a:avLst/>
                <a:gdLst/>
                <a:ahLst/>
                <a:cxnLst/>
                <a:rect l="l" t="t" r="r" b="b"/>
                <a:pathLst>
                  <a:path w="95250" h="95250">
                    <a:moveTo>
                      <a:pt x="95250" y="95250"/>
                    </a:moveTo>
                    <a:lnTo>
                      <a:pt x="0" y="0"/>
                    </a:lnTo>
                  </a:path>
                </a:pathLst>
              </a:custGeom>
              <a:noFill/>
              <a:ln w="27781">
                <a:solidFill>
                  <a:schemeClr val="accent1"/>
                </a:solidFill>
              </a:ln>
            </p:spPr>
            <p:txBody>
              <a:bodyPr/>
              <a:lstStyle/>
              <a:p>
                <a:endParaRPr lang="en-US"/>
              </a:p>
            </p:txBody>
          </p:sp>
        </p:grpSp>
        <p:sp>
          <p:nvSpPr>
            <p:cNvPr id="25" name="TextBox 25"/>
            <p:cNvSpPr txBox="1"/>
            <p:nvPr/>
          </p:nvSpPr>
          <p:spPr>
            <a:xfrm>
              <a:off x="4484370" y="3473450"/>
              <a:ext cx="2508885" cy="1125855"/>
            </a:xfrm>
            <a:prstGeom prst="rect">
              <a:avLst/>
            </a:prstGeom>
            <a:noFill/>
            <a:ln>
              <a:noFill/>
            </a:ln>
          </p:spPr>
          <p:txBody>
            <a:bodyPr wrap="none" lIns="0" tIns="0" rIns="0" bIns="0" anchor="t" anchorCtr="0">
              <a:spAutoFit/>
            </a:bodyPr>
            <a:lstStyle/>
            <a:p>
              <a:pPr algn="l">
                <a:lnSpc>
                  <a:spcPts val="2700"/>
                </a:lnSpc>
              </a:pPr>
              <a:r>
                <a:rPr lang="en" sz="2250" dirty="0">
                  <a:solidFill>
                    <a:schemeClr val="dk1"/>
                  </a:solidFill>
                  <a:latin typeface="+mn-lt"/>
                  <a:ea typeface="+mn-ea"/>
                  <a:cs typeface="+mn-cs"/>
                </a:rPr>
                <a:t>Market by market</a:t>
              </a:r>
              <a:br>
                <a:rPr lang="en" sz="2250" dirty="0">
                  <a:solidFill>
                    <a:schemeClr val="dk1"/>
                  </a:solidFill>
                  <a:latin typeface="+mn-lt"/>
                  <a:ea typeface="+mn-ea"/>
                  <a:cs typeface="+mn-cs"/>
                </a:rPr>
              </a:br>
              <a:r>
                <a:rPr lang="en" sz="2250" dirty="0">
                  <a:solidFill>
                    <a:schemeClr val="dk1"/>
                  </a:solidFill>
                  <a:latin typeface="+mn-lt"/>
                  <a:ea typeface="+mn-ea"/>
                  <a:cs typeface="+mn-cs"/>
                </a:rPr>
                <a:t>shows what one</a:t>
              </a:r>
              <a:br>
                <a:rPr lang="en" sz="2250" dirty="0">
                  <a:solidFill>
                    <a:schemeClr val="dk1"/>
                  </a:solidFill>
                  <a:latin typeface="+mn-lt"/>
                  <a:ea typeface="+mn-ea"/>
                  <a:cs typeface="+mn-cs"/>
                </a:rPr>
              </a:br>
              <a:r>
                <a:rPr lang="en" sz="2250" dirty="0">
                  <a:solidFill>
                    <a:schemeClr val="dk1"/>
                  </a:solidFill>
                  <a:latin typeface="+mn-lt"/>
                  <a:ea typeface="+mn-ea"/>
                  <a:cs typeface="+mn-cs"/>
                </a:rPr>
                <a:t>number hides</a:t>
              </a:r>
            </a:p>
          </p:txBody>
        </p:sp>
      </p:grpSp>
      <p:grpSp>
        <p:nvGrpSpPr>
          <p:cNvPr id="38" name="finding-3"/>
          <p:cNvGrpSpPr/>
          <p:nvPr/>
        </p:nvGrpSpPr>
        <p:grpSpPr>
          <a:xfrm>
            <a:off x="7924800" y="2495550"/>
            <a:ext cx="3505200" cy="2133600"/>
            <a:chOff x="7924800" y="2495550"/>
            <a:chExt cx="3505200" cy="2133600"/>
          </a:xfrm>
        </p:grpSpPr>
        <p:sp>
          <p:nvSpPr>
            <p:cNvPr id="27" name="Rectangle 27"/>
            <p:cNvSpPr/>
            <p:nvPr/>
          </p:nvSpPr>
          <p:spPr>
            <a:xfrm>
              <a:off x="7924800" y="2495550"/>
              <a:ext cx="3505200" cy="2133600"/>
            </a:xfrm>
            <a:prstGeom prst="roundRect">
              <a:avLst>
                <a:gd name="adj" fmla="val 3571"/>
              </a:avLst>
            </a:prstGeom>
            <a:solidFill>
              <a:schemeClr val="lt2"/>
            </a:solidFill>
            <a:ln w="9525">
              <a:solidFill>
                <a:schemeClr val="accent6"/>
              </a:solidFill>
            </a:ln>
          </p:spPr>
          <p:txBody>
            <a:bodyPr/>
            <a:lstStyle/>
            <a:p>
              <a:endParaRPr lang="en-US"/>
            </a:p>
          </p:txBody>
        </p:sp>
        <p:sp>
          <p:nvSpPr>
            <p:cNvPr id="28" name="Rectangle 28"/>
            <p:cNvSpPr/>
            <p:nvPr/>
          </p:nvSpPr>
          <p:spPr>
            <a:xfrm>
              <a:off x="7924800" y="2609850"/>
              <a:ext cx="57150" cy="1905000"/>
            </a:xfrm>
            <a:prstGeom prst="rect">
              <a:avLst/>
            </a:prstGeom>
            <a:solidFill>
              <a:schemeClr val="accent3"/>
            </a:solidFill>
            <a:ln>
              <a:noFill/>
            </a:ln>
          </p:spPr>
          <p:txBody>
            <a:bodyPr/>
            <a:lstStyle/>
            <a:p>
              <a:endParaRPr lang="en-US"/>
            </a:p>
          </p:txBody>
        </p:sp>
        <p:sp>
          <p:nvSpPr>
            <p:cNvPr id="29" name="TextBox 29"/>
            <p:cNvSpPr txBox="1"/>
            <p:nvPr/>
          </p:nvSpPr>
          <p:spPr>
            <a:xfrm>
              <a:off x="8134350" y="2609850"/>
              <a:ext cx="425348" cy="962025"/>
            </a:xfrm>
            <a:prstGeom prst="rect">
              <a:avLst/>
            </a:prstGeom>
            <a:noFill/>
            <a:ln>
              <a:noFill/>
            </a:ln>
          </p:spPr>
          <p:txBody>
            <a:bodyPr wrap="none" lIns="0" tIns="0" rIns="0" bIns="0" anchor="t" anchorCtr="0">
              <a:spAutoFit/>
            </a:bodyPr>
            <a:lstStyle/>
            <a:p>
              <a:pPr algn="l"/>
              <a:r>
                <a:rPr lang="en" sz="4950" dirty="0">
                  <a:solidFill>
                    <a:schemeClr val="accent3"/>
                  </a:solidFill>
                  <a:latin typeface="+mj-lt"/>
                  <a:ea typeface="+mj-ea"/>
                  <a:cs typeface="+mj-cs"/>
                </a:rPr>
                <a:t>3</a:t>
              </a:r>
            </a:p>
          </p:txBody>
        </p:sp>
        <p:grpSp>
          <p:nvGrpSpPr>
            <p:cNvPr id="36" name="Group 36"/>
            <p:cNvGrpSpPr/>
            <p:nvPr/>
          </p:nvGrpSpPr>
          <p:grpSpPr>
            <a:xfrm>
              <a:off x="10868025" y="2771775"/>
              <a:ext cx="301625" cy="301625"/>
              <a:chOff x="10868025" y="2771775"/>
              <a:chExt cx="301625" cy="301625"/>
            </a:xfrm>
          </p:grpSpPr>
          <p:sp>
            <p:nvSpPr>
              <p:cNvPr id="30" name="Freeform 30"/>
              <p:cNvSpPr/>
              <p:nvPr/>
            </p:nvSpPr>
            <p:spPr>
              <a:xfrm>
                <a:off x="10868025" y="2803525"/>
                <a:ext cx="254001" cy="254001"/>
              </a:xfrm>
              <a:custGeom>
                <a:avLst/>
                <a:gdLst/>
                <a:ahLst/>
                <a:cxnLst/>
                <a:rect l="l" t="t" r="r" b="b"/>
                <a:pathLst>
                  <a:path w="254001" h="254001">
                    <a:moveTo>
                      <a:pt x="139621" y="254001"/>
                    </a:moveTo>
                    <a:lnTo>
                      <a:pt x="31750" y="254001"/>
                    </a:lnTo>
                    <a:cubicBezTo>
                      <a:pt x="14215" y="254001"/>
                      <a:pt x="0" y="239786"/>
                      <a:pt x="0" y="222250"/>
                    </a:cubicBezTo>
                    <a:lnTo>
                      <a:pt x="0" y="31750"/>
                    </a:lnTo>
                    <a:cubicBezTo>
                      <a:pt x="0" y="14215"/>
                      <a:pt x="14215" y="0"/>
                      <a:pt x="31750" y="0"/>
                    </a:cubicBezTo>
                    <a:lnTo>
                      <a:pt x="222250" y="0"/>
                    </a:lnTo>
                    <a:cubicBezTo>
                      <a:pt x="239786" y="0"/>
                      <a:pt x="254001" y="14215"/>
                      <a:pt x="254001" y="31750"/>
                    </a:cubicBezTo>
                    <a:lnTo>
                      <a:pt x="254001" y="95250"/>
                    </a:lnTo>
                  </a:path>
                </a:pathLst>
              </a:custGeom>
              <a:noFill/>
              <a:ln w="27781">
                <a:solidFill>
                  <a:schemeClr val="accent1"/>
                </a:solidFill>
              </a:ln>
            </p:spPr>
            <p:txBody>
              <a:bodyPr/>
              <a:lstStyle/>
              <a:p>
                <a:endParaRPr lang="en-US"/>
              </a:p>
            </p:txBody>
          </p:sp>
          <p:sp>
            <p:nvSpPr>
              <p:cNvPr id="31" name="Freeform 31"/>
              <p:cNvSpPr/>
              <p:nvPr/>
            </p:nvSpPr>
            <p:spPr>
              <a:xfrm>
                <a:off x="11042650" y="294640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27781">
                <a:solidFill>
                  <a:schemeClr val="accent1"/>
                </a:solidFill>
              </a:ln>
            </p:spPr>
            <p:txBody>
              <a:bodyPr/>
              <a:lstStyle/>
              <a:p>
                <a:endParaRPr lang="en-US"/>
              </a:p>
            </p:txBody>
          </p:sp>
          <p:sp>
            <p:nvSpPr>
              <p:cNvPr id="32" name="Freeform 32"/>
              <p:cNvSpPr/>
              <p:nvPr/>
            </p:nvSpPr>
            <p:spPr>
              <a:xfrm>
                <a:off x="11058525" y="2771775"/>
                <a:ext cx="9525" cy="63500"/>
              </a:xfrm>
              <a:custGeom>
                <a:avLst/>
                <a:gdLst/>
                <a:ahLst/>
                <a:cxnLst/>
                <a:rect l="l" t="t" r="r" b="b"/>
                <a:pathLst>
                  <a:path w="9525" h="63500">
                    <a:moveTo>
                      <a:pt x="0" y="0"/>
                    </a:moveTo>
                    <a:lnTo>
                      <a:pt x="0" y="63500"/>
                    </a:lnTo>
                  </a:path>
                </a:pathLst>
              </a:custGeom>
              <a:noFill/>
              <a:ln w="27781">
                <a:solidFill>
                  <a:schemeClr val="accent1"/>
                </a:solidFill>
              </a:ln>
            </p:spPr>
            <p:txBody>
              <a:bodyPr/>
              <a:lstStyle/>
              <a:p>
                <a:endParaRPr lang="en-US"/>
              </a:p>
            </p:txBody>
          </p:sp>
          <p:sp>
            <p:nvSpPr>
              <p:cNvPr id="33" name="Freeform 33"/>
              <p:cNvSpPr/>
              <p:nvPr/>
            </p:nvSpPr>
            <p:spPr>
              <a:xfrm>
                <a:off x="10931525" y="2771775"/>
                <a:ext cx="9525" cy="63500"/>
              </a:xfrm>
              <a:custGeom>
                <a:avLst/>
                <a:gdLst/>
                <a:ahLst/>
                <a:cxnLst/>
                <a:rect l="l" t="t" r="r" b="b"/>
                <a:pathLst>
                  <a:path w="9525" h="63500">
                    <a:moveTo>
                      <a:pt x="0" y="0"/>
                    </a:moveTo>
                    <a:lnTo>
                      <a:pt x="0" y="63500"/>
                    </a:lnTo>
                  </a:path>
                </a:pathLst>
              </a:custGeom>
              <a:noFill/>
              <a:ln w="27781">
                <a:solidFill>
                  <a:schemeClr val="accent1"/>
                </a:solidFill>
              </a:ln>
            </p:spPr>
            <p:txBody>
              <a:bodyPr/>
              <a:lstStyle/>
              <a:p>
                <a:endParaRPr lang="en-US"/>
              </a:p>
            </p:txBody>
          </p:sp>
          <p:sp>
            <p:nvSpPr>
              <p:cNvPr id="34" name="Freeform 34"/>
              <p:cNvSpPr/>
              <p:nvPr/>
            </p:nvSpPr>
            <p:spPr>
              <a:xfrm>
                <a:off x="10868025" y="2898775"/>
                <a:ext cx="254001" cy="9525"/>
              </a:xfrm>
              <a:custGeom>
                <a:avLst/>
                <a:gdLst/>
                <a:ahLst/>
                <a:cxnLst/>
                <a:rect l="l" t="t" r="r" b="b"/>
                <a:pathLst>
                  <a:path w="254001" h="9525">
                    <a:moveTo>
                      <a:pt x="0" y="0"/>
                    </a:moveTo>
                    <a:lnTo>
                      <a:pt x="254001" y="0"/>
                    </a:lnTo>
                  </a:path>
                </a:pathLst>
              </a:custGeom>
              <a:noFill/>
              <a:ln w="27781">
                <a:solidFill>
                  <a:schemeClr val="accent1"/>
                </a:solidFill>
              </a:ln>
            </p:spPr>
            <p:txBody>
              <a:bodyPr/>
              <a:lstStyle/>
              <a:p>
                <a:endParaRPr lang="en-US"/>
              </a:p>
            </p:txBody>
          </p:sp>
          <p:sp>
            <p:nvSpPr>
              <p:cNvPr id="35" name="Freeform 35"/>
              <p:cNvSpPr/>
              <p:nvPr/>
            </p:nvSpPr>
            <p:spPr>
              <a:xfrm>
                <a:off x="11106151" y="2986025"/>
                <a:ext cx="15875" cy="39751"/>
              </a:xfrm>
              <a:custGeom>
                <a:avLst/>
                <a:gdLst/>
                <a:ahLst/>
                <a:cxnLst/>
                <a:rect l="l" t="t" r="r" b="b"/>
                <a:pathLst>
                  <a:path w="15875" h="39751">
                    <a:moveTo>
                      <a:pt x="0" y="0"/>
                    </a:moveTo>
                    <a:lnTo>
                      <a:pt x="0" y="23876"/>
                    </a:lnTo>
                    <a:lnTo>
                      <a:pt x="15875" y="39751"/>
                    </a:lnTo>
                  </a:path>
                </a:pathLst>
              </a:custGeom>
              <a:noFill/>
              <a:ln w="27781">
                <a:solidFill>
                  <a:schemeClr val="accent1"/>
                </a:solidFill>
              </a:ln>
            </p:spPr>
            <p:txBody>
              <a:bodyPr/>
              <a:lstStyle/>
              <a:p>
                <a:endParaRPr lang="en-US"/>
              </a:p>
            </p:txBody>
          </p:sp>
        </p:grpSp>
        <p:sp>
          <p:nvSpPr>
            <p:cNvPr id="37" name="TextBox 37"/>
            <p:cNvSpPr txBox="1"/>
            <p:nvPr/>
          </p:nvSpPr>
          <p:spPr>
            <a:xfrm>
              <a:off x="8141970" y="3473450"/>
              <a:ext cx="2451735"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dk1"/>
                  </a:solidFill>
                  <a:latin typeface="+mn-lt"/>
                  <a:ea typeface="+mn-ea"/>
                  <a:cs typeface="+mn-cs"/>
                </a:rPr>
                <a:t>Best forecasts</a:t>
              </a:r>
              <a:br>
                <a:rPr lang="en" sz="2250" dirty="0">
                  <a:solidFill>
                    <a:schemeClr val="dk1"/>
                  </a:solidFill>
                  <a:latin typeface="+mn-lt"/>
                  <a:ea typeface="+mn-ea"/>
                  <a:cs typeface="+mn-cs"/>
                </a:rPr>
              </a:br>
              <a:r>
                <a:rPr lang="en" sz="2250" dirty="0">
                  <a:solidFill>
                    <a:schemeClr val="dk1"/>
                  </a:solidFill>
                  <a:latin typeface="+mn-lt"/>
                  <a:ea typeface="+mn-ea"/>
                  <a:cs typeface="+mn-cs"/>
                </a:rPr>
                <a:t>1–2 months ahead</a:t>
              </a:r>
            </a:p>
          </p:txBody>
        </p:sp>
      </p:grpSp>
      <p:grpSp>
        <p:nvGrpSpPr>
          <p:cNvPr id="41" name="limits-label"/>
          <p:cNvGrpSpPr/>
          <p:nvPr/>
        </p:nvGrpSpPr>
        <p:grpSpPr>
          <a:xfrm>
            <a:off x="601218" y="4876800"/>
            <a:ext cx="2629357" cy="481457"/>
            <a:chOff x="601218" y="4876800"/>
            <a:chExt cx="2629357" cy="481457"/>
          </a:xfrm>
        </p:grpSpPr>
        <p:sp>
          <p:nvSpPr>
            <p:cNvPr id="39" name="Rectangle 39"/>
            <p:cNvSpPr/>
            <p:nvPr/>
          </p:nvSpPr>
          <p:spPr>
            <a:xfrm>
              <a:off x="609600" y="4876800"/>
              <a:ext cx="914400" cy="38100"/>
            </a:xfrm>
            <a:prstGeom prst="rect">
              <a:avLst/>
            </a:prstGeom>
            <a:solidFill>
              <a:schemeClr val="accent2"/>
            </a:solidFill>
            <a:ln>
              <a:noFill/>
            </a:ln>
          </p:spPr>
          <p:txBody>
            <a:bodyPr/>
            <a:lstStyle/>
            <a:p>
              <a:endParaRPr lang="en-US"/>
            </a:p>
          </p:txBody>
        </p:sp>
        <p:sp>
          <p:nvSpPr>
            <p:cNvPr id="40" name="TextBox 40"/>
            <p:cNvSpPr txBox="1"/>
            <p:nvPr/>
          </p:nvSpPr>
          <p:spPr>
            <a:xfrm>
              <a:off x="601218" y="5035550"/>
              <a:ext cx="2629357"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OUR HONEST LIMITS</a:t>
              </a:r>
            </a:p>
          </p:txBody>
        </p:sp>
      </p:grpSp>
      <p:grpSp>
        <p:nvGrpSpPr>
          <p:cNvPr id="48" name="limit-1"/>
          <p:cNvGrpSpPr/>
          <p:nvPr/>
        </p:nvGrpSpPr>
        <p:grpSpPr>
          <a:xfrm>
            <a:off x="645319" y="5435600"/>
            <a:ext cx="1894999" cy="782955"/>
            <a:chOff x="645319" y="5435600"/>
            <a:chExt cx="1894999" cy="782955"/>
          </a:xfrm>
        </p:grpSpPr>
        <p:grpSp>
          <p:nvGrpSpPr>
            <p:cNvPr id="46" name="Group 46"/>
            <p:cNvGrpSpPr/>
            <p:nvPr/>
          </p:nvGrpSpPr>
          <p:grpSpPr>
            <a:xfrm>
              <a:off x="645319" y="5522119"/>
              <a:ext cx="214312" cy="214312"/>
              <a:chOff x="645319" y="5522119"/>
              <a:chExt cx="214312" cy="214312"/>
            </a:xfrm>
          </p:grpSpPr>
          <p:sp>
            <p:nvSpPr>
              <p:cNvPr id="42" name="Freeform 42"/>
              <p:cNvSpPr/>
              <p:nvPr/>
            </p:nvSpPr>
            <p:spPr>
              <a:xfrm>
                <a:off x="716756" y="5593556"/>
                <a:ext cx="71438" cy="71438"/>
              </a:xfrm>
              <a:custGeom>
                <a:avLst/>
                <a:gdLst/>
                <a:ahLst/>
                <a:cxnLst/>
                <a:rect l="l" t="t" r="r" b="b"/>
                <a:pathLst>
                  <a:path w="71438" h="71438">
                    <a:moveTo>
                      <a:pt x="0" y="71438"/>
                    </a:moveTo>
                    <a:lnTo>
                      <a:pt x="35719" y="35719"/>
                    </a:lnTo>
                    <a:moveTo>
                      <a:pt x="59531" y="11906"/>
                    </a:moveTo>
                    <a:lnTo>
                      <a:pt x="71438" y="0"/>
                    </a:lnTo>
                  </a:path>
                </a:pathLst>
              </a:custGeom>
              <a:noFill/>
              <a:ln w="23812">
                <a:solidFill>
                  <a:srgbClr val="8A6A12"/>
                </a:solidFill>
              </a:ln>
            </p:spPr>
            <p:txBody>
              <a:bodyPr/>
              <a:lstStyle/>
              <a:p>
                <a:endParaRPr lang="en-US"/>
              </a:p>
            </p:txBody>
          </p:sp>
          <p:sp>
            <p:nvSpPr>
              <p:cNvPr id="43" name="Freeform 43"/>
              <p:cNvSpPr/>
              <p:nvPr/>
            </p:nvSpPr>
            <p:spPr>
              <a:xfrm>
                <a:off x="740569" y="5528208"/>
                <a:ext cx="112956" cy="112974"/>
              </a:xfrm>
              <a:custGeom>
                <a:avLst/>
                <a:gdLst/>
                <a:ahLst/>
                <a:cxnLst/>
                <a:rect l="l" t="t" r="r" b="b"/>
                <a:pathLst>
                  <a:path w="112956" h="112974">
                    <a:moveTo>
                      <a:pt x="0" y="29630"/>
                    </a:moveTo>
                    <a:lnTo>
                      <a:pt x="5513" y="23248"/>
                    </a:lnTo>
                    <a:cubicBezTo>
                      <a:pt x="28764" y="0"/>
                      <a:pt x="66459" y="3"/>
                      <a:pt x="89708" y="23254"/>
                    </a:cubicBezTo>
                    <a:cubicBezTo>
                      <a:pt x="112956" y="46506"/>
                      <a:pt x="112953" y="84201"/>
                      <a:pt x="89702" y="107449"/>
                    </a:cubicBezTo>
                    <a:lnTo>
                      <a:pt x="83344" y="112974"/>
                    </a:lnTo>
                  </a:path>
                </a:pathLst>
              </a:custGeom>
              <a:noFill/>
              <a:ln w="23812">
                <a:solidFill>
                  <a:srgbClr val="8A6A12"/>
                </a:solidFill>
              </a:ln>
            </p:spPr>
            <p:txBody>
              <a:bodyPr/>
              <a:lstStyle/>
              <a:p>
                <a:endParaRPr lang="en-US"/>
              </a:p>
            </p:txBody>
          </p:sp>
          <p:sp>
            <p:nvSpPr>
              <p:cNvPr id="44" name="Freeform 44"/>
              <p:cNvSpPr/>
              <p:nvPr/>
            </p:nvSpPr>
            <p:spPr>
              <a:xfrm>
                <a:off x="645319" y="5522119"/>
                <a:ext cx="214312" cy="214312"/>
              </a:xfrm>
              <a:custGeom>
                <a:avLst/>
                <a:gdLst/>
                <a:ahLst/>
                <a:cxnLst/>
                <a:rect l="l" t="t" r="r" b="b"/>
                <a:pathLst>
                  <a:path w="214312" h="214312">
                    <a:moveTo>
                      <a:pt x="0" y="0"/>
                    </a:moveTo>
                    <a:lnTo>
                      <a:pt x="214312" y="214312"/>
                    </a:lnTo>
                  </a:path>
                </a:pathLst>
              </a:custGeom>
              <a:noFill/>
              <a:ln w="23812">
                <a:solidFill>
                  <a:srgbClr val="8A6A12"/>
                </a:solidFill>
              </a:ln>
            </p:spPr>
            <p:txBody>
              <a:bodyPr/>
              <a:lstStyle/>
              <a:p>
                <a:endParaRPr lang="en-US"/>
              </a:p>
            </p:txBody>
          </p:sp>
          <p:sp>
            <p:nvSpPr>
              <p:cNvPr id="45" name="Freeform 45"/>
              <p:cNvSpPr/>
              <p:nvPr/>
            </p:nvSpPr>
            <p:spPr>
              <a:xfrm>
                <a:off x="657223" y="5617369"/>
                <a:ext cx="107158" cy="112949"/>
              </a:xfrm>
              <a:custGeom>
                <a:avLst/>
                <a:gdLst/>
                <a:ahLst/>
                <a:cxnLst/>
                <a:rect l="l" t="t" r="r" b="b"/>
                <a:pathLst>
                  <a:path w="107158" h="112949">
                    <a:moveTo>
                      <a:pt x="107158" y="83344"/>
                    </a:moveTo>
                    <a:lnTo>
                      <a:pt x="102431" y="89702"/>
                    </a:lnTo>
                    <a:cubicBezTo>
                      <a:pt x="78922" y="112949"/>
                      <a:pt x="41084" y="112949"/>
                      <a:pt x="17575" y="89702"/>
                    </a:cubicBezTo>
                    <a:cubicBezTo>
                      <a:pt x="6329" y="78581"/>
                      <a:pt x="0" y="63423"/>
                      <a:pt x="0" y="47607"/>
                    </a:cubicBezTo>
                    <a:cubicBezTo>
                      <a:pt x="0" y="31791"/>
                      <a:pt x="6329" y="16633"/>
                      <a:pt x="17575" y="5513"/>
                    </a:cubicBezTo>
                    <a:lnTo>
                      <a:pt x="23814" y="0"/>
                    </a:lnTo>
                  </a:path>
                </a:pathLst>
              </a:custGeom>
              <a:noFill/>
              <a:ln w="23812">
                <a:solidFill>
                  <a:srgbClr val="8A6A12"/>
                </a:solidFill>
              </a:ln>
            </p:spPr>
            <p:txBody>
              <a:bodyPr/>
              <a:lstStyle/>
              <a:p>
                <a:endParaRPr lang="en-US"/>
              </a:p>
            </p:txBody>
          </p:sp>
        </p:grpSp>
        <p:sp>
          <p:nvSpPr>
            <p:cNvPr id="47" name="TextBox 47"/>
            <p:cNvSpPr txBox="1"/>
            <p:nvPr/>
          </p:nvSpPr>
          <p:spPr>
            <a:xfrm>
              <a:off x="1017270" y="5435600"/>
              <a:ext cx="1523048"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accent5"/>
                  </a:solidFill>
                  <a:latin typeface="+mn-lt"/>
                  <a:ea typeface="+mn-ea"/>
                  <a:cs typeface="+mn-cs"/>
                </a:rPr>
                <a:t>Patterns,</a:t>
              </a:r>
              <a:br>
                <a:rPr lang="en" sz="2250" dirty="0">
                  <a:solidFill>
                    <a:schemeClr val="accent5"/>
                  </a:solidFill>
                  <a:latin typeface="+mn-lt"/>
                  <a:ea typeface="+mn-ea"/>
                  <a:cs typeface="+mn-cs"/>
                </a:rPr>
              </a:br>
              <a:r>
                <a:rPr lang="en" sz="2250" dirty="0">
                  <a:solidFill>
                    <a:schemeClr val="accent5"/>
                  </a:solidFill>
                  <a:latin typeface="+mn-lt"/>
                  <a:ea typeface="+mn-ea"/>
                  <a:cs typeface="+mn-cs"/>
                </a:rPr>
                <a:t>not causes</a:t>
              </a:r>
            </a:p>
          </p:txBody>
        </p:sp>
      </p:grpSp>
      <p:grpSp>
        <p:nvGrpSpPr>
          <p:cNvPr id="51" name="limit-2"/>
          <p:cNvGrpSpPr/>
          <p:nvPr/>
        </p:nvGrpSpPr>
        <p:grpSpPr>
          <a:xfrm>
            <a:off x="4326731" y="5435600"/>
            <a:ext cx="2985611" cy="782955"/>
            <a:chOff x="4326731" y="5435600"/>
            <a:chExt cx="2985611" cy="782955"/>
          </a:xfrm>
        </p:grpSpPr>
        <p:sp>
          <p:nvSpPr>
            <p:cNvPr id="49" name="Freeform 49"/>
            <p:cNvSpPr/>
            <p:nvPr/>
          </p:nvSpPr>
          <p:spPr>
            <a:xfrm>
              <a:off x="4326731" y="5522119"/>
              <a:ext cx="166688" cy="214312"/>
            </a:xfrm>
            <a:custGeom>
              <a:avLst/>
              <a:gdLst/>
              <a:ahLst/>
              <a:cxnLst/>
              <a:rect l="l" t="t" r="r" b="b"/>
              <a:pathLst>
                <a:path w="166688" h="214312">
                  <a:moveTo>
                    <a:pt x="95250" y="0"/>
                  </a:moveTo>
                  <a:lnTo>
                    <a:pt x="95250" y="83344"/>
                  </a:lnTo>
                  <a:lnTo>
                    <a:pt x="166688" y="83344"/>
                  </a:lnTo>
                  <a:lnTo>
                    <a:pt x="71438" y="214312"/>
                  </a:lnTo>
                  <a:lnTo>
                    <a:pt x="71438" y="130969"/>
                  </a:lnTo>
                  <a:lnTo>
                    <a:pt x="0" y="130969"/>
                  </a:lnTo>
                  <a:lnTo>
                    <a:pt x="95250" y="0"/>
                  </a:lnTo>
                </a:path>
              </a:pathLst>
            </a:custGeom>
            <a:noFill/>
            <a:ln w="23812">
              <a:solidFill>
                <a:srgbClr val="8A6A12"/>
              </a:solidFill>
            </a:ln>
          </p:spPr>
          <p:txBody>
            <a:bodyPr/>
            <a:lstStyle/>
            <a:p>
              <a:endParaRPr lang="en-US"/>
            </a:p>
          </p:txBody>
        </p:sp>
        <p:sp>
          <p:nvSpPr>
            <p:cNvPr id="50" name="TextBox 50"/>
            <p:cNvSpPr txBox="1"/>
            <p:nvPr/>
          </p:nvSpPr>
          <p:spPr>
            <a:xfrm>
              <a:off x="4674870" y="5435600"/>
              <a:ext cx="2637472"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accent5"/>
                  </a:solidFill>
                  <a:latin typeface="+mn-lt"/>
                  <a:ea typeface="+mn-ea"/>
                  <a:cs typeface="+mn-cs"/>
                </a:rPr>
                <a:t>Shocks like COVID</a:t>
              </a:r>
              <a:br>
                <a:rPr lang="en" sz="2250" dirty="0">
                  <a:solidFill>
                    <a:schemeClr val="accent5"/>
                  </a:solidFill>
                  <a:latin typeface="+mn-lt"/>
                  <a:ea typeface="+mn-ea"/>
                  <a:cs typeface="+mn-cs"/>
                </a:rPr>
              </a:br>
              <a:r>
                <a:rPr lang="en" sz="2250" dirty="0">
                  <a:solidFill>
                    <a:schemeClr val="accent5"/>
                  </a:solidFill>
                  <a:latin typeface="+mn-lt"/>
                  <a:ea typeface="+mn-ea"/>
                  <a:cs typeface="+mn-cs"/>
                </a:rPr>
                <a:t>can’t be predicted</a:t>
              </a:r>
            </a:p>
          </p:txBody>
        </p:sp>
      </p:grpSp>
      <p:grpSp>
        <p:nvGrpSpPr>
          <p:cNvPr id="56" name="limit-3"/>
          <p:cNvGrpSpPr/>
          <p:nvPr/>
        </p:nvGrpSpPr>
        <p:grpSpPr>
          <a:xfrm>
            <a:off x="7963125" y="5435600"/>
            <a:ext cx="3392580" cy="782955"/>
            <a:chOff x="7963125" y="5435600"/>
            <a:chExt cx="3392580" cy="782955"/>
          </a:xfrm>
        </p:grpSpPr>
        <p:grpSp>
          <p:nvGrpSpPr>
            <p:cNvPr id="54" name="Group 54"/>
            <p:cNvGrpSpPr/>
            <p:nvPr/>
          </p:nvGrpSpPr>
          <p:grpSpPr>
            <a:xfrm>
              <a:off x="7963125" y="5512823"/>
              <a:ext cx="209099" cy="231706"/>
              <a:chOff x="7963125" y="5512823"/>
              <a:chExt cx="209099" cy="231706"/>
            </a:xfrm>
          </p:grpSpPr>
          <p:sp>
            <p:nvSpPr>
              <p:cNvPr id="52" name="Freeform 52"/>
              <p:cNvSpPr/>
              <p:nvPr/>
            </p:nvSpPr>
            <p:spPr>
              <a:xfrm>
                <a:off x="8031956" y="5581650"/>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23812">
                <a:solidFill>
                  <a:srgbClr val="8A6A12"/>
                </a:solidFill>
              </a:ln>
            </p:spPr>
            <p:txBody>
              <a:bodyPr/>
              <a:lstStyle/>
              <a:p>
                <a:endParaRPr lang="en-US"/>
              </a:p>
            </p:txBody>
          </p:sp>
          <p:sp>
            <p:nvSpPr>
              <p:cNvPr id="53" name="Freeform 53"/>
              <p:cNvSpPr/>
              <p:nvPr/>
            </p:nvSpPr>
            <p:spPr>
              <a:xfrm>
                <a:off x="7963125" y="5512823"/>
                <a:ext cx="209099" cy="231706"/>
              </a:xfrm>
              <a:custGeom>
                <a:avLst/>
                <a:gdLst/>
                <a:ahLst/>
                <a:cxnLst/>
                <a:rect l="l" t="t" r="r" b="b"/>
                <a:pathLst>
                  <a:path w="209099" h="231706">
                    <a:moveTo>
                      <a:pt x="171903" y="171899"/>
                    </a:moveTo>
                    <a:lnTo>
                      <a:pt x="121385" y="222418"/>
                    </a:lnTo>
                    <a:cubicBezTo>
                      <a:pt x="112088" y="231706"/>
                      <a:pt x="97024" y="231706"/>
                      <a:pt x="87726" y="222418"/>
                    </a:cubicBezTo>
                    <a:lnTo>
                      <a:pt x="37196" y="171899"/>
                    </a:lnTo>
                    <a:cubicBezTo>
                      <a:pt x="0" y="134701"/>
                      <a:pt x="1" y="74393"/>
                      <a:pt x="37198" y="37197"/>
                    </a:cubicBezTo>
                    <a:cubicBezTo>
                      <a:pt x="74396" y="0"/>
                      <a:pt x="134704" y="0"/>
                      <a:pt x="171901" y="37197"/>
                    </a:cubicBezTo>
                    <a:cubicBezTo>
                      <a:pt x="209098" y="74393"/>
                      <a:pt x="209099" y="134701"/>
                      <a:pt x="171903" y="171899"/>
                    </a:cubicBezTo>
                  </a:path>
                </a:pathLst>
              </a:custGeom>
              <a:noFill/>
              <a:ln w="23812">
                <a:solidFill>
                  <a:srgbClr val="8A6A12"/>
                </a:solidFill>
              </a:ln>
            </p:spPr>
            <p:txBody>
              <a:bodyPr/>
              <a:lstStyle/>
              <a:p>
                <a:endParaRPr lang="en-US"/>
              </a:p>
            </p:txBody>
          </p:sp>
        </p:grpSp>
        <p:sp>
          <p:nvSpPr>
            <p:cNvPr id="55" name="TextBox 55"/>
            <p:cNvSpPr txBox="1"/>
            <p:nvPr/>
          </p:nvSpPr>
          <p:spPr>
            <a:xfrm>
              <a:off x="8332470" y="5435600"/>
              <a:ext cx="3023235" cy="782955"/>
            </a:xfrm>
            <a:prstGeom prst="rect">
              <a:avLst/>
            </a:prstGeom>
            <a:noFill/>
            <a:ln>
              <a:noFill/>
            </a:ln>
          </p:spPr>
          <p:txBody>
            <a:bodyPr wrap="none" lIns="0" tIns="0" rIns="0" bIns="0" anchor="t" anchorCtr="0">
              <a:spAutoFit/>
            </a:bodyPr>
            <a:lstStyle/>
            <a:p>
              <a:pPr algn="l">
                <a:lnSpc>
                  <a:spcPts val="2700"/>
                </a:lnSpc>
              </a:pPr>
              <a:r>
                <a:rPr lang="en" sz="2250" dirty="0">
                  <a:solidFill>
                    <a:schemeClr val="accent5"/>
                  </a:solidFill>
                  <a:latin typeface="+mn-lt"/>
                  <a:ea typeface="+mn-ea"/>
                  <a:cs typeface="+mn-cs"/>
                </a:rPr>
                <a:t>20 markets only;</a:t>
              </a:r>
              <a:br>
                <a:rPr lang="en" sz="2250" dirty="0">
                  <a:solidFill>
                    <a:schemeClr val="accent5"/>
                  </a:solidFill>
                  <a:latin typeface="+mn-lt"/>
                  <a:ea typeface="+mn-ea"/>
                  <a:cs typeface="+mn-cs"/>
                </a:rPr>
              </a:br>
              <a:r>
                <a:rPr lang="en" sz="2250" dirty="0">
                  <a:solidFill>
                    <a:schemeClr val="accent5"/>
                  </a:solidFill>
                  <a:latin typeface="+mn-lt"/>
                  <a:ea typeface="+mn-ea"/>
                  <a:cs typeface="+mn-cs"/>
                </a:rPr>
                <a:t>forecast ranges next</a:t>
              </a:r>
            </a:p>
          </p:txBody>
        </p:sp>
      </p:grpSp>
      <p:grpSp>
        <p:nvGrpSpPr>
          <p:cNvPr id="60" name="radar-mark"/>
          <p:cNvGrpSpPr/>
          <p:nvPr/>
        </p:nvGrpSpPr>
        <p:grpSpPr>
          <a:xfrm>
            <a:off x="11430000" y="6096000"/>
            <a:ext cx="1524000" cy="1524000"/>
            <a:chOff x="11430000" y="6096000"/>
            <a:chExt cx="1524000" cy="1524000"/>
          </a:xfrm>
        </p:grpSpPr>
        <p:sp>
          <p:nvSpPr>
            <p:cNvPr id="57" name="Freeform 57"/>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58" name="Freeform 58"/>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59" name="Freeform 59"/>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61" name="TextBox 61"/>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right)">
                                      <p:cBhvr>
                                        <p:cTn id="22" dur="500"/>
                                        <p:tgtEl>
                                          <p:spTgt spid="41"/>
                                        </p:tgtEl>
                                      </p:cBhvr>
                                    </p:animEffect>
                                  </p:childTnLst>
                                </p:cTn>
                              </p:par>
                            </p:childTnLst>
                          </p:cTn>
                        </p:par>
                        <p:par>
                          <p:cTn id="23" fill="hold">
                            <p:stCondLst>
                              <p:cond delay="500"/>
                            </p:stCondLst>
                            <p:childTnLst>
                              <p:par>
                                <p:cTn id="24" presetID="10" presetClass="entr" presetSubtype="0" fill="hold" nodeType="afterEffect">
                                  <p:stCondLst>
                                    <p:cond delay="500"/>
                                  </p:stCondLst>
                                  <p:childTnLst>
                                    <p:set>
                                      <p:cBhvr>
                                        <p:cTn id="25" dur="1" fill="hold">
                                          <p:stCondLst>
                                            <p:cond delay="0"/>
                                          </p:stCondLst>
                                        </p:cTn>
                                        <p:tgtEl>
                                          <p:spTgt spid="48"/>
                                        </p:tgtEl>
                                        <p:attrNameLst>
                                          <p:attrName>style.visibility</p:attrName>
                                        </p:attrNameLst>
                                      </p:cBhvr>
                                      <p:to>
                                        <p:strVal val="visible"/>
                                      </p:to>
                                    </p:set>
                                    <p:animEffect transition="in" filter="fade">
                                      <p:cBhvr>
                                        <p:cTn id="26" dur="500"/>
                                        <p:tgtEl>
                                          <p:spTgt spid="48"/>
                                        </p:tgtEl>
                                      </p:cBhvr>
                                    </p:animEffect>
                                  </p:childTnLst>
                                </p:cTn>
                              </p:par>
                            </p:childTnLst>
                          </p:cTn>
                        </p:par>
                        <p:par>
                          <p:cTn id="27" fill="hold">
                            <p:stCondLst>
                              <p:cond delay="1500"/>
                            </p:stCondLst>
                            <p:childTnLst>
                              <p:par>
                                <p:cTn id="28" presetID="10" presetClass="entr" presetSubtype="0" fill="hold" nodeType="afterEffect">
                                  <p:stCondLst>
                                    <p:cond delay="300"/>
                                  </p:stCondLst>
                                  <p:childTnLst>
                                    <p:set>
                                      <p:cBhvr>
                                        <p:cTn id="29" dur="1" fill="hold">
                                          <p:stCondLst>
                                            <p:cond delay="0"/>
                                          </p:stCondLst>
                                        </p:cTn>
                                        <p:tgtEl>
                                          <p:spTgt spid="51"/>
                                        </p:tgtEl>
                                        <p:attrNameLst>
                                          <p:attrName>style.visibility</p:attrName>
                                        </p:attrNameLst>
                                      </p:cBhvr>
                                      <p:to>
                                        <p:strVal val="visible"/>
                                      </p:to>
                                    </p:set>
                                    <p:animEffect transition="in" filter="fade">
                                      <p:cBhvr>
                                        <p:cTn id="30" dur="500"/>
                                        <p:tgtEl>
                                          <p:spTgt spid="51"/>
                                        </p:tgtEl>
                                      </p:cBhvr>
                                    </p:animEffect>
                                  </p:childTnLst>
                                </p:cTn>
                              </p:par>
                            </p:childTnLst>
                          </p:cTn>
                        </p:par>
                        <p:par>
                          <p:cTn id="31" fill="hold">
                            <p:stCondLst>
                              <p:cond delay="2300"/>
                            </p:stCondLst>
                            <p:childTnLst>
                              <p:par>
                                <p:cTn id="32" presetID="10" presetClass="entr" presetSubtype="0" fill="hold" nodeType="afterEffect">
                                  <p:stCondLst>
                                    <p:cond delay="30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Suspension_bridge_and_towers_tim…_20261013164432">
            <a:hlinkClick r:id="" action="ppaction://media"/>
            <a:extLst>
              <a:ext uri="{FF2B5EF4-FFF2-40B4-BE49-F238E27FC236}">
                <a16:creationId xmlns:a16="http://schemas.microsoft.com/office/drawing/2014/main" id="{B46E742C-4CA6-0DBE-3B93-EE1D2945475A}"/>
              </a:ext>
            </a:extLst>
          </p:cNvPr>
          <p:cNvPicPr>
            <a:picLocks noChangeAspect="1"/>
          </p:cNvPicPr>
          <p:nvPr>
            <a:videoFile r:link="rId1"/>
            <p:extLst>
              <p:ext uri="{DAA4B4D4-6D71-4841-9C94-3DE7FCFB9230}">
                <p14:media xmlns:p14="http://schemas.microsoft.com/office/powerpoint/2010/main" r:embed="rId2">
                  <p14:trim end="1010"/>
                </p14:media>
              </p:ext>
            </p:extLst>
          </p:nvPr>
        </p:nvPicPr>
        <p:blipFill>
          <a:blip r:embed="rId5"/>
          <a:stretch>
            <a:fillRect/>
          </a:stretch>
        </p:blipFill>
        <p:spPr>
          <a:xfrm>
            <a:off x="0" y="0"/>
            <a:ext cx="12192000" cy="6858000"/>
          </a:xfrm>
          <a:prstGeom prst="rect">
            <a:avLst/>
          </a:prstGeom>
        </p:spPr>
      </p:pic>
      <p:sp>
        <p:nvSpPr>
          <p:cNvPr id="4" name="p12-fade"/>
          <p:cNvSpPr/>
          <p:nvPr/>
        </p:nvSpPr>
        <p:spPr>
          <a:xfrm>
            <a:off x="0" y="0"/>
            <a:ext cx="7429500" cy="6858000"/>
          </a:xfrm>
          <a:prstGeom prst="rect">
            <a:avLst/>
          </a:prstGeom>
          <a:gradFill>
            <a:gsLst>
              <a:gs pos="0">
                <a:schemeClr val="lt1"/>
              </a:gs>
              <a:gs pos="69000">
                <a:schemeClr val="lt1"/>
              </a:gs>
              <a:gs pos="85000">
                <a:schemeClr val="lt1">
                  <a:alpha val="55000"/>
                </a:schemeClr>
              </a:gs>
              <a:gs pos="100000">
                <a:schemeClr val="lt1">
                  <a:alpha val="0"/>
                </a:schemeClr>
              </a:gs>
            </a:gsLst>
            <a:lin ang="0" scaled="1"/>
          </a:gradFill>
          <a:ln>
            <a:noFill/>
          </a:ln>
        </p:spPr>
        <p:txBody>
          <a:bodyPr/>
          <a:lstStyle/>
          <a:p>
            <a:endParaRPr lang="en-US"/>
          </a:p>
        </p:txBody>
      </p:sp>
      <p:pic>
        <p:nvPicPr>
          <p:cNvPr id="5" name="p12-batik-sprig"/>
          <p:cNvPicPr>
            <a:picLocks noChangeAspect="1"/>
          </p:cNvPicPr>
          <p:nvPr/>
        </p:nvPicPr>
        <p:blipFill>
          <a:blip r:embed="rId6">
            <a:alphaModFix amt="60000"/>
          </a:blip>
          <a:stretch>
            <a:fillRect/>
          </a:stretch>
        </p:blipFill>
        <p:spPr>
          <a:xfrm>
            <a:off x="612969" y="6419850"/>
            <a:ext cx="945762" cy="381000"/>
          </a:xfrm>
          <a:prstGeom prst="rect">
            <a:avLst/>
          </a:prstGeom>
        </p:spPr>
      </p:pic>
      <p:grpSp>
        <p:nvGrpSpPr>
          <p:cNvPr id="8" name="close-answer"/>
          <p:cNvGrpSpPr/>
          <p:nvPr/>
        </p:nvGrpSpPr>
        <p:grpSpPr>
          <a:xfrm>
            <a:off x="590550" y="787400"/>
            <a:ext cx="4324350" cy="3330575"/>
            <a:chOff x="590550" y="787400"/>
            <a:chExt cx="4324350" cy="3330575"/>
          </a:xfrm>
        </p:grpSpPr>
        <p:sp>
          <p:nvSpPr>
            <p:cNvPr id="6" name="TextBox 6"/>
            <p:cNvSpPr txBox="1"/>
            <p:nvPr/>
          </p:nvSpPr>
          <p:spPr>
            <a:xfrm>
              <a:off x="601218" y="787400"/>
              <a:ext cx="1583893"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THE ANSWER</a:t>
              </a:r>
            </a:p>
          </p:txBody>
        </p:sp>
        <p:sp>
          <p:nvSpPr>
            <p:cNvPr id="7" name="TextBox 7"/>
            <p:cNvSpPr txBox="1"/>
            <p:nvPr/>
          </p:nvSpPr>
          <p:spPr>
            <a:xfrm>
              <a:off x="590550" y="1289050"/>
              <a:ext cx="4324350" cy="2828925"/>
            </a:xfrm>
            <a:prstGeom prst="rect">
              <a:avLst/>
            </a:prstGeom>
            <a:noFill/>
            <a:ln>
              <a:noFill/>
            </a:ln>
          </p:spPr>
          <p:txBody>
            <a:bodyPr wrap="none" lIns="0" tIns="0" rIns="0" bIns="0" anchor="t" anchorCtr="0">
              <a:spAutoFit/>
            </a:bodyPr>
            <a:lstStyle/>
            <a:p>
              <a:pPr algn="l">
                <a:lnSpc>
                  <a:spcPts val="4125"/>
                </a:lnSpc>
              </a:pPr>
              <a:r>
                <a:rPr lang="en" sz="3750" spc="150" dirty="0">
                  <a:solidFill>
                    <a:schemeClr val="dk1"/>
                  </a:solidFill>
                  <a:latin typeface="+mj-lt"/>
                  <a:ea typeface="+mj-ea"/>
                  <a:cs typeface="+mj-cs"/>
                </a:rPr>
                <a:t>FOR 16 OF OUR 20</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MARKETS, HIGHER</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RISK GOES WITH</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FEWER TOURISTS,</a:t>
              </a:r>
              <a:br>
                <a:rPr lang="en" sz="3750" spc="150" dirty="0">
                  <a:solidFill>
                    <a:schemeClr val="dk1"/>
                  </a:solidFill>
                  <a:latin typeface="+mj-lt"/>
                  <a:ea typeface="+mj-ea"/>
                  <a:cs typeface="+mj-cs"/>
                </a:rPr>
              </a:br>
              <a:r>
                <a:rPr lang="en" sz="3750" spc="150" dirty="0">
                  <a:solidFill>
                    <a:schemeClr val="dk1"/>
                  </a:solidFill>
                  <a:latin typeface="+mj-lt"/>
                  <a:ea typeface="+mj-ea"/>
                  <a:cs typeface="+mj-cs"/>
                </a:rPr>
                <a:t>BUT NOT FOR ALL</a:t>
              </a:r>
            </a:p>
          </p:txBody>
        </p:sp>
      </p:grpSp>
      <p:grpSp>
        <p:nvGrpSpPr>
          <p:cNvPr id="10" name="close-reason"/>
          <p:cNvGrpSpPr/>
          <p:nvPr/>
        </p:nvGrpSpPr>
        <p:grpSpPr>
          <a:xfrm>
            <a:off x="598170" y="4083050"/>
            <a:ext cx="5743973" cy="440055"/>
            <a:chOff x="598170" y="4083050"/>
            <a:chExt cx="5743973" cy="440055"/>
          </a:xfrm>
        </p:grpSpPr>
        <p:sp>
          <p:nvSpPr>
            <p:cNvPr id="9" name="TextBox 9"/>
            <p:cNvSpPr txBox="1"/>
            <p:nvPr/>
          </p:nvSpPr>
          <p:spPr>
            <a:xfrm>
              <a:off x="598170" y="4083050"/>
              <a:ext cx="5743973"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That’s why we look market by market.</a:t>
              </a:r>
            </a:p>
          </p:txBody>
        </p:sp>
      </p:grpSp>
      <p:grpSp>
        <p:nvGrpSpPr>
          <p:cNvPr id="13" name="close-thanks"/>
          <p:cNvGrpSpPr/>
          <p:nvPr/>
        </p:nvGrpSpPr>
        <p:grpSpPr>
          <a:xfrm>
            <a:off x="590550" y="4635500"/>
            <a:ext cx="4210050" cy="762000"/>
            <a:chOff x="590550" y="4635500"/>
            <a:chExt cx="4210050" cy="762000"/>
          </a:xfrm>
        </p:grpSpPr>
        <p:sp>
          <p:nvSpPr>
            <p:cNvPr id="11" name="TextBox 11"/>
            <p:cNvSpPr txBox="1"/>
            <p:nvPr/>
          </p:nvSpPr>
          <p:spPr>
            <a:xfrm>
              <a:off x="590550" y="4635500"/>
              <a:ext cx="3770681" cy="762000"/>
            </a:xfrm>
            <a:prstGeom prst="rect">
              <a:avLst/>
            </a:prstGeom>
            <a:noFill/>
            <a:ln>
              <a:noFill/>
            </a:ln>
          </p:spPr>
          <p:txBody>
            <a:bodyPr wrap="none" lIns="0" tIns="0" rIns="0" bIns="0" anchor="t" anchorCtr="0">
              <a:spAutoFit/>
            </a:bodyPr>
            <a:lstStyle/>
            <a:p>
              <a:pPr algn="l"/>
              <a:r>
                <a:rPr lang="en" sz="3900" i="1" dirty="0">
                  <a:solidFill>
                    <a:schemeClr val="dk1"/>
                  </a:solidFill>
                  <a:latin typeface="+mj-lt"/>
                  <a:ea typeface="+mj-ea"/>
                  <a:cs typeface="+mj-cs"/>
                </a:rPr>
                <a:t>Terima kasih.</a:t>
              </a:r>
            </a:p>
          </p:txBody>
        </p:sp>
        <p:sp>
          <p:nvSpPr>
            <p:cNvPr id="12" name="Rectangle 12"/>
            <p:cNvSpPr/>
            <p:nvPr/>
          </p:nvSpPr>
          <p:spPr>
            <a:xfrm>
              <a:off x="4038600" y="4953000"/>
              <a:ext cx="762000" cy="38100"/>
            </a:xfrm>
            <a:prstGeom prst="rect">
              <a:avLst/>
            </a:prstGeom>
            <a:solidFill>
              <a:schemeClr val="accent2"/>
            </a:solidFill>
            <a:ln>
              <a:noFill/>
            </a:ln>
          </p:spPr>
          <p:txBody>
            <a:bodyPr/>
            <a:lstStyle/>
            <a:p>
              <a:endParaRPr lang="en-US"/>
            </a:p>
          </p:txBody>
        </p:sp>
      </p:grpSp>
      <p:grpSp>
        <p:nvGrpSpPr>
          <p:cNvPr id="15" name="qa-label"/>
          <p:cNvGrpSpPr/>
          <p:nvPr/>
        </p:nvGrpSpPr>
        <p:grpSpPr>
          <a:xfrm>
            <a:off x="601218" y="5692775"/>
            <a:ext cx="493624" cy="322707"/>
            <a:chOff x="601218" y="5692775"/>
            <a:chExt cx="493624" cy="322707"/>
          </a:xfrm>
        </p:grpSpPr>
        <p:sp>
          <p:nvSpPr>
            <p:cNvPr id="14" name="TextBox 14"/>
            <p:cNvSpPr txBox="1"/>
            <p:nvPr/>
          </p:nvSpPr>
          <p:spPr>
            <a:xfrm>
              <a:off x="601218" y="5692775"/>
              <a:ext cx="493624" cy="322707"/>
            </a:xfrm>
            <a:prstGeom prst="rect">
              <a:avLst/>
            </a:prstGeom>
            <a:noFill/>
            <a:ln>
              <a:noFill/>
            </a:ln>
          </p:spPr>
          <p:txBody>
            <a:bodyPr wrap="none" lIns="0" tIns="0" rIns="0" bIns="0" anchor="t" anchorCtr="0">
              <a:spAutoFit/>
            </a:bodyPr>
            <a:lstStyle/>
            <a:p>
              <a:pPr algn="l"/>
              <a:r>
                <a:rPr lang="en" sz="1650" spc="150" dirty="0">
                  <a:solidFill>
                    <a:schemeClr val="accent5"/>
                  </a:solidFill>
                  <a:latin typeface="Segoe UI Semibold"/>
                  <a:ea typeface="Segoe UI Semibold"/>
                  <a:cs typeface="Segoe UI Semibold"/>
                </a:rPr>
                <a:t>Q&amp;A</a:t>
              </a:r>
            </a:p>
          </p:txBody>
        </p:sp>
      </p:grpSp>
      <p:grpSp>
        <p:nvGrpSpPr>
          <p:cNvPr id="18" name="qa-accuracy"/>
          <p:cNvGrpSpPr/>
          <p:nvPr/>
        </p:nvGrpSpPr>
        <p:grpSpPr>
          <a:xfrm>
            <a:off x="1219200" y="5638800"/>
            <a:ext cx="1295400" cy="381000"/>
            <a:chOff x="1219200" y="5638800"/>
            <a:chExt cx="1295400" cy="381000"/>
          </a:xfrm>
        </p:grpSpPr>
        <p:sp>
          <p:nvSpPr>
            <p:cNvPr id="16" name="Rectangle 16">
              <a:hlinkClick r:id="rId7" action="ppaction://hlinksldjump"/>
            </p:cNvPr>
            <p:cNvSpPr/>
            <p:nvPr/>
          </p:nvSpPr>
          <p:spPr>
            <a:xfrm>
              <a:off x="1219200" y="5638800"/>
              <a:ext cx="1295400" cy="381000"/>
            </a:xfrm>
            <a:prstGeom prst="roundRect">
              <a:avLst>
                <a:gd name="adj" fmla="val 50000"/>
              </a:avLst>
            </a:prstGeom>
            <a:solidFill>
              <a:schemeClr val="lt2"/>
            </a:solidFill>
            <a:ln w="9525">
              <a:solidFill>
                <a:schemeClr val="accent6"/>
              </a:solidFill>
            </a:ln>
          </p:spPr>
          <p:txBody>
            <a:bodyPr/>
            <a:lstStyle/>
            <a:p>
              <a:endParaRPr lang="en-US"/>
            </a:p>
          </p:txBody>
        </p:sp>
        <p:sp>
          <p:nvSpPr>
            <p:cNvPr id="17" name="TextBox 17">
              <a:hlinkClick r:id="rId7" action="ppaction://hlinksldjump"/>
            </p:cNvPr>
            <p:cNvSpPr txBox="1"/>
            <p:nvPr/>
          </p:nvSpPr>
          <p:spPr>
            <a:xfrm>
              <a:off x="1366390" y="5692775"/>
              <a:ext cx="1001020"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Accuracy</a:t>
              </a:r>
            </a:p>
          </p:txBody>
        </p:sp>
      </p:grpSp>
      <p:grpSp>
        <p:nvGrpSpPr>
          <p:cNvPr id="21" name="qa-markets"/>
          <p:cNvGrpSpPr/>
          <p:nvPr/>
        </p:nvGrpSpPr>
        <p:grpSpPr>
          <a:xfrm>
            <a:off x="2628900" y="5638800"/>
            <a:ext cx="1219200" cy="381000"/>
            <a:chOff x="2628900" y="5638800"/>
            <a:chExt cx="1219200" cy="381000"/>
          </a:xfrm>
        </p:grpSpPr>
        <p:sp>
          <p:nvSpPr>
            <p:cNvPr id="19" name="Rectangle 19">
              <a:hlinkClick r:id="rId8" action="ppaction://hlinksldjump"/>
            </p:cNvPr>
            <p:cNvSpPr/>
            <p:nvPr/>
          </p:nvSpPr>
          <p:spPr>
            <a:xfrm>
              <a:off x="2628900" y="5638800"/>
              <a:ext cx="1219200" cy="381000"/>
            </a:xfrm>
            <a:prstGeom prst="roundRect">
              <a:avLst>
                <a:gd name="adj" fmla="val 50000"/>
              </a:avLst>
            </a:prstGeom>
            <a:solidFill>
              <a:schemeClr val="lt2"/>
            </a:solidFill>
            <a:ln w="9525">
              <a:solidFill>
                <a:schemeClr val="accent6"/>
              </a:solidFill>
            </a:ln>
          </p:spPr>
          <p:txBody>
            <a:bodyPr/>
            <a:lstStyle/>
            <a:p>
              <a:endParaRPr lang="en-US"/>
            </a:p>
          </p:txBody>
        </p:sp>
        <p:sp>
          <p:nvSpPr>
            <p:cNvPr id="20" name="TextBox 20">
              <a:hlinkClick r:id="rId8" action="ppaction://hlinksldjump"/>
            </p:cNvPr>
            <p:cNvSpPr txBox="1"/>
            <p:nvPr/>
          </p:nvSpPr>
          <p:spPr>
            <a:xfrm>
              <a:off x="2776682" y="5692775"/>
              <a:ext cx="923637"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Markets</a:t>
              </a:r>
            </a:p>
          </p:txBody>
        </p:sp>
      </p:grpSp>
      <p:grpSp>
        <p:nvGrpSpPr>
          <p:cNvPr id="24" name="qa-data"/>
          <p:cNvGrpSpPr/>
          <p:nvPr/>
        </p:nvGrpSpPr>
        <p:grpSpPr>
          <a:xfrm>
            <a:off x="3962400" y="5638800"/>
            <a:ext cx="1733550" cy="381000"/>
            <a:chOff x="3962400" y="5638800"/>
            <a:chExt cx="1733550" cy="381000"/>
          </a:xfrm>
        </p:grpSpPr>
        <p:sp>
          <p:nvSpPr>
            <p:cNvPr id="22" name="Rectangle 22">
              <a:hlinkClick r:id="rId9" action="ppaction://hlinksldjump"/>
            </p:cNvPr>
            <p:cNvSpPr/>
            <p:nvPr/>
          </p:nvSpPr>
          <p:spPr>
            <a:xfrm>
              <a:off x="3962400" y="5638800"/>
              <a:ext cx="1733550" cy="381000"/>
            </a:xfrm>
            <a:prstGeom prst="roundRect">
              <a:avLst>
                <a:gd name="adj" fmla="val 50000"/>
              </a:avLst>
            </a:prstGeom>
            <a:solidFill>
              <a:schemeClr val="lt2"/>
            </a:solidFill>
            <a:ln w="9525">
              <a:solidFill>
                <a:schemeClr val="accent6"/>
              </a:solidFill>
            </a:ln>
          </p:spPr>
          <p:txBody>
            <a:bodyPr/>
            <a:lstStyle/>
            <a:p>
              <a:endParaRPr lang="en-US"/>
            </a:p>
          </p:txBody>
        </p:sp>
        <p:sp>
          <p:nvSpPr>
            <p:cNvPr id="23" name="TextBox 23">
              <a:hlinkClick r:id="rId9" action="ppaction://hlinksldjump"/>
            </p:cNvPr>
            <p:cNvSpPr txBox="1"/>
            <p:nvPr/>
          </p:nvSpPr>
          <p:spPr>
            <a:xfrm>
              <a:off x="4105976" y="5692775"/>
              <a:ext cx="14463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Data &amp; design</a:t>
              </a:r>
            </a:p>
          </p:txBody>
        </p:sp>
      </p:grpSp>
      <p:grpSp>
        <p:nvGrpSpPr>
          <p:cNvPr id="27" name="qa-demo"/>
          <p:cNvGrpSpPr/>
          <p:nvPr/>
        </p:nvGrpSpPr>
        <p:grpSpPr>
          <a:xfrm>
            <a:off x="5810250" y="5638800"/>
            <a:ext cx="857250" cy="381000"/>
            <a:chOff x="5810250" y="5638800"/>
            <a:chExt cx="857250" cy="381000"/>
          </a:xfrm>
        </p:grpSpPr>
        <p:sp>
          <p:nvSpPr>
            <p:cNvPr id="25" name="Rectangle 25">
              <a:hlinkClick r:id="rId10" action="ppaction://hlinksldjump"/>
            </p:cNvPr>
            <p:cNvSpPr/>
            <p:nvPr/>
          </p:nvSpPr>
          <p:spPr>
            <a:xfrm>
              <a:off x="5810250" y="5638800"/>
              <a:ext cx="857250" cy="381000"/>
            </a:xfrm>
            <a:prstGeom prst="roundRect">
              <a:avLst>
                <a:gd name="adj" fmla="val 50000"/>
              </a:avLst>
            </a:prstGeom>
            <a:solidFill>
              <a:schemeClr val="lt2"/>
            </a:solidFill>
            <a:ln w="9525">
              <a:solidFill>
                <a:schemeClr val="accent6"/>
              </a:solidFill>
            </a:ln>
          </p:spPr>
          <p:txBody>
            <a:bodyPr/>
            <a:lstStyle/>
            <a:p>
              <a:endParaRPr lang="en-US"/>
            </a:p>
          </p:txBody>
        </p:sp>
        <p:sp>
          <p:nvSpPr>
            <p:cNvPr id="26" name="TextBox 26">
              <a:hlinkClick r:id="rId10" action="ppaction://hlinksldjump"/>
            </p:cNvPr>
            <p:cNvSpPr txBox="1"/>
            <p:nvPr/>
          </p:nvSpPr>
          <p:spPr>
            <a:xfrm>
              <a:off x="5960174" y="5692775"/>
              <a:ext cx="557403"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Demo</a:t>
              </a:r>
            </a:p>
          </p:txBody>
        </p:sp>
      </p:grpSp>
      <p:grpSp>
        <p:nvGrpSpPr>
          <p:cNvPr id="31" name="qr-card"/>
          <p:cNvGrpSpPr/>
          <p:nvPr/>
        </p:nvGrpSpPr>
        <p:grpSpPr>
          <a:xfrm>
            <a:off x="9929622" y="4765518"/>
            <a:ext cx="2244090" cy="2081814"/>
            <a:chOff x="9067800" y="3848100"/>
            <a:chExt cx="2667000" cy="2484114"/>
          </a:xfrm>
        </p:grpSpPr>
        <p:sp>
          <p:nvSpPr>
            <p:cNvPr id="28" name="Rectangle 28">
              <a:hlinkClick r:id="rId11"/>
            </p:cNvPr>
            <p:cNvSpPr/>
            <p:nvPr/>
          </p:nvSpPr>
          <p:spPr>
            <a:xfrm>
              <a:off x="9067800" y="3848100"/>
              <a:ext cx="2667000" cy="2476500"/>
            </a:xfrm>
            <a:prstGeom prst="roundRect">
              <a:avLst>
                <a:gd name="adj" fmla="val 3077"/>
              </a:avLst>
            </a:prstGeom>
            <a:solidFill>
              <a:schemeClr val="lt2"/>
            </a:solidFill>
            <a:ln>
              <a:noFill/>
            </a:ln>
          </p:spPr>
          <p:txBody>
            <a:bodyPr/>
            <a:lstStyle/>
            <a:p>
              <a:endParaRPr lang="en-US"/>
            </a:p>
          </p:txBody>
        </p:sp>
        <p:sp>
          <p:nvSpPr>
            <p:cNvPr id="29" name="p12-qr">
              <a:hlinkClick r:id="rId11"/>
            </p:cNvPr>
            <p:cNvSpPr/>
            <p:nvPr/>
          </p:nvSpPr>
          <p:spPr>
            <a:xfrm>
              <a:off x="9620250" y="4076700"/>
              <a:ext cx="1571625" cy="1571625"/>
            </a:xfrm>
            <a:custGeom>
              <a:avLst/>
              <a:gdLst/>
              <a:ahLst/>
              <a:cxnLst/>
              <a:rect l="l" t="t" r="r" b="b"/>
              <a:pathLst>
                <a:path w="1571625" h="1571625">
                  <a:moveTo>
                    <a:pt x="0" y="0"/>
                  </a:moveTo>
                  <a:lnTo>
                    <a:pt x="333375" y="0"/>
                  </a:lnTo>
                  <a:lnTo>
                    <a:pt x="333375" y="47625"/>
                  </a:lnTo>
                  <a:lnTo>
                    <a:pt x="0" y="47625"/>
                  </a:lnTo>
                  <a:close/>
                  <a:moveTo>
                    <a:pt x="428625" y="0"/>
                  </a:moveTo>
                  <a:lnTo>
                    <a:pt x="523875" y="0"/>
                  </a:lnTo>
                  <a:lnTo>
                    <a:pt x="523875" y="47625"/>
                  </a:lnTo>
                  <a:lnTo>
                    <a:pt x="428625" y="47625"/>
                  </a:lnTo>
                  <a:close/>
                  <a:moveTo>
                    <a:pt x="571500" y="0"/>
                  </a:moveTo>
                  <a:lnTo>
                    <a:pt x="619125" y="0"/>
                  </a:lnTo>
                  <a:lnTo>
                    <a:pt x="619125" y="47625"/>
                  </a:lnTo>
                  <a:lnTo>
                    <a:pt x="571500" y="47625"/>
                  </a:lnTo>
                  <a:close/>
                  <a:moveTo>
                    <a:pt x="666750" y="0"/>
                  </a:moveTo>
                  <a:lnTo>
                    <a:pt x="714375" y="0"/>
                  </a:lnTo>
                  <a:lnTo>
                    <a:pt x="714375" y="47625"/>
                  </a:lnTo>
                  <a:lnTo>
                    <a:pt x="666750" y="47625"/>
                  </a:lnTo>
                  <a:close/>
                  <a:moveTo>
                    <a:pt x="809625" y="0"/>
                  </a:moveTo>
                  <a:lnTo>
                    <a:pt x="1047750" y="0"/>
                  </a:lnTo>
                  <a:lnTo>
                    <a:pt x="1047750" y="47625"/>
                  </a:lnTo>
                  <a:lnTo>
                    <a:pt x="809625" y="47625"/>
                  </a:lnTo>
                  <a:close/>
                  <a:moveTo>
                    <a:pt x="1095375" y="0"/>
                  </a:moveTo>
                  <a:lnTo>
                    <a:pt x="1143000" y="0"/>
                  </a:lnTo>
                  <a:lnTo>
                    <a:pt x="1143000" y="47625"/>
                  </a:lnTo>
                  <a:lnTo>
                    <a:pt x="1095375" y="47625"/>
                  </a:lnTo>
                  <a:close/>
                  <a:moveTo>
                    <a:pt x="1238250" y="0"/>
                  </a:moveTo>
                  <a:lnTo>
                    <a:pt x="1571625" y="0"/>
                  </a:lnTo>
                  <a:lnTo>
                    <a:pt x="1571625" y="47625"/>
                  </a:lnTo>
                  <a:lnTo>
                    <a:pt x="1238250" y="47625"/>
                  </a:lnTo>
                  <a:close/>
                  <a:moveTo>
                    <a:pt x="0" y="47625"/>
                  </a:moveTo>
                  <a:lnTo>
                    <a:pt x="47625" y="47625"/>
                  </a:lnTo>
                  <a:lnTo>
                    <a:pt x="47625" y="95250"/>
                  </a:lnTo>
                  <a:lnTo>
                    <a:pt x="0" y="95250"/>
                  </a:lnTo>
                  <a:close/>
                  <a:moveTo>
                    <a:pt x="285750" y="47625"/>
                  </a:moveTo>
                  <a:lnTo>
                    <a:pt x="333375" y="47625"/>
                  </a:lnTo>
                  <a:lnTo>
                    <a:pt x="333375" y="95250"/>
                  </a:lnTo>
                  <a:lnTo>
                    <a:pt x="285750" y="95250"/>
                  </a:lnTo>
                  <a:close/>
                  <a:moveTo>
                    <a:pt x="381000" y="47625"/>
                  </a:moveTo>
                  <a:lnTo>
                    <a:pt x="523875" y="47625"/>
                  </a:lnTo>
                  <a:lnTo>
                    <a:pt x="523875" y="95250"/>
                  </a:lnTo>
                  <a:lnTo>
                    <a:pt x="381000" y="95250"/>
                  </a:lnTo>
                  <a:close/>
                  <a:moveTo>
                    <a:pt x="666750" y="47625"/>
                  </a:moveTo>
                  <a:lnTo>
                    <a:pt x="714375" y="47625"/>
                  </a:lnTo>
                  <a:lnTo>
                    <a:pt x="714375" y="95250"/>
                  </a:lnTo>
                  <a:lnTo>
                    <a:pt x="666750" y="95250"/>
                  </a:lnTo>
                  <a:close/>
                  <a:moveTo>
                    <a:pt x="762000" y="47625"/>
                  </a:moveTo>
                  <a:lnTo>
                    <a:pt x="809625" y="47625"/>
                  </a:lnTo>
                  <a:lnTo>
                    <a:pt x="809625" y="95250"/>
                  </a:lnTo>
                  <a:lnTo>
                    <a:pt x="762000" y="95250"/>
                  </a:lnTo>
                  <a:close/>
                  <a:moveTo>
                    <a:pt x="857250" y="47625"/>
                  </a:moveTo>
                  <a:lnTo>
                    <a:pt x="904875" y="47625"/>
                  </a:lnTo>
                  <a:lnTo>
                    <a:pt x="904875" y="95250"/>
                  </a:lnTo>
                  <a:lnTo>
                    <a:pt x="857250" y="95250"/>
                  </a:lnTo>
                  <a:close/>
                  <a:moveTo>
                    <a:pt x="1000125" y="47625"/>
                  </a:moveTo>
                  <a:lnTo>
                    <a:pt x="1047750" y="47625"/>
                  </a:lnTo>
                  <a:lnTo>
                    <a:pt x="1047750" y="95250"/>
                  </a:lnTo>
                  <a:lnTo>
                    <a:pt x="1000125" y="95250"/>
                  </a:lnTo>
                  <a:close/>
                  <a:moveTo>
                    <a:pt x="1095375" y="47625"/>
                  </a:moveTo>
                  <a:lnTo>
                    <a:pt x="1190625" y="47625"/>
                  </a:lnTo>
                  <a:lnTo>
                    <a:pt x="1190625" y="95250"/>
                  </a:lnTo>
                  <a:lnTo>
                    <a:pt x="1095375" y="95250"/>
                  </a:lnTo>
                  <a:close/>
                  <a:moveTo>
                    <a:pt x="1238250" y="47625"/>
                  </a:moveTo>
                  <a:lnTo>
                    <a:pt x="1285875" y="47625"/>
                  </a:lnTo>
                  <a:lnTo>
                    <a:pt x="1285875" y="95250"/>
                  </a:lnTo>
                  <a:lnTo>
                    <a:pt x="1238250" y="95250"/>
                  </a:lnTo>
                  <a:close/>
                  <a:moveTo>
                    <a:pt x="1524000" y="47625"/>
                  </a:moveTo>
                  <a:lnTo>
                    <a:pt x="1571625" y="47625"/>
                  </a:lnTo>
                  <a:lnTo>
                    <a:pt x="1571625" y="95250"/>
                  </a:lnTo>
                  <a:lnTo>
                    <a:pt x="1524000" y="95250"/>
                  </a:lnTo>
                  <a:close/>
                  <a:moveTo>
                    <a:pt x="0" y="95250"/>
                  </a:moveTo>
                  <a:lnTo>
                    <a:pt x="47625" y="95250"/>
                  </a:lnTo>
                  <a:lnTo>
                    <a:pt x="47625" y="142875"/>
                  </a:lnTo>
                  <a:lnTo>
                    <a:pt x="0" y="142875"/>
                  </a:lnTo>
                  <a:close/>
                  <a:moveTo>
                    <a:pt x="95250" y="95250"/>
                  </a:moveTo>
                  <a:lnTo>
                    <a:pt x="238125" y="95250"/>
                  </a:lnTo>
                  <a:lnTo>
                    <a:pt x="238125" y="142875"/>
                  </a:lnTo>
                  <a:lnTo>
                    <a:pt x="95250" y="142875"/>
                  </a:lnTo>
                  <a:close/>
                  <a:moveTo>
                    <a:pt x="285750" y="95250"/>
                  </a:moveTo>
                  <a:lnTo>
                    <a:pt x="333375" y="95250"/>
                  </a:lnTo>
                  <a:lnTo>
                    <a:pt x="333375" y="142875"/>
                  </a:lnTo>
                  <a:lnTo>
                    <a:pt x="285750" y="142875"/>
                  </a:lnTo>
                  <a:close/>
                  <a:moveTo>
                    <a:pt x="381000" y="95250"/>
                  </a:moveTo>
                  <a:lnTo>
                    <a:pt x="428625" y="95250"/>
                  </a:lnTo>
                  <a:lnTo>
                    <a:pt x="428625" y="142875"/>
                  </a:lnTo>
                  <a:lnTo>
                    <a:pt x="381000" y="142875"/>
                  </a:lnTo>
                  <a:close/>
                  <a:moveTo>
                    <a:pt x="476250" y="95250"/>
                  </a:moveTo>
                  <a:lnTo>
                    <a:pt x="523875" y="95250"/>
                  </a:lnTo>
                  <a:lnTo>
                    <a:pt x="523875" y="142875"/>
                  </a:lnTo>
                  <a:lnTo>
                    <a:pt x="476250" y="142875"/>
                  </a:lnTo>
                  <a:close/>
                  <a:moveTo>
                    <a:pt x="619125" y="95250"/>
                  </a:moveTo>
                  <a:lnTo>
                    <a:pt x="666750" y="95250"/>
                  </a:lnTo>
                  <a:lnTo>
                    <a:pt x="666750" y="142875"/>
                  </a:lnTo>
                  <a:lnTo>
                    <a:pt x="619125" y="142875"/>
                  </a:lnTo>
                  <a:close/>
                  <a:moveTo>
                    <a:pt x="714375" y="95250"/>
                  </a:moveTo>
                  <a:lnTo>
                    <a:pt x="762000" y="95250"/>
                  </a:lnTo>
                  <a:lnTo>
                    <a:pt x="762000" y="142875"/>
                  </a:lnTo>
                  <a:lnTo>
                    <a:pt x="714375" y="142875"/>
                  </a:lnTo>
                  <a:close/>
                  <a:moveTo>
                    <a:pt x="809625" y="95250"/>
                  </a:moveTo>
                  <a:lnTo>
                    <a:pt x="857250" y="95250"/>
                  </a:lnTo>
                  <a:lnTo>
                    <a:pt x="857250" y="142875"/>
                  </a:lnTo>
                  <a:lnTo>
                    <a:pt x="809625" y="142875"/>
                  </a:lnTo>
                  <a:close/>
                  <a:moveTo>
                    <a:pt x="904875" y="95250"/>
                  </a:moveTo>
                  <a:lnTo>
                    <a:pt x="952500" y="95250"/>
                  </a:lnTo>
                  <a:lnTo>
                    <a:pt x="952500" y="142875"/>
                  </a:lnTo>
                  <a:lnTo>
                    <a:pt x="904875" y="142875"/>
                  </a:lnTo>
                  <a:close/>
                  <a:moveTo>
                    <a:pt x="1047750" y="95250"/>
                  </a:moveTo>
                  <a:lnTo>
                    <a:pt x="1095375" y="95250"/>
                  </a:lnTo>
                  <a:lnTo>
                    <a:pt x="1095375" y="142875"/>
                  </a:lnTo>
                  <a:lnTo>
                    <a:pt x="1047750" y="142875"/>
                  </a:lnTo>
                  <a:close/>
                  <a:moveTo>
                    <a:pt x="1143000" y="95250"/>
                  </a:moveTo>
                  <a:lnTo>
                    <a:pt x="1190625" y="95250"/>
                  </a:lnTo>
                  <a:lnTo>
                    <a:pt x="1190625" y="142875"/>
                  </a:lnTo>
                  <a:lnTo>
                    <a:pt x="1143000" y="142875"/>
                  </a:lnTo>
                  <a:close/>
                  <a:moveTo>
                    <a:pt x="1238250" y="95250"/>
                  </a:moveTo>
                  <a:lnTo>
                    <a:pt x="1285875" y="95250"/>
                  </a:lnTo>
                  <a:lnTo>
                    <a:pt x="1285875" y="142875"/>
                  </a:lnTo>
                  <a:lnTo>
                    <a:pt x="1238250" y="142875"/>
                  </a:lnTo>
                  <a:close/>
                  <a:moveTo>
                    <a:pt x="1333500" y="95250"/>
                  </a:moveTo>
                  <a:lnTo>
                    <a:pt x="1476375" y="95250"/>
                  </a:lnTo>
                  <a:lnTo>
                    <a:pt x="1476375" y="142875"/>
                  </a:lnTo>
                  <a:lnTo>
                    <a:pt x="1333500" y="142875"/>
                  </a:lnTo>
                  <a:close/>
                  <a:moveTo>
                    <a:pt x="1524000" y="95250"/>
                  </a:moveTo>
                  <a:lnTo>
                    <a:pt x="1571625" y="95250"/>
                  </a:lnTo>
                  <a:lnTo>
                    <a:pt x="1571625" y="142875"/>
                  </a:lnTo>
                  <a:lnTo>
                    <a:pt x="1524000" y="142875"/>
                  </a:lnTo>
                  <a:close/>
                  <a:moveTo>
                    <a:pt x="0" y="142875"/>
                  </a:moveTo>
                  <a:lnTo>
                    <a:pt x="47625" y="142875"/>
                  </a:lnTo>
                  <a:lnTo>
                    <a:pt x="47625" y="190500"/>
                  </a:lnTo>
                  <a:lnTo>
                    <a:pt x="0" y="190500"/>
                  </a:lnTo>
                  <a:close/>
                  <a:moveTo>
                    <a:pt x="95250" y="142875"/>
                  </a:moveTo>
                  <a:lnTo>
                    <a:pt x="238125" y="142875"/>
                  </a:lnTo>
                  <a:lnTo>
                    <a:pt x="238125" y="190500"/>
                  </a:lnTo>
                  <a:lnTo>
                    <a:pt x="95250" y="190500"/>
                  </a:lnTo>
                  <a:close/>
                  <a:moveTo>
                    <a:pt x="285750" y="142875"/>
                  </a:moveTo>
                  <a:lnTo>
                    <a:pt x="333375" y="142875"/>
                  </a:lnTo>
                  <a:lnTo>
                    <a:pt x="333375" y="190500"/>
                  </a:lnTo>
                  <a:lnTo>
                    <a:pt x="285750" y="190500"/>
                  </a:lnTo>
                  <a:close/>
                  <a:moveTo>
                    <a:pt x="428625" y="142875"/>
                  </a:moveTo>
                  <a:lnTo>
                    <a:pt x="476250" y="142875"/>
                  </a:lnTo>
                  <a:lnTo>
                    <a:pt x="476250" y="190500"/>
                  </a:lnTo>
                  <a:lnTo>
                    <a:pt x="428625" y="190500"/>
                  </a:lnTo>
                  <a:close/>
                  <a:moveTo>
                    <a:pt x="523875" y="142875"/>
                  </a:moveTo>
                  <a:lnTo>
                    <a:pt x="666750" y="142875"/>
                  </a:lnTo>
                  <a:lnTo>
                    <a:pt x="666750" y="190500"/>
                  </a:lnTo>
                  <a:lnTo>
                    <a:pt x="523875" y="190500"/>
                  </a:lnTo>
                  <a:close/>
                  <a:moveTo>
                    <a:pt x="714375" y="142875"/>
                  </a:moveTo>
                  <a:lnTo>
                    <a:pt x="809625" y="142875"/>
                  </a:lnTo>
                  <a:lnTo>
                    <a:pt x="809625" y="190500"/>
                  </a:lnTo>
                  <a:lnTo>
                    <a:pt x="714375" y="190500"/>
                  </a:lnTo>
                  <a:close/>
                  <a:moveTo>
                    <a:pt x="904875" y="142875"/>
                  </a:moveTo>
                  <a:lnTo>
                    <a:pt x="952500" y="142875"/>
                  </a:lnTo>
                  <a:lnTo>
                    <a:pt x="952500" y="190500"/>
                  </a:lnTo>
                  <a:lnTo>
                    <a:pt x="904875" y="190500"/>
                  </a:lnTo>
                  <a:close/>
                  <a:moveTo>
                    <a:pt x="1047750" y="142875"/>
                  </a:moveTo>
                  <a:lnTo>
                    <a:pt x="1095375" y="142875"/>
                  </a:lnTo>
                  <a:lnTo>
                    <a:pt x="1095375" y="190500"/>
                  </a:lnTo>
                  <a:lnTo>
                    <a:pt x="1047750" y="190500"/>
                  </a:lnTo>
                  <a:close/>
                  <a:moveTo>
                    <a:pt x="1238250" y="142875"/>
                  </a:moveTo>
                  <a:lnTo>
                    <a:pt x="1285875" y="142875"/>
                  </a:lnTo>
                  <a:lnTo>
                    <a:pt x="1285875" y="190500"/>
                  </a:lnTo>
                  <a:lnTo>
                    <a:pt x="1238250" y="190500"/>
                  </a:lnTo>
                  <a:close/>
                  <a:moveTo>
                    <a:pt x="1333500" y="142875"/>
                  </a:moveTo>
                  <a:lnTo>
                    <a:pt x="1476375" y="142875"/>
                  </a:lnTo>
                  <a:lnTo>
                    <a:pt x="1476375" y="190500"/>
                  </a:lnTo>
                  <a:lnTo>
                    <a:pt x="1333500" y="190500"/>
                  </a:lnTo>
                  <a:close/>
                  <a:moveTo>
                    <a:pt x="1524000" y="142875"/>
                  </a:moveTo>
                  <a:lnTo>
                    <a:pt x="1571625" y="142875"/>
                  </a:lnTo>
                  <a:lnTo>
                    <a:pt x="1571625" y="190500"/>
                  </a:lnTo>
                  <a:lnTo>
                    <a:pt x="1524000" y="190500"/>
                  </a:lnTo>
                  <a:close/>
                  <a:moveTo>
                    <a:pt x="0" y="190500"/>
                  </a:moveTo>
                  <a:lnTo>
                    <a:pt x="47625" y="190500"/>
                  </a:lnTo>
                  <a:lnTo>
                    <a:pt x="47625" y="238125"/>
                  </a:lnTo>
                  <a:lnTo>
                    <a:pt x="0" y="238125"/>
                  </a:lnTo>
                  <a:close/>
                  <a:moveTo>
                    <a:pt x="95250" y="190500"/>
                  </a:moveTo>
                  <a:lnTo>
                    <a:pt x="238125" y="190500"/>
                  </a:lnTo>
                  <a:lnTo>
                    <a:pt x="238125" y="238125"/>
                  </a:lnTo>
                  <a:lnTo>
                    <a:pt x="95250" y="238125"/>
                  </a:lnTo>
                  <a:close/>
                  <a:moveTo>
                    <a:pt x="285750" y="190500"/>
                  </a:moveTo>
                  <a:lnTo>
                    <a:pt x="333375" y="190500"/>
                  </a:lnTo>
                  <a:lnTo>
                    <a:pt x="333375" y="238125"/>
                  </a:lnTo>
                  <a:lnTo>
                    <a:pt x="285750" y="238125"/>
                  </a:lnTo>
                  <a:close/>
                  <a:moveTo>
                    <a:pt x="428625" y="190500"/>
                  </a:moveTo>
                  <a:lnTo>
                    <a:pt x="571500" y="190500"/>
                  </a:lnTo>
                  <a:lnTo>
                    <a:pt x="571500" y="238125"/>
                  </a:lnTo>
                  <a:lnTo>
                    <a:pt x="428625" y="238125"/>
                  </a:lnTo>
                  <a:close/>
                  <a:moveTo>
                    <a:pt x="762000" y="190500"/>
                  </a:moveTo>
                  <a:lnTo>
                    <a:pt x="809625" y="190500"/>
                  </a:lnTo>
                  <a:lnTo>
                    <a:pt x="809625" y="238125"/>
                  </a:lnTo>
                  <a:lnTo>
                    <a:pt x="762000" y="238125"/>
                  </a:lnTo>
                  <a:close/>
                  <a:moveTo>
                    <a:pt x="952500" y="190500"/>
                  </a:moveTo>
                  <a:lnTo>
                    <a:pt x="1000125" y="190500"/>
                  </a:lnTo>
                  <a:lnTo>
                    <a:pt x="1000125" y="238125"/>
                  </a:lnTo>
                  <a:lnTo>
                    <a:pt x="952500" y="238125"/>
                  </a:lnTo>
                  <a:close/>
                  <a:moveTo>
                    <a:pt x="1143000" y="190500"/>
                  </a:moveTo>
                  <a:lnTo>
                    <a:pt x="1190625" y="190500"/>
                  </a:lnTo>
                  <a:lnTo>
                    <a:pt x="1190625" y="238125"/>
                  </a:lnTo>
                  <a:lnTo>
                    <a:pt x="1143000" y="238125"/>
                  </a:lnTo>
                  <a:close/>
                  <a:moveTo>
                    <a:pt x="1238250" y="190500"/>
                  </a:moveTo>
                  <a:lnTo>
                    <a:pt x="1285875" y="190500"/>
                  </a:lnTo>
                  <a:lnTo>
                    <a:pt x="1285875" y="238125"/>
                  </a:lnTo>
                  <a:lnTo>
                    <a:pt x="1238250" y="238125"/>
                  </a:lnTo>
                  <a:close/>
                  <a:moveTo>
                    <a:pt x="1333500" y="190500"/>
                  </a:moveTo>
                  <a:lnTo>
                    <a:pt x="1476375" y="190500"/>
                  </a:lnTo>
                  <a:lnTo>
                    <a:pt x="1476375" y="238125"/>
                  </a:lnTo>
                  <a:lnTo>
                    <a:pt x="1333500" y="238125"/>
                  </a:lnTo>
                  <a:close/>
                  <a:moveTo>
                    <a:pt x="1524000" y="190500"/>
                  </a:moveTo>
                  <a:lnTo>
                    <a:pt x="1571625" y="190500"/>
                  </a:lnTo>
                  <a:lnTo>
                    <a:pt x="1571625" y="238125"/>
                  </a:lnTo>
                  <a:lnTo>
                    <a:pt x="1524000" y="238125"/>
                  </a:lnTo>
                  <a:close/>
                  <a:moveTo>
                    <a:pt x="0" y="238125"/>
                  </a:moveTo>
                  <a:lnTo>
                    <a:pt x="47625" y="238125"/>
                  </a:lnTo>
                  <a:lnTo>
                    <a:pt x="47625" y="285750"/>
                  </a:lnTo>
                  <a:lnTo>
                    <a:pt x="0" y="285750"/>
                  </a:lnTo>
                  <a:close/>
                  <a:moveTo>
                    <a:pt x="285750" y="238125"/>
                  </a:moveTo>
                  <a:lnTo>
                    <a:pt x="333375" y="238125"/>
                  </a:lnTo>
                  <a:lnTo>
                    <a:pt x="333375" y="285750"/>
                  </a:lnTo>
                  <a:lnTo>
                    <a:pt x="285750" y="285750"/>
                  </a:lnTo>
                  <a:close/>
                  <a:moveTo>
                    <a:pt x="571500" y="238125"/>
                  </a:moveTo>
                  <a:lnTo>
                    <a:pt x="666750" y="238125"/>
                  </a:lnTo>
                  <a:lnTo>
                    <a:pt x="666750" y="285750"/>
                  </a:lnTo>
                  <a:lnTo>
                    <a:pt x="571500" y="285750"/>
                  </a:lnTo>
                  <a:close/>
                  <a:moveTo>
                    <a:pt x="857250" y="238125"/>
                  </a:moveTo>
                  <a:lnTo>
                    <a:pt x="952500" y="238125"/>
                  </a:lnTo>
                  <a:lnTo>
                    <a:pt x="952500" y="285750"/>
                  </a:lnTo>
                  <a:lnTo>
                    <a:pt x="857250" y="285750"/>
                  </a:lnTo>
                  <a:close/>
                  <a:moveTo>
                    <a:pt x="1000125" y="238125"/>
                  </a:moveTo>
                  <a:lnTo>
                    <a:pt x="1095375" y="238125"/>
                  </a:lnTo>
                  <a:lnTo>
                    <a:pt x="1095375" y="285750"/>
                  </a:lnTo>
                  <a:lnTo>
                    <a:pt x="1000125" y="285750"/>
                  </a:lnTo>
                  <a:close/>
                  <a:moveTo>
                    <a:pt x="1143000" y="238125"/>
                  </a:moveTo>
                  <a:lnTo>
                    <a:pt x="1190625" y="238125"/>
                  </a:lnTo>
                  <a:lnTo>
                    <a:pt x="1190625" y="285750"/>
                  </a:lnTo>
                  <a:lnTo>
                    <a:pt x="1143000" y="285750"/>
                  </a:lnTo>
                  <a:close/>
                  <a:moveTo>
                    <a:pt x="1238250" y="238125"/>
                  </a:moveTo>
                  <a:lnTo>
                    <a:pt x="1285875" y="238125"/>
                  </a:lnTo>
                  <a:lnTo>
                    <a:pt x="1285875" y="285750"/>
                  </a:lnTo>
                  <a:lnTo>
                    <a:pt x="1238250" y="285750"/>
                  </a:lnTo>
                  <a:close/>
                  <a:moveTo>
                    <a:pt x="1524000" y="238125"/>
                  </a:moveTo>
                  <a:lnTo>
                    <a:pt x="1571625" y="238125"/>
                  </a:lnTo>
                  <a:lnTo>
                    <a:pt x="1571625" y="285750"/>
                  </a:lnTo>
                  <a:lnTo>
                    <a:pt x="1524000" y="285750"/>
                  </a:lnTo>
                  <a:close/>
                  <a:moveTo>
                    <a:pt x="0" y="285750"/>
                  </a:moveTo>
                  <a:lnTo>
                    <a:pt x="333375" y="285750"/>
                  </a:lnTo>
                  <a:lnTo>
                    <a:pt x="333375" y="333375"/>
                  </a:lnTo>
                  <a:lnTo>
                    <a:pt x="0" y="333375"/>
                  </a:lnTo>
                  <a:close/>
                  <a:moveTo>
                    <a:pt x="381000" y="285750"/>
                  </a:moveTo>
                  <a:lnTo>
                    <a:pt x="428625" y="285750"/>
                  </a:lnTo>
                  <a:lnTo>
                    <a:pt x="428625" y="333375"/>
                  </a:lnTo>
                  <a:lnTo>
                    <a:pt x="381000" y="333375"/>
                  </a:lnTo>
                  <a:close/>
                  <a:moveTo>
                    <a:pt x="476250" y="285750"/>
                  </a:moveTo>
                  <a:lnTo>
                    <a:pt x="523875" y="285750"/>
                  </a:lnTo>
                  <a:lnTo>
                    <a:pt x="523875" y="333375"/>
                  </a:lnTo>
                  <a:lnTo>
                    <a:pt x="476250" y="333375"/>
                  </a:lnTo>
                  <a:close/>
                  <a:moveTo>
                    <a:pt x="571500" y="285750"/>
                  </a:moveTo>
                  <a:lnTo>
                    <a:pt x="619125" y="285750"/>
                  </a:lnTo>
                  <a:lnTo>
                    <a:pt x="619125" y="333375"/>
                  </a:lnTo>
                  <a:lnTo>
                    <a:pt x="571500" y="333375"/>
                  </a:lnTo>
                  <a:close/>
                  <a:moveTo>
                    <a:pt x="666750" y="285750"/>
                  </a:moveTo>
                  <a:lnTo>
                    <a:pt x="714375" y="285750"/>
                  </a:lnTo>
                  <a:lnTo>
                    <a:pt x="714375" y="333375"/>
                  </a:lnTo>
                  <a:lnTo>
                    <a:pt x="666750" y="333375"/>
                  </a:lnTo>
                  <a:close/>
                  <a:moveTo>
                    <a:pt x="762000" y="285750"/>
                  </a:moveTo>
                  <a:lnTo>
                    <a:pt x="809625" y="285750"/>
                  </a:lnTo>
                  <a:lnTo>
                    <a:pt x="809625" y="333375"/>
                  </a:lnTo>
                  <a:lnTo>
                    <a:pt x="762000" y="333375"/>
                  </a:lnTo>
                  <a:close/>
                  <a:moveTo>
                    <a:pt x="857250" y="285750"/>
                  </a:moveTo>
                  <a:lnTo>
                    <a:pt x="904875" y="285750"/>
                  </a:lnTo>
                  <a:lnTo>
                    <a:pt x="904875" y="333375"/>
                  </a:lnTo>
                  <a:lnTo>
                    <a:pt x="857250" y="333375"/>
                  </a:lnTo>
                  <a:close/>
                  <a:moveTo>
                    <a:pt x="952500" y="285750"/>
                  </a:moveTo>
                  <a:lnTo>
                    <a:pt x="1000125" y="285750"/>
                  </a:lnTo>
                  <a:lnTo>
                    <a:pt x="1000125" y="333375"/>
                  </a:lnTo>
                  <a:lnTo>
                    <a:pt x="952500" y="333375"/>
                  </a:lnTo>
                  <a:close/>
                  <a:moveTo>
                    <a:pt x="1047750" y="285750"/>
                  </a:moveTo>
                  <a:lnTo>
                    <a:pt x="1095375" y="285750"/>
                  </a:lnTo>
                  <a:lnTo>
                    <a:pt x="1095375" y="333375"/>
                  </a:lnTo>
                  <a:lnTo>
                    <a:pt x="1047750" y="333375"/>
                  </a:lnTo>
                  <a:close/>
                  <a:moveTo>
                    <a:pt x="1143000" y="285750"/>
                  </a:moveTo>
                  <a:lnTo>
                    <a:pt x="1190625" y="285750"/>
                  </a:lnTo>
                  <a:lnTo>
                    <a:pt x="1190625" y="333375"/>
                  </a:lnTo>
                  <a:lnTo>
                    <a:pt x="1143000" y="333375"/>
                  </a:lnTo>
                  <a:close/>
                  <a:moveTo>
                    <a:pt x="1238250" y="285750"/>
                  </a:moveTo>
                  <a:lnTo>
                    <a:pt x="1571625" y="285750"/>
                  </a:lnTo>
                  <a:lnTo>
                    <a:pt x="1571625" y="333375"/>
                  </a:lnTo>
                  <a:lnTo>
                    <a:pt x="1238250" y="333375"/>
                  </a:lnTo>
                  <a:close/>
                  <a:moveTo>
                    <a:pt x="476250" y="333375"/>
                  </a:moveTo>
                  <a:lnTo>
                    <a:pt x="571500" y="333375"/>
                  </a:lnTo>
                  <a:lnTo>
                    <a:pt x="571500" y="381000"/>
                  </a:lnTo>
                  <a:lnTo>
                    <a:pt x="476250" y="381000"/>
                  </a:lnTo>
                  <a:close/>
                  <a:moveTo>
                    <a:pt x="762000" y="333375"/>
                  </a:moveTo>
                  <a:lnTo>
                    <a:pt x="857250" y="333375"/>
                  </a:lnTo>
                  <a:lnTo>
                    <a:pt x="857250" y="381000"/>
                  </a:lnTo>
                  <a:lnTo>
                    <a:pt x="762000" y="381000"/>
                  </a:lnTo>
                  <a:close/>
                  <a:moveTo>
                    <a:pt x="952500" y="333375"/>
                  </a:moveTo>
                  <a:lnTo>
                    <a:pt x="1000125" y="333375"/>
                  </a:lnTo>
                  <a:lnTo>
                    <a:pt x="1000125" y="381000"/>
                  </a:lnTo>
                  <a:lnTo>
                    <a:pt x="952500" y="381000"/>
                  </a:lnTo>
                  <a:close/>
                  <a:moveTo>
                    <a:pt x="1143000" y="333375"/>
                  </a:moveTo>
                  <a:lnTo>
                    <a:pt x="1190625" y="333375"/>
                  </a:lnTo>
                  <a:lnTo>
                    <a:pt x="1190625" y="381000"/>
                  </a:lnTo>
                  <a:lnTo>
                    <a:pt x="1143000" y="381000"/>
                  </a:lnTo>
                  <a:close/>
                  <a:moveTo>
                    <a:pt x="47625" y="381000"/>
                  </a:moveTo>
                  <a:lnTo>
                    <a:pt x="190500" y="381000"/>
                  </a:lnTo>
                  <a:lnTo>
                    <a:pt x="190500" y="428625"/>
                  </a:lnTo>
                  <a:lnTo>
                    <a:pt x="47625" y="428625"/>
                  </a:lnTo>
                  <a:close/>
                  <a:moveTo>
                    <a:pt x="238125" y="381000"/>
                  </a:moveTo>
                  <a:lnTo>
                    <a:pt x="333375" y="381000"/>
                  </a:lnTo>
                  <a:lnTo>
                    <a:pt x="333375" y="428625"/>
                  </a:lnTo>
                  <a:lnTo>
                    <a:pt x="238125" y="428625"/>
                  </a:lnTo>
                  <a:close/>
                  <a:moveTo>
                    <a:pt x="428625" y="381000"/>
                  </a:moveTo>
                  <a:lnTo>
                    <a:pt x="571500" y="381000"/>
                  </a:lnTo>
                  <a:lnTo>
                    <a:pt x="571500" y="428625"/>
                  </a:lnTo>
                  <a:lnTo>
                    <a:pt x="428625" y="428625"/>
                  </a:lnTo>
                  <a:close/>
                  <a:moveTo>
                    <a:pt x="666750" y="381000"/>
                  </a:moveTo>
                  <a:lnTo>
                    <a:pt x="952500" y="381000"/>
                  </a:lnTo>
                  <a:lnTo>
                    <a:pt x="952500" y="428625"/>
                  </a:lnTo>
                  <a:lnTo>
                    <a:pt x="666750" y="428625"/>
                  </a:lnTo>
                  <a:close/>
                  <a:moveTo>
                    <a:pt x="1000125" y="381000"/>
                  </a:moveTo>
                  <a:lnTo>
                    <a:pt x="1190625" y="381000"/>
                  </a:lnTo>
                  <a:lnTo>
                    <a:pt x="1190625" y="428625"/>
                  </a:lnTo>
                  <a:lnTo>
                    <a:pt x="1000125" y="428625"/>
                  </a:lnTo>
                  <a:close/>
                  <a:moveTo>
                    <a:pt x="1428750" y="381000"/>
                  </a:moveTo>
                  <a:lnTo>
                    <a:pt x="1524000" y="381000"/>
                  </a:lnTo>
                  <a:lnTo>
                    <a:pt x="1524000" y="428625"/>
                  </a:lnTo>
                  <a:lnTo>
                    <a:pt x="1428750" y="428625"/>
                  </a:lnTo>
                  <a:close/>
                  <a:moveTo>
                    <a:pt x="95250" y="428625"/>
                  </a:moveTo>
                  <a:lnTo>
                    <a:pt x="190500" y="428625"/>
                  </a:lnTo>
                  <a:lnTo>
                    <a:pt x="190500" y="476250"/>
                  </a:lnTo>
                  <a:lnTo>
                    <a:pt x="95250" y="476250"/>
                  </a:lnTo>
                  <a:close/>
                  <a:moveTo>
                    <a:pt x="238125" y="428625"/>
                  </a:moveTo>
                  <a:lnTo>
                    <a:pt x="285750" y="428625"/>
                  </a:lnTo>
                  <a:lnTo>
                    <a:pt x="285750" y="476250"/>
                  </a:lnTo>
                  <a:lnTo>
                    <a:pt x="238125" y="476250"/>
                  </a:lnTo>
                  <a:close/>
                  <a:moveTo>
                    <a:pt x="333375" y="428625"/>
                  </a:moveTo>
                  <a:lnTo>
                    <a:pt x="381000" y="428625"/>
                  </a:lnTo>
                  <a:lnTo>
                    <a:pt x="381000" y="476250"/>
                  </a:lnTo>
                  <a:lnTo>
                    <a:pt x="333375" y="476250"/>
                  </a:lnTo>
                  <a:close/>
                  <a:moveTo>
                    <a:pt x="428625" y="428625"/>
                  </a:moveTo>
                  <a:lnTo>
                    <a:pt x="523875" y="428625"/>
                  </a:lnTo>
                  <a:lnTo>
                    <a:pt x="523875" y="476250"/>
                  </a:lnTo>
                  <a:lnTo>
                    <a:pt x="428625" y="476250"/>
                  </a:lnTo>
                  <a:close/>
                  <a:moveTo>
                    <a:pt x="571500" y="428625"/>
                  </a:moveTo>
                  <a:lnTo>
                    <a:pt x="666750" y="428625"/>
                  </a:lnTo>
                  <a:lnTo>
                    <a:pt x="666750" y="476250"/>
                  </a:lnTo>
                  <a:lnTo>
                    <a:pt x="571500" y="476250"/>
                  </a:lnTo>
                  <a:close/>
                  <a:moveTo>
                    <a:pt x="714375" y="428625"/>
                  </a:moveTo>
                  <a:lnTo>
                    <a:pt x="762000" y="428625"/>
                  </a:lnTo>
                  <a:lnTo>
                    <a:pt x="762000" y="476250"/>
                  </a:lnTo>
                  <a:lnTo>
                    <a:pt x="714375" y="476250"/>
                  </a:lnTo>
                  <a:close/>
                  <a:moveTo>
                    <a:pt x="857250" y="428625"/>
                  </a:moveTo>
                  <a:lnTo>
                    <a:pt x="1047750" y="428625"/>
                  </a:lnTo>
                  <a:lnTo>
                    <a:pt x="1047750" y="476250"/>
                  </a:lnTo>
                  <a:lnTo>
                    <a:pt x="857250" y="476250"/>
                  </a:lnTo>
                  <a:close/>
                  <a:moveTo>
                    <a:pt x="1095375" y="428625"/>
                  </a:moveTo>
                  <a:lnTo>
                    <a:pt x="1143000" y="428625"/>
                  </a:lnTo>
                  <a:lnTo>
                    <a:pt x="1143000" y="476250"/>
                  </a:lnTo>
                  <a:lnTo>
                    <a:pt x="1095375" y="476250"/>
                  </a:lnTo>
                  <a:close/>
                  <a:moveTo>
                    <a:pt x="1238250" y="428625"/>
                  </a:moveTo>
                  <a:lnTo>
                    <a:pt x="1333500" y="428625"/>
                  </a:lnTo>
                  <a:lnTo>
                    <a:pt x="1333500" y="476250"/>
                  </a:lnTo>
                  <a:lnTo>
                    <a:pt x="1238250" y="476250"/>
                  </a:lnTo>
                  <a:close/>
                  <a:moveTo>
                    <a:pt x="1381125" y="428625"/>
                  </a:moveTo>
                  <a:lnTo>
                    <a:pt x="1476375" y="428625"/>
                  </a:lnTo>
                  <a:lnTo>
                    <a:pt x="1476375" y="476250"/>
                  </a:lnTo>
                  <a:lnTo>
                    <a:pt x="1381125" y="476250"/>
                  </a:lnTo>
                  <a:close/>
                  <a:moveTo>
                    <a:pt x="1524000" y="428625"/>
                  </a:moveTo>
                  <a:lnTo>
                    <a:pt x="1571625" y="428625"/>
                  </a:lnTo>
                  <a:lnTo>
                    <a:pt x="1571625" y="476250"/>
                  </a:lnTo>
                  <a:lnTo>
                    <a:pt x="1524000" y="476250"/>
                  </a:lnTo>
                  <a:close/>
                  <a:moveTo>
                    <a:pt x="0" y="476250"/>
                  </a:moveTo>
                  <a:lnTo>
                    <a:pt x="190500" y="476250"/>
                  </a:lnTo>
                  <a:lnTo>
                    <a:pt x="190500" y="523875"/>
                  </a:lnTo>
                  <a:lnTo>
                    <a:pt x="0" y="523875"/>
                  </a:lnTo>
                  <a:close/>
                  <a:moveTo>
                    <a:pt x="285750" y="476250"/>
                  </a:moveTo>
                  <a:lnTo>
                    <a:pt x="333375" y="476250"/>
                  </a:lnTo>
                  <a:lnTo>
                    <a:pt x="333375" y="523875"/>
                  </a:lnTo>
                  <a:lnTo>
                    <a:pt x="285750" y="523875"/>
                  </a:lnTo>
                  <a:close/>
                  <a:moveTo>
                    <a:pt x="381000" y="476250"/>
                  </a:moveTo>
                  <a:lnTo>
                    <a:pt x="428625" y="476250"/>
                  </a:lnTo>
                  <a:lnTo>
                    <a:pt x="428625" y="523875"/>
                  </a:lnTo>
                  <a:lnTo>
                    <a:pt x="381000" y="523875"/>
                  </a:lnTo>
                  <a:close/>
                  <a:moveTo>
                    <a:pt x="523875" y="476250"/>
                  </a:moveTo>
                  <a:lnTo>
                    <a:pt x="666750" y="476250"/>
                  </a:lnTo>
                  <a:lnTo>
                    <a:pt x="666750" y="523875"/>
                  </a:lnTo>
                  <a:lnTo>
                    <a:pt x="523875" y="523875"/>
                  </a:lnTo>
                  <a:close/>
                  <a:moveTo>
                    <a:pt x="714375" y="476250"/>
                  </a:moveTo>
                  <a:lnTo>
                    <a:pt x="857250" y="476250"/>
                  </a:lnTo>
                  <a:lnTo>
                    <a:pt x="857250" y="523875"/>
                  </a:lnTo>
                  <a:lnTo>
                    <a:pt x="714375" y="523875"/>
                  </a:lnTo>
                  <a:close/>
                  <a:moveTo>
                    <a:pt x="1095375" y="476250"/>
                  </a:moveTo>
                  <a:lnTo>
                    <a:pt x="1143000" y="476250"/>
                  </a:lnTo>
                  <a:lnTo>
                    <a:pt x="1143000" y="523875"/>
                  </a:lnTo>
                  <a:lnTo>
                    <a:pt x="1095375" y="523875"/>
                  </a:lnTo>
                  <a:close/>
                  <a:moveTo>
                    <a:pt x="1285875" y="476250"/>
                  </a:moveTo>
                  <a:lnTo>
                    <a:pt x="1428750" y="476250"/>
                  </a:lnTo>
                  <a:lnTo>
                    <a:pt x="1428750" y="523875"/>
                  </a:lnTo>
                  <a:lnTo>
                    <a:pt x="1285875" y="523875"/>
                  </a:lnTo>
                  <a:close/>
                  <a:moveTo>
                    <a:pt x="1476375" y="476250"/>
                  </a:moveTo>
                  <a:lnTo>
                    <a:pt x="1571625" y="476250"/>
                  </a:lnTo>
                  <a:lnTo>
                    <a:pt x="1571625" y="523875"/>
                  </a:lnTo>
                  <a:lnTo>
                    <a:pt x="1476375" y="523875"/>
                  </a:lnTo>
                  <a:close/>
                  <a:moveTo>
                    <a:pt x="190500" y="523875"/>
                  </a:moveTo>
                  <a:lnTo>
                    <a:pt x="285750" y="523875"/>
                  </a:lnTo>
                  <a:lnTo>
                    <a:pt x="285750" y="571500"/>
                  </a:lnTo>
                  <a:lnTo>
                    <a:pt x="190500" y="571500"/>
                  </a:lnTo>
                  <a:close/>
                  <a:moveTo>
                    <a:pt x="381000" y="523875"/>
                  </a:moveTo>
                  <a:lnTo>
                    <a:pt x="428625" y="523875"/>
                  </a:lnTo>
                  <a:lnTo>
                    <a:pt x="428625" y="571500"/>
                  </a:lnTo>
                  <a:lnTo>
                    <a:pt x="381000" y="571500"/>
                  </a:lnTo>
                  <a:close/>
                  <a:moveTo>
                    <a:pt x="476250" y="523875"/>
                  </a:moveTo>
                  <a:lnTo>
                    <a:pt x="523875" y="523875"/>
                  </a:lnTo>
                  <a:lnTo>
                    <a:pt x="523875" y="571500"/>
                  </a:lnTo>
                  <a:lnTo>
                    <a:pt x="476250" y="571500"/>
                  </a:lnTo>
                  <a:close/>
                  <a:moveTo>
                    <a:pt x="571500" y="523875"/>
                  </a:moveTo>
                  <a:lnTo>
                    <a:pt x="619125" y="523875"/>
                  </a:lnTo>
                  <a:lnTo>
                    <a:pt x="619125" y="571500"/>
                  </a:lnTo>
                  <a:lnTo>
                    <a:pt x="571500" y="571500"/>
                  </a:lnTo>
                  <a:close/>
                  <a:moveTo>
                    <a:pt x="666750" y="523875"/>
                  </a:moveTo>
                  <a:lnTo>
                    <a:pt x="714375" y="523875"/>
                  </a:lnTo>
                  <a:lnTo>
                    <a:pt x="714375" y="571500"/>
                  </a:lnTo>
                  <a:lnTo>
                    <a:pt x="666750" y="571500"/>
                  </a:lnTo>
                  <a:close/>
                  <a:moveTo>
                    <a:pt x="762000" y="523875"/>
                  </a:moveTo>
                  <a:lnTo>
                    <a:pt x="809625" y="523875"/>
                  </a:lnTo>
                  <a:lnTo>
                    <a:pt x="809625" y="571500"/>
                  </a:lnTo>
                  <a:lnTo>
                    <a:pt x="762000" y="571500"/>
                  </a:lnTo>
                  <a:close/>
                  <a:moveTo>
                    <a:pt x="857250" y="523875"/>
                  </a:moveTo>
                  <a:lnTo>
                    <a:pt x="904875" y="523875"/>
                  </a:lnTo>
                  <a:lnTo>
                    <a:pt x="904875" y="571500"/>
                  </a:lnTo>
                  <a:lnTo>
                    <a:pt x="857250" y="571500"/>
                  </a:lnTo>
                  <a:close/>
                  <a:moveTo>
                    <a:pt x="952500" y="523875"/>
                  </a:moveTo>
                  <a:lnTo>
                    <a:pt x="1000125" y="523875"/>
                  </a:lnTo>
                  <a:lnTo>
                    <a:pt x="1000125" y="571500"/>
                  </a:lnTo>
                  <a:lnTo>
                    <a:pt x="952500" y="571500"/>
                  </a:lnTo>
                  <a:close/>
                  <a:moveTo>
                    <a:pt x="1190625" y="523875"/>
                  </a:moveTo>
                  <a:lnTo>
                    <a:pt x="1238250" y="523875"/>
                  </a:lnTo>
                  <a:lnTo>
                    <a:pt x="1238250" y="571500"/>
                  </a:lnTo>
                  <a:lnTo>
                    <a:pt x="1190625" y="571500"/>
                  </a:lnTo>
                  <a:close/>
                  <a:moveTo>
                    <a:pt x="1285875" y="523875"/>
                  </a:moveTo>
                  <a:lnTo>
                    <a:pt x="1333500" y="523875"/>
                  </a:lnTo>
                  <a:lnTo>
                    <a:pt x="1333500" y="571500"/>
                  </a:lnTo>
                  <a:lnTo>
                    <a:pt x="1285875" y="571500"/>
                  </a:lnTo>
                  <a:close/>
                  <a:moveTo>
                    <a:pt x="1381125" y="523875"/>
                  </a:moveTo>
                  <a:lnTo>
                    <a:pt x="1428750" y="523875"/>
                  </a:lnTo>
                  <a:lnTo>
                    <a:pt x="1428750" y="571500"/>
                  </a:lnTo>
                  <a:lnTo>
                    <a:pt x="1381125" y="571500"/>
                  </a:lnTo>
                  <a:close/>
                  <a:moveTo>
                    <a:pt x="0" y="571500"/>
                  </a:moveTo>
                  <a:lnTo>
                    <a:pt x="47625" y="571500"/>
                  </a:lnTo>
                  <a:lnTo>
                    <a:pt x="47625" y="619125"/>
                  </a:lnTo>
                  <a:lnTo>
                    <a:pt x="0" y="619125"/>
                  </a:lnTo>
                  <a:close/>
                  <a:moveTo>
                    <a:pt x="95250" y="571500"/>
                  </a:moveTo>
                  <a:lnTo>
                    <a:pt x="190500" y="571500"/>
                  </a:lnTo>
                  <a:lnTo>
                    <a:pt x="190500" y="619125"/>
                  </a:lnTo>
                  <a:lnTo>
                    <a:pt x="95250" y="619125"/>
                  </a:lnTo>
                  <a:close/>
                  <a:moveTo>
                    <a:pt x="238125" y="571500"/>
                  </a:moveTo>
                  <a:lnTo>
                    <a:pt x="333375" y="571500"/>
                  </a:lnTo>
                  <a:lnTo>
                    <a:pt x="333375" y="619125"/>
                  </a:lnTo>
                  <a:lnTo>
                    <a:pt x="238125" y="619125"/>
                  </a:lnTo>
                  <a:close/>
                  <a:moveTo>
                    <a:pt x="523875" y="571500"/>
                  </a:moveTo>
                  <a:lnTo>
                    <a:pt x="666750" y="571500"/>
                  </a:lnTo>
                  <a:lnTo>
                    <a:pt x="666750" y="619125"/>
                  </a:lnTo>
                  <a:lnTo>
                    <a:pt x="523875" y="619125"/>
                  </a:lnTo>
                  <a:close/>
                  <a:moveTo>
                    <a:pt x="857250" y="571500"/>
                  </a:moveTo>
                  <a:lnTo>
                    <a:pt x="904875" y="571500"/>
                  </a:lnTo>
                  <a:lnTo>
                    <a:pt x="904875" y="619125"/>
                  </a:lnTo>
                  <a:lnTo>
                    <a:pt x="857250" y="619125"/>
                  </a:lnTo>
                  <a:close/>
                  <a:moveTo>
                    <a:pt x="1000125" y="571500"/>
                  </a:moveTo>
                  <a:lnTo>
                    <a:pt x="1190625" y="571500"/>
                  </a:lnTo>
                  <a:lnTo>
                    <a:pt x="1190625" y="619125"/>
                  </a:lnTo>
                  <a:lnTo>
                    <a:pt x="1000125" y="619125"/>
                  </a:lnTo>
                  <a:close/>
                  <a:moveTo>
                    <a:pt x="1333500" y="571500"/>
                  </a:moveTo>
                  <a:lnTo>
                    <a:pt x="1428750" y="571500"/>
                  </a:lnTo>
                  <a:lnTo>
                    <a:pt x="1428750" y="619125"/>
                  </a:lnTo>
                  <a:lnTo>
                    <a:pt x="1333500" y="619125"/>
                  </a:lnTo>
                  <a:close/>
                  <a:moveTo>
                    <a:pt x="0" y="619125"/>
                  </a:moveTo>
                  <a:lnTo>
                    <a:pt x="190500" y="619125"/>
                  </a:lnTo>
                  <a:lnTo>
                    <a:pt x="190500" y="666750"/>
                  </a:lnTo>
                  <a:lnTo>
                    <a:pt x="0" y="666750"/>
                  </a:lnTo>
                  <a:close/>
                  <a:moveTo>
                    <a:pt x="238125" y="619125"/>
                  </a:moveTo>
                  <a:lnTo>
                    <a:pt x="285750" y="619125"/>
                  </a:lnTo>
                  <a:lnTo>
                    <a:pt x="285750" y="666750"/>
                  </a:lnTo>
                  <a:lnTo>
                    <a:pt x="238125" y="666750"/>
                  </a:lnTo>
                  <a:close/>
                  <a:moveTo>
                    <a:pt x="381000" y="619125"/>
                  </a:moveTo>
                  <a:lnTo>
                    <a:pt x="476250" y="619125"/>
                  </a:lnTo>
                  <a:lnTo>
                    <a:pt x="476250" y="666750"/>
                  </a:lnTo>
                  <a:lnTo>
                    <a:pt x="381000" y="666750"/>
                  </a:lnTo>
                  <a:close/>
                  <a:moveTo>
                    <a:pt x="571500" y="619125"/>
                  </a:moveTo>
                  <a:lnTo>
                    <a:pt x="714375" y="619125"/>
                  </a:lnTo>
                  <a:lnTo>
                    <a:pt x="714375" y="666750"/>
                  </a:lnTo>
                  <a:lnTo>
                    <a:pt x="571500" y="666750"/>
                  </a:lnTo>
                  <a:close/>
                  <a:moveTo>
                    <a:pt x="762000" y="619125"/>
                  </a:moveTo>
                  <a:lnTo>
                    <a:pt x="809625" y="619125"/>
                  </a:lnTo>
                  <a:lnTo>
                    <a:pt x="809625" y="666750"/>
                  </a:lnTo>
                  <a:lnTo>
                    <a:pt x="762000" y="666750"/>
                  </a:lnTo>
                  <a:close/>
                  <a:moveTo>
                    <a:pt x="857250" y="619125"/>
                  </a:moveTo>
                  <a:lnTo>
                    <a:pt x="904875" y="619125"/>
                  </a:lnTo>
                  <a:lnTo>
                    <a:pt x="904875" y="666750"/>
                  </a:lnTo>
                  <a:lnTo>
                    <a:pt x="857250" y="666750"/>
                  </a:lnTo>
                  <a:close/>
                  <a:moveTo>
                    <a:pt x="952500" y="619125"/>
                  </a:moveTo>
                  <a:lnTo>
                    <a:pt x="1095375" y="619125"/>
                  </a:lnTo>
                  <a:lnTo>
                    <a:pt x="1095375" y="666750"/>
                  </a:lnTo>
                  <a:lnTo>
                    <a:pt x="952500" y="666750"/>
                  </a:lnTo>
                  <a:close/>
                  <a:moveTo>
                    <a:pt x="1143000" y="619125"/>
                  </a:moveTo>
                  <a:lnTo>
                    <a:pt x="1190625" y="619125"/>
                  </a:lnTo>
                  <a:lnTo>
                    <a:pt x="1190625" y="666750"/>
                  </a:lnTo>
                  <a:lnTo>
                    <a:pt x="1143000" y="666750"/>
                  </a:lnTo>
                  <a:close/>
                  <a:moveTo>
                    <a:pt x="1428750" y="619125"/>
                  </a:moveTo>
                  <a:lnTo>
                    <a:pt x="1524000" y="619125"/>
                  </a:lnTo>
                  <a:lnTo>
                    <a:pt x="1524000" y="666750"/>
                  </a:lnTo>
                  <a:lnTo>
                    <a:pt x="1428750" y="666750"/>
                  </a:lnTo>
                  <a:close/>
                  <a:moveTo>
                    <a:pt x="0" y="666750"/>
                  </a:moveTo>
                  <a:lnTo>
                    <a:pt x="47625" y="666750"/>
                  </a:lnTo>
                  <a:lnTo>
                    <a:pt x="47625" y="714375"/>
                  </a:lnTo>
                  <a:lnTo>
                    <a:pt x="0" y="714375"/>
                  </a:lnTo>
                  <a:close/>
                  <a:moveTo>
                    <a:pt x="95250" y="666750"/>
                  </a:moveTo>
                  <a:lnTo>
                    <a:pt x="142875" y="666750"/>
                  </a:lnTo>
                  <a:lnTo>
                    <a:pt x="142875" y="714375"/>
                  </a:lnTo>
                  <a:lnTo>
                    <a:pt x="95250" y="714375"/>
                  </a:lnTo>
                  <a:close/>
                  <a:moveTo>
                    <a:pt x="285750" y="666750"/>
                  </a:moveTo>
                  <a:lnTo>
                    <a:pt x="523875" y="666750"/>
                  </a:lnTo>
                  <a:lnTo>
                    <a:pt x="523875" y="714375"/>
                  </a:lnTo>
                  <a:lnTo>
                    <a:pt x="285750" y="714375"/>
                  </a:lnTo>
                  <a:close/>
                  <a:moveTo>
                    <a:pt x="571500" y="666750"/>
                  </a:moveTo>
                  <a:lnTo>
                    <a:pt x="714375" y="666750"/>
                  </a:lnTo>
                  <a:lnTo>
                    <a:pt x="714375" y="714375"/>
                  </a:lnTo>
                  <a:lnTo>
                    <a:pt x="571500" y="714375"/>
                  </a:lnTo>
                  <a:close/>
                  <a:moveTo>
                    <a:pt x="809625" y="666750"/>
                  </a:moveTo>
                  <a:lnTo>
                    <a:pt x="857250" y="666750"/>
                  </a:lnTo>
                  <a:lnTo>
                    <a:pt x="857250" y="714375"/>
                  </a:lnTo>
                  <a:lnTo>
                    <a:pt x="809625" y="714375"/>
                  </a:lnTo>
                  <a:close/>
                  <a:moveTo>
                    <a:pt x="904875" y="666750"/>
                  </a:moveTo>
                  <a:lnTo>
                    <a:pt x="1047750" y="666750"/>
                  </a:lnTo>
                  <a:lnTo>
                    <a:pt x="1047750" y="714375"/>
                  </a:lnTo>
                  <a:lnTo>
                    <a:pt x="904875" y="714375"/>
                  </a:lnTo>
                  <a:close/>
                  <a:moveTo>
                    <a:pt x="1238250" y="666750"/>
                  </a:moveTo>
                  <a:lnTo>
                    <a:pt x="1285875" y="666750"/>
                  </a:lnTo>
                  <a:lnTo>
                    <a:pt x="1285875" y="714375"/>
                  </a:lnTo>
                  <a:lnTo>
                    <a:pt x="1238250" y="714375"/>
                  </a:lnTo>
                  <a:close/>
                  <a:moveTo>
                    <a:pt x="1333500" y="666750"/>
                  </a:moveTo>
                  <a:lnTo>
                    <a:pt x="1428750" y="666750"/>
                  </a:lnTo>
                  <a:lnTo>
                    <a:pt x="1428750" y="714375"/>
                  </a:lnTo>
                  <a:lnTo>
                    <a:pt x="1333500" y="714375"/>
                  </a:lnTo>
                  <a:close/>
                  <a:moveTo>
                    <a:pt x="95250" y="714375"/>
                  </a:moveTo>
                  <a:lnTo>
                    <a:pt x="190500" y="714375"/>
                  </a:lnTo>
                  <a:lnTo>
                    <a:pt x="190500" y="762000"/>
                  </a:lnTo>
                  <a:lnTo>
                    <a:pt x="95250" y="762000"/>
                  </a:lnTo>
                  <a:close/>
                  <a:moveTo>
                    <a:pt x="381000" y="714375"/>
                  </a:moveTo>
                  <a:lnTo>
                    <a:pt x="571500" y="714375"/>
                  </a:lnTo>
                  <a:lnTo>
                    <a:pt x="571500" y="762000"/>
                  </a:lnTo>
                  <a:lnTo>
                    <a:pt x="381000" y="762000"/>
                  </a:lnTo>
                  <a:close/>
                  <a:moveTo>
                    <a:pt x="762000" y="714375"/>
                  </a:moveTo>
                  <a:lnTo>
                    <a:pt x="857250" y="714375"/>
                  </a:lnTo>
                  <a:lnTo>
                    <a:pt x="857250" y="762000"/>
                  </a:lnTo>
                  <a:lnTo>
                    <a:pt x="762000" y="762000"/>
                  </a:lnTo>
                  <a:close/>
                  <a:moveTo>
                    <a:pt x="952500" y="714375"/>
                  </a:moveTo>
                  <a:lnTo>
                    <a:pt x="1047750" y="714375"/>
                  </a:lnTo>
                  <a:lnTo>
                    <a:pt x="1047750" y="762000"/>
                  </a:lnTo>
                  <a:lnTo>
                    <a:pt x="952500" y="762000"/>
                  </a:lnTo>
                  <a:close/>
                  <a:moveTo>
                    <a:pt x="1143000" y="714375"/>
                  </a:moveTo>
                  <a:lnTo>
                    <a:pt x="1333500" y="714375"/>
                  </a:lnTo>
                  <a:lnTo>
                    <a:pt x="1333500" y="762000"/>
                  </a:lnTo>
                  <a:lnTo>
                    <a:pt x="1143000" y="762000"/>
                  </a:lnTo>
                  <a:close/>
                  <a:moveTo>
                    <a:pt x="1428750" y="714375"/>
                  </a:moveTo>
                  <a:lnTo>
                    <a:pt x="1476375" y="714375"/>
                  </a:lnTo>
                  <a:lnTo>
                    <a:pt x="1476375" y="762000"/>
                  </a:lnTo>
                  <a:lnTo>
                    <a:pt x="1428750" y="762000"/>
                  </a:lnTo>
                  <a:close/>
                  <a:moveTo>
                    <a:pt x="0" y="762000"/>
                  </a:moveTo>
                  <a:lnTo>
                    <a:pt x="47625" y="762000"/>
                  </a:lnTo>
                  <a:lnTo>
                    <a:pt x="47625" y="809625"/>
                  </a:lnTo>
                  <a:lnTo>
                    <a:pt x="0" y="809625"/>
                  </a:lnTo>
                  <a:close/>
                  <a:moveTo>
                    <a:pt x="95250" y="762000"/>
                  </a:moveTo>
                  <a:lnTo>
                    <a:pt x="190500" y="762000"/>
                  </a:lnTo>
                  <a:lnTo>
                    <a:pt x="190500" y="809625"/>
                  </a:lnTo>
                  <a:lnTo>
                    <a:pt x="95250" y="809625"/>
                  </a:lnTo>
                  <a:close/>
                  <a:moveTo>
                    <a:pt x="285750" y="762000"/>
                  </a:moveTo>
                  <a:lnTo>
                    <a:pt x="381000" y="762000"/>
                  </a:lnTo>
                  <a:lnTo>
                    <a:pt x="381000" y="809625"/>
                  </a:lnTo>
                  <a:lnTo>
                    <a:pt x="285750" y="809625"/>
                  </a:lnTo>
                  <a:close/>
                  <a:moveTo>
                    <a:pt x="428625" y="762000"/>
                  </a:moveTo>
                  <a:lnTo>
                    <a:pt x="476250" y="762000"/>
                  </a:lnTo>
                  <a:lnTo>
                    <a:pt x="476250" y="809625"/>
                  </a:lnTo>
                  <a:lnTo>
                    <a:pt x="428625" y="809625"/>
                  </a:lnTo>
                  <a:close/>
                  <a:moveTo>
                    <a:pt x="523875" y="762000"/>
                  </a:moveTo>
                  <a:lnTo>
                    <a:pt x="571500" y="762000"/>
                  </a:lnTo>
                  <a:lnTo>
                    <a:pt x="571500" y="809625"/>
                  </a:lnTo>
                  <a:lnTo>
                    <a:pt x="523875" y="809625"/>
                  </a:lnTo>
                  <a:close/>
                  <a:moveTo>
                    <a:pt x="762000" y="762000"/>
                  </a:moveTo>
                  <a:lnTo>
                    <a:pt x="809625" y="762000"/>
                  </a:lnTo>
                  <a:lnTo>
                    <a:pt x="809625" y="809625"/>
                  </a:lnTo>
                  <a:lnTo>
                    <a:pt x="762000" y="809625"/>
                  </a:lnTo>
                  <a:close/>
                  <a:moveTo>
                    <a:pt x="857250" y="762000"/>
                  </a:moveTo>
                  <a:lnTo>
                    <a:pt x="952500" y="762000"/>
                  </a:lnTo>
                  <a:lnTo>
                    <a:pt x="952500" y="809625"/>
                  </a:lnTo>
                  <a:lnTo>
                    <a:pt x="857250" y="809625"/>
                  </a:lnTo>
                  <a:close/>
                  <a:moveTo>
                    <a:pt x="1000125" y="762000"/>
                  </a:moveTo>
                  <a:lnTo>
                    <a:pt x="1095375" y="762000"/>
                  </a:lnTo>
                  <a:lnTo>
                    <a:pt x="1095375" y="809625"/>
                  </a:lnTo>
                  <a:lnTo>
                    <a:pt x="1000125" y="809625"/>
                  </a:lnTo>
                  <a:close/>
                  <a:moveTo>
                    <a:pt x="1190625" y="762000"/>
                  </a:moveTo>
                  <a:lnTo>
                    <a:pt x="1285875" y="762000"/>
                  </a:lnTo>
                  <a:lnTo>
                    <a:pt x="1285875" y="809625"/>
                  </a:lnTo>
                  <a:lnTo>
                    <a:pt x="1190625" y="809625"/>
                  </a:lnTo>
                  <a:close/>
                  <a:moveTo>
                    <a:pt x="1333500" y="762000"/>
                  </a:moveTo>
                  <a:lnTo>
                    <a:pt x="1381125" y="762000"/>
                  </a:lnTo>
                  <a:lnTo>
                    <a:pt x="1381125" y="809625"/>
                  </a:lnTo>
                  <a:lnTo>
                    <a:pt x="1333500" y="809625"/>
                  </a:lnTo>
                  <a:close/>
                  <a:moveTo>
                    <a:pt x="1428750" y="762000"/>
                  </a:moveTo>
                  <a:lnTo>
                    <a:pt x="1476375" y="762000"/>
                  </a:lnTo>
                  <a:lnTo>
                    <a:pt x="1476375" y="809625"/>
                  </a:lnTo>
                  <a:lnTo>
                    <a:pt x="1428750" y="809625"/>
                  </a:lnTo>
                  <a:close/>
                  <a:moveTo>
                    <a:pt x="0" y="809625"/>
                  </a:moveTo>
                  <a:lnTo>
                    <a:pt x="142875" y="809625"/>
                  </a:lnTo>
                  <a:lnTo>
                    <a:pt x="142875" y="857250"/>
                  </a:lnTo>
                  <a:lnTo>
                    <a:pt x="0" y="857250"/>
                  </a:lnTo>
                  <a:close/>
                  <a:moveTo>
                    <a:pt x="190500" y="809625"/>
                  </a:moveTo>
                  <a:lnTo>
                    <a:pt x="238125" y="809625"/>
                  </a:lnTo>
                  <a:lnTo>
                    <a:pt x="238125" y="857250"/>
                  </a:lnTo>
                  <a:lnTo>
                    <a:pt x="190500" y="857250"/>
                  </a:lnTo>
                  <a:close/>
                  <a:moveTo>
                    <a:pt x="381000" y="809625"/>
                  </a:moveTo>
                  <a:lnTo>
                    <a:pt x="428625" y="809625"/>
                  </a:lnTo>
                  <a:lnTo>
                    <a:pt x="428625" y="857250"/>
                  </a:lnTo>
                  <a:lnTo>
                    <a:pt x="381000" y="857250"/>
                  </a:lnTo>
                  <a:close/>
                  <a:moveTo>
                    <a:pt x="476250" y="809625"/>
                  </a:moveTo>
                  <a:lnTo>
                    <a:pt x="714375" y="809625"/>
                  </a:lnTo>
                  <a:lnTo>
                    <a:pt x="714375" y="857250"/>
                  </a:lnTo>
                  <a:lnTo>
                    <a:pt x="476250" y="857250"/>
                  </a:lnTo>
                  <a:close/>
                  <a:moveTo>
                    <a:pt x="762000" y="809625"/>
                  </a:moveTo>
                  <a:lnTo>
                    <a:pt x="904875" y="809625"/>
                  </a:lnTo>
                  <a:lnTo>
                    <a:pt x="904875" y="857250"/>
                  </a:lnTo>
                  <a:lnTo>
                    <a:pt x="762000" y="857250"/>
                  </a:lnTo>
                  <a:close/>
                  <a:moveTo>
                    <a:pt x="952500" y="809625"/>
                  </a:moveTo>
                  <a:lnTo>
                    <a:pt x="1285875" y="809625"/>
                  </a:lnTo>
                  <a:lnTo>
                    <a:pt x="1285875" y="857250"/>
                  </a:lnTo>
                  <a:lnTo>
                    <a:pt x="952500" y="857250"/>
                  </a:lnTo>
                  <a:close/>
                  <a:moveTo>
                    <a:pt x="1333500" y="809625"/>
                  </a:moveTo>
                  <a:lnTo>
                    <a:pt x="1428750" y="809625"/>
                  </a:lnTo>
                  <a:lnTo>
                    <a:pt x="1428750" y="857250"/>
                  </a:lnTo>
                  <a:lnTo>
                    <a:pt x="1333500" y="857250"/>
                  </a:lnTo>
                  <a:close/>
                  <a:moveTo>
                    <a:pt x="1476375" y="809625"/>
                  </a:moveTo>
                  <a:lnTo>
                    <a:pt x="1571625" y="809625"/>
                  </a:lnTo>
                  <a:lnTo>
                    <a:pt x="1571625" y="857250"/>
                  </a:lnTo>
                  <a:lnTo>
                    <a:pt x="1476375" y="857250"/>
                  </a:lnTo>
                  <a:close/>
                  <a:moveTo>
                    <a:pt x="0" y="857250"/>
                  </a:moveTo>
                  <a:lnTo>
                    <a:pt x="47625" y="857250"/>
                  </a:lnTo>
                  <a:lnTo>
                    <a:pt x="47625" y="904875"/>
                  </a:lnTo>
                  <a:lnTo>
                    <a:pt x="0" y="904875"/>
                  </a:lnTo>
                  <a:close/>
                  <a:moveTo>
                    <a:pt x="142875" y="857250"/>
                  </a:moveTo>
                  <a:lnTo>
                    <a:pt x="190500" y="857250"/>
                  </a:lnTo>
                  <a:lnTo>
                    <a:pt x="190500" y="904875"/>
                  </a:lnTo>
                  <a:lnTo>
                    <a:pt x="142875" y="904875"/>
                  </a:lnTo>
                  <a:close/>
                  <a:moveTo>
                    <a:pt x="238125" y="857250"/>
                  </a:moveTo>
                  <a:lnTo>
                    <a:pt x="381000" y="857250"/>
                  </a:lnTo>
                  <a:lnTo>
                    <a:pt x="381000" y="904875"/>
                  </a:lnTo>
                  <a:lnTo>
                    <a:pt x="238125" y="904875"/>
                  </a:lnTo>
                  <a:close/>
                  <a:moveTo>
                    <a:pt x="619125" y="857250"/>
                  </a:moveTo>
                  <a:lnTo>
                    <a:pt x="762000" y="857250"/>
                  </a:lnTo>
                  <a:lnTo>
                    <a:pt x="762000" y="904875"/>
                  </a:lnTo>
                  <a:lnTo>
                    <a:pt x="619125" y="904875"/>
                  </a:lnTo>
                  <a:close/>
                  <a:moveTo>
                    <a:pt x="952500" y="857250"/>
                  </a:moveTo>
                  <a:lnTo>
                    <a:pt x="1000125" y="857250"/>
                  </a:lnTo>
                  <a:lnTo>
                    <a:pt x="1000125" y="904875"/>
                  </a:lnTo>
                  <a:lnTo>
                    <a:pt x="952500" y="904875"/>
                  </a:lnTo>
                  <a:close/>
                  <a:moveTo>
                    <a:pt x="1047750" y="857250"/>
                  </a:moveTo>
                  <a:lnTo>
                    <a:pt x="1095375" y="857250"/>
                  </a:lnTo>
                  <a:lnTo>
                    <a:pt x="1095375" y="904875"/>
                  </a:lnTo>
                  <a:lnTo>
                    <a:pt x="1047750" y="904875"/>
                  </a:lnTo>
                  <a:close/>
                  <a:moveTo>
                    <a:pt x="1143000" y="857250"/>
                  </a:moveTo>
                  <a:lnTo>
                    <a:pt x="1381125" y="857250"/>
                  </a:lnTo>
                  <a:lnTo>
                    <a:pt x="1381125" y="904875"/>
                  </a:lnTo>
                  <a:lnTo>
                    <a:pt x="1143000" y="904875"/>
                  </a:lnTo>
                  <a:close/>
                  <a:moveTo>
                    <a:pt x="1428750" y="857250"/>
                  </a:moveTo>
                  <a:lnTo>
                    <a:pt x="1524000" y="857250"/>
                  </a:lnTo>
                  <a:lnTo>
                    <a:pt x="1524000" y="904875"/>
                  </a:lnTo>
                  <a:lnTo>
                    <a:pt x="1428750" y="904875"/>
                  </a:lnTo>
                  <a:close/>
                  <a:moveTo>
                    <a:pt x="190500" y="904875"/>
                  </a:moveTo>
                  <a:lnTo>
                    <a:pt x="238125" y="904875"/>
                  </a:lnTo>
                  <a:lnTo>
                    <a:pt x="238125" y="952500"/>
                  </a:lnTo>
                  <a:lnTo>
                    <a:pt x="190500" y="952500"/>
                  </a:lnTo>
                  <a:close/>
                  <a:moveTo>
                    <a:pt x="333375" y="904875"/>
                  </a:moveTo>
                  <a:lnTo>
                    <a:pt x="476250" y="904875"/>
                  </a:lnTo>
                  <a:lnTo>
                    <a:pt x="476250" y="952500"/>
                  </a:lnTo>
                  <a:lnTo>
                    <a:pt x="333375" y="952500"/>
                  </a:lnTo>
                  <a:close/>
                  <a:moveTo>
                    <a:pt x="523875" y="904875"/>
                  </a:moveTo>
                  <a:lnTo>
                    <a:pt x="714375" y="904875"/>
                  </a:lnTo>
                  <a:lnTo>
                    <a:pt x="714375" y="952500"/>
                  </a:lnTo>
                  <a:lnTo>
                    <a:pt x="523875" y="952500"/>
                  </a:lnTo>
                  <a:close/>
                  <a:moveTo>
                    <a:pt x="762000" y="904875"/>
                  </a:moveTo>
                  <a:lnTo>
                    <a:pt x="809625" y="904875"/>
                  </a:lnTo>
                  <a:lnTo>
                    <a:pt x="809625" y="952500"/>
                  </a:lnTo>
                  <a:lnTo>
                    <a:pt x="762000" y="952500"/>
                  </a:lnTo>
                  <a:close/>
                  <a:moveTo>
                    <a:pt x="904875" y="904875"/>
                  </a:moveTo>
                  <a:lnTo>
                    <a:pt x="952500" y="904875"/>
                  </a:lnTo>
                  <a:lnTo>
                    <a:pt x="952500" y="952500"/>
                  </a:lnTo>
                  <a:lnTo>
                    <a:pt x="904875" y="952500"/>
                  </a:lnTo>
                  <a:close/>
                  <a:moveTo>
                    <a:pt x="1047750" y="904875"/>
                  </a:moveTo>
                  <a:lnTo>
                    <a:pt x="1238250" y="904875"/>
                  </a:lnTo>
                  <a:lnTo>
                    <a:pt x="1238250" y="952500"/>
                  </a:lnTo>
                  <a:lnTo>
                    <a:pt x="1047750" y="952500"/>
                  </a:lnTo>
                  <a:close/>
                  <a:moveTo>
                    <a:pt x="1333500" y="904875"/>
                  </a:moveTo>
                  <a:lnTo>
                    <a:pt x="1381125" y="904875"/>
                  </a:lnTo>
                  <a:lnTo>
                    <a:pt x="1381125" y="952500"/>
                  </a:lnTo>
                  <a:lnTo>
                    <a:pt x="1333500" y="952500"/>
                  </a:lnTo>
                  <a:close/>
                  <a:moveTo>
                    <a:pt x="1476375" y="904875"/>
                  </a:moveTo>
                  <a:lnTo>
                    <a:pt x="1571625" y="904875"/>
                  </a:lnTo>
                  <a:lnTo>
                    <a:pt x="1571625" y="952500"/>
                  </a:lnTo>
                  <a:lnTo>
                    <a:pt x="1476375" y="952500"/>
                  </a:lnTo>
                  <a:close/>
                  <a:moveTo>
                    <a:pt x="0" y="952500"/>
                  </a:moveTo>
                  <a:lnTo>
                    <a:pt x="190500" y="952500"/>
                  </a:lnTo>
                  <a:lnTo>
                    <a:pt x="190500" y="1000125"/>
                  </a:lnTo>
                  <a:lnTo>
                    <a:pt x="0" y="1000125"/>
                  </a:lnTo>
                  <a:close/>
                  <a:moveTo>
                    <a:pt x="238125" y="952500"/>
                  </a:moveTo>
                  <a:lnTo>
                    <a:pt x="333375" y="952500"/>
                  </a:lnTo>
                  <a:lnTo>
                    <a:pt x="333375" y="1000125"/>
                  </a:lnTo>
                  <a:lnTo>
                    <a:pt x="238125" y="1000125"/>
                  </a:lnTo>
                  <a:close/>
                  <a:moveTo>
                    <a:pt x="381000" y="952500"/>
                  </a:moveTo>
                  <a:lnTo>
                    <a:pt x="428625" y="952500"/>
                  </a:lnTo>
                  <a:lnTo>
                    <a:pt x="428625" y="1000125"/>
                  </a:lnTo>
                  <a:lnTo>
                    <a:pt x="381000" y="1000125"/>
                  </a:lnTo>
                  <a:close/>
                  <a:moveTo>
                    <a:pt x="476250" y="952500"/>
                  </a:moveTo>
                  <a:lnTo>
                    <a:pt x="523875" y="952500"/>
                  </a:lnTo>
                  <a:lnTo>
                    <a:pt x="523875" y="1000125"/>
                  </a:lnTo>
                  <a:lnTo>
                    <a:pt x="476250" y="1000125"/>
                  </a:lnTo>
                  <a:close/>
                  <a:moveTo>
                    <a:pt x="619125" y="952500"/>
                  </a:moveTo>
                  <a:lnTo>
                    <a:pt x="762000" y="952500"/>
                  </a:lnTo>
                  <a:lnTo>
                    <a:pt x="762000" y="1000125"/>
                  </a:lnTo>
                  <a:lnTo>
                    <a:pt x="619125" y="1000125"/>
                  </a:lnTo>
                  <a:close/>
                  <a:moveTo>
                    <a:pt x="1000125" y="952500"/>
                  </a:moveTo>
                  <a:lnTo>
                    <a:pt x="1047750" y="952500"/>
                  </a:lnTo>
                  <a:lnTo>
                    <a:pt x="1047750" y="1000125"/>
                  </a:lnTo>
                  <a:lnTo>
                    <a:pt x="1000125" y="1000125"/>
                  </a:lnTo>
                  <a:close/>
                  <a:moveTo>
                    <a:pt x="1143000" y="952500"/>
                  </a:moveTo>
                  <a:lnTo>
                    <a:pt x="1190625" y="952500"/>
                  </a:lnTo>
                  <a:lnTo>
                    <a:pt x="1190625" y="1000125"/>
                  </a:lnTo>
                  <a:lnTo>
                    <a:pt x="1143000" y="1000125"/>
                  </a:lnTo>
                  <a:close/>
                  <a:moveTo>
                    <a:pt x="1285875" y="952500"/>
                  </a:moveTo>
                  <a:lnTo>
                    <a:pt x="1333500" y="952500"/>
                  </a:lnTo>
                  <a:lnTo>
                    <a:pt x="1333500" y="1000125"/>
                  </a:lnTo>
                  <a:lnTo>
                    <a:pt x="1285875" y="1000125"/>
                  </a:lnTo>
                  <a:close/>
                  <a:moveTo>
                    <a:pt x="1381125" y="952500"/>
                  </a:moveTo>
                  <a:lnTo>
                    <a:pt x="1571625" y="952500"/>
                  </a:lnTo>
                  <a:lnTo>
                    <a:pt x="1571625" y="1000125"/>
                  </a:lnTo>
                  <a:lnTo>
                    <a:pt x="1381125" y="1000125"/>
                  </a:lnTo>
                  <a:close/>
                  <a:moveTo>
                    <a:pt x="0" y="1000125"/>
                  </a:moveTo>
                  <a:lnTo>
                    <a:pt x="47625" y="1000125"/>
                  </a:lnTo>
                  <a:lnTo>
                    <a:pt x="47625" y="1047750"/>
                  </a:lnTo>
                  <a:lnTo>
                    <a:pt x="0" y="1047750"/>
                  </a:lnTo>
                  <a:close/>
                  <a:moveTo>
                    <a:pt x="142875" y="1000125"/>
                  </a:moveTo>
                  <a:lnTo>
                    <a:pt x="285750" y="1000125"/>
                  </a:lnTo>
                  <a:lnTo>
                    <a:pt x="285750" y="1047750"/>
                  </a:lnTo>
                  <a:lnTo>
                    <a:pt x="142875" y="1047750"/>
                  </a:lnTo>
                  <a:close/>
                  <a:moveTo>
                    <a:pt x="428625" y="1000125"/>
                  </a:moveTo>
                  <a:lnTo>
                    <a:pt x="714375" y="1000125"/>
                  </a:lnTo>
                  <a:lnTo>
                    <a:pt x="714375" y="1047750"/>
                  </a:lnTo>
                  <a:lnTo>
                    <a:pt x="428625" y="1047750"/>
                  </a:lnTo>
                  <a:close/>
                  <a:moveTo>
                    <a:pt x="857250" y="1000125"/>
                  </a:moveTo>
                  <a:lnTo>
                    <a:pt x="1047750" y="1000125"/>
                  </a:lnTo>
                  <a:lnTo>
                    <a:pt x="1047750" y="1047750"/>
                  </a:lnTo>
                  <a:lnTo>
                    <a:pt x="857250" y="1047750"/>
                  </a:lnTo>
                  <a:close/>
                  <a:moveTo>
                    <a:pt x="1095375" y="1000125"/>
                  </a:moveTo>
                  <a:lnTo>
                    <a:pt x="1143000" y="1000125"/>
                  </a:lnTo>
                  <a:lnTo>
                    <a:pt x="1143000" y="1047750"/>
                  </a:lnTo>
                  <a:lnTo>
                    <a:pt x="1095375" y="1047750"/>
                  </a:lnTo>
                  <a:close/>
                  <a:moveTo>
                    <a:pt x="1238250" y="1000125"/>
                  </a:moveTo>
                  <a:lnTo>
                    <a:pt x="1333500" y="1000125"/>
                  </a:lnTo>
                  <a:lnTo>
                    <a:pt x="1333500" y="1047750"/>
                  </a:lnTo>
                  <a:lnTo>
                    <a:pt x="1238250" y="1047750"/>
                  </a:lnTo>
                  <a:close/>
                  <a:moveTo>
                    <a:pt x="1428750" y="1000125"/>
                  </a:moveTo>
                  <a:lnTo>
                    <a:pt x="1476375" y="1000125"/>
                  </a:lnTo>
                  <a:lnTo>
                    <a:pt x="1476375" y="1047750"/>
                  </a:lnTo>
                  <a:lnTo>
                    <a:pt x="1428750" y="1047750"/>
                  </a:lnTo>
                  <a:close/>
                  <a:moveTo>
                    <a:pt x="1524000" y="1000125"/>
                  </a:moveTo>
                  <a:lnTo>
                    <a:pt x="1571625" y="1000125"/>
                  </a:lnTo>
                  <a:lnTo>
                    <a:pt x="1571625" y="1047750"/>
                  </a:lnTo>
                  <a:lnTo>
                    <a:pt x="1524000" y="1047750"/>
                  </a:lnTo>
                  <a:close/>
                  <a:moveTo>
                    <a:pt x="285750" y="1047750"/>
                  </a:moveTo>
                  <a:lnTo>
                    <a:pt x="333375" y="1047750"/>
                  </a:lnTo>
                  <a:lnTo>
                    <a:pt x="333375" y="1095375"/>
                  </a:lnTo>
                  <a:lnTo>
                    <a:pt x="285750" y="1095375"/>
                  </a:lnTo>
                  <a:close/>
                  <a:moveTo>
                    <a:pt x="428625" y="1047750"/>
                  </a:moveTo>
                  <a:lnTo>
                    <a:pt x="523875" y="1047750"/>
                  </a:lnTo>
                  <a:lnTo>
                    <a:pt x="523875" y="1095375"/>
                  </a:lnTo>
                  <a:lnTo>
                    <a:pt x="428625" y="1095375"/>
                  </a:lnTo>
                  <a:close/>
                  <a:moveTo>
                    <a:pt x="619125" y="1047750"/>
                  </a:moveTo>
                  <a:lnTo>
                    <a:pt x="857250" y="1047750"/>
                  </a:lnTo>
                  <a:lnTo>
                    <a:pt x="857250" y="1095375"/>
                  </a:lnTo>
                  <a:lnTo>
                    <a:pt x="619125" y="1095375"/>
                  </a:lnTo>
                  <a:close/>
                  <a:moveTo>
                    <a:pt x="1000125" y="1047750"/>
                  </a:moveTo>
                  <a:lnTo>
                    <a:pt x="1047750" y="1047750"/>
                  </a:lnTo>
                  <a:lnTo>
                    <a:pt x="1047750" y="1095375"/>
                  </a:lnTo>
                  <a:lnTo>
                    <a:pt x="1000125" y="1095375"/>
                  </a:lnTo>
                  <a:close/>
                  <a:moveTo>
                    <a:pt x="1095375" y="1047750"/>
                  </a:moveTo>
                  <a:lnTo>
                    <a:pt x="1285875" y="1047750"/>
                  </a:lnTo>
                  <a:lnTo>
                    <a:pt x="1285875" y="1095375"/>
                  </a:lnTo>
                  <a:lnTo>
                    <a:pt x="1095375" y="1095375"/>
                  </a:lnTo>
                  <a:close/>
                  <a:moveTo>
                    <a:pt x="1381125" y="1047750"/>
                  </a:moveTo>
                  <a:lnTo>
                    <a:pt x="1571625" y="1047750"/>
                  </a:lnTo>
                  <a:lnTo>
                    <a:pt x="1571625" y="1095375"/>
                  </a:lnTo>
                  <a:lnTo>
                    <a:pt x="1381125" y="1095375"/>
                  </a:lnTo>
                  <a:close/>
                  <a:moveTo>
                    <a:pt x="47625" y="1095375"/>
                  </a:moveTo>
                  <a:lnTo>
                    <a:pt x="142875" y="1095375"/>
                  </a:lnTo>
                  <a:lnTo>
                    <a:pt x="142875" y="1143000"/>
                  </a:lnTo>
                  <a:lnTo>
                    <a:pt x="47625" y="1143000"/>
                  </a:lnTo>
                  <a:close/>
                  <a:moveTo>
                    <a:pt x="190500" y="1095375"/>
                  </a:moveTo>
                  <a:lnTo>
                    <a:pt x="285750" y="1095375"/>
                  </a:lnTo>
                  <a:lnTo>
                    <a:pt x="285750" y="1143000"/>
                  </a:lnTo>
                  <a:lnTo>
                    <a:pt x="190500" y="1143000"/>
                  </a:lnTo>
                  <a:close/>
                  <a:moveTo>
                    <a:pt x="333375" y="1095375"/>
                  </a:moveTo>
                  <a:lnTo>
                    <a:pt x="381000" y="1095375"/>
                  </a:lnTo>
                  <a:lnTo>
                    <a:pt x="381000" y="1143000"/>
                  </a:lnTo>
                  <a:lnTo>
                    <a:pt x="333375" y="1143000"/>
                  </a:lnTo>
                  <a:close/>
                  <a:moveTo>
                    <a:pt x="428625" y="1095375"/>
                  </a:moveTo>
                  <a:lnTo>
                    <a:pt x="523875" y="1095375"/>
                  </a:lnTo>
                  <a:lnTo>
                    <a:pt x="523875" y="1143000"/>
                  </a:lnTo>
                  <a:lnTo>
                    <a:pt x="428625" y="1143000"/>
                  </a:lnTo>
                  <a:close/>
                  <a:moveTo>
                    <a:pt x="619125" y="1095375"/>
                  </a:moveTo>
                  <a:lnTo>
                    <a:pt x="762000" y="1095375"/>
                  </a:lnTo>
                  <a:lnTo>
                    <a:pt x="762000" y="1143000"/>
                  </a:lnTo>
                  <a:lnTo>
                    <a:pt x="619125" y="1143000"/>
                  </a:lnTo>
                  <a:close/>
                  <a:moveTo>
                    <a:pt x="809625" y="1095375"/>
                  </a:moveTo>
                  <a:lnTo>
                    <a:pt x="904875" y="1095375"/>
                  </a:lnTo>
                  <a:lnTo>
                    <a:pt x="904875" y="1143000"/>
                  </a:lnTo>
                  <a:lnTo>
                    <a:pt x="809625" y="1143000"/>
                  </a:lnTo>
                  <a:close/>
                  <a:moveTo>
                    <a:pt x="1143000" y="1095375"/>
                  </a:moveTo>
                  <a:lnTo>
                    <a:pt x="1190625" y="1095375"/>
                  </a:lnTo>
                  <a:lnTo>
                    <a:pt x="1190625" y="1143000"/>
                  </a:lnTo>
                  <a:lnTo>
                    <a:pt x="1143000" y="1143000"/>
                  </a:lnTo>
                  <a:close/>
                  <a:moveTo>
                    <a:pt x="1238250" y="1095375"/>
                  </a:moveTo>
                  <a:lnTo>
                    <a:pt x="1285875" y="1095375"/>
                  </a:lnTo>
                  <a:lnTo>
                    <a:pt x="1285875" y="1143000"/>
                  </a:lnTo>
                  <a:lnTo>
                    <a:pt x="1238250" y="1143000"/>
                  </a:lnTo>
                  <a:close/>
                  <a:moveTo>
                    <a:pt x="1524000" y="1095375"/>
                  </a:moveTo>
                  <a:lnTo>
                    <a:pt x="1571625" y="1095375"/>
                  </a:lnTo>
                  <a:lnTo>
                    <a:pt x="1571625" y="1143000"/>
                  </a:lnTo>
                  <a:lnTo>
                    <a:pt x="1524000" y="1143000"/>
                  </a:lnTo>
                  <a:close/>
                  <a:moveTo>
                    <a:pt x="0" y="1143000"/>
                  </a:moveTo>
                  <a:lnTo>
                    <a:pt x="47625" y="1143000"/>
                  </a:lnTo>
                  <a:lnTo>
                    <a:pt x="47625" y="1190625"/>
                  </a:lnTo>
                  <a:lnTo>
                    <a:pt x="0" y="1190625"/>
                  </a:lnTo>
                  <a:close/>
                  <a:moveTo>
                    <a:pt x="95250" y="1143000"/>
                  </a:moveTo>
                  <a:lnTo>
                    <a:pt x="142875" y="1143000"/>
                  </a:lnTo>
                  <a:lnTo>
                    <a:pt x="142875" y="1190625"/>
                  </a:lnTo>
                  <a:lnTo>
                    <a:pt x="95250" y="1190625"/>
                  </a:lnTo>
                  <a:close/>
                  <a:moveTo>
                    <a:pt x="238125" y="1143000"/>
                  </a:moveTo>
                  <a:lnTo>
                    <a:pt x="381000" y="1143000"/>
                  </a:lnTo>
                  <a:lnTo>
                    <a:pt x="381000" y="1190625"/>
                  </a:lnTo>
                  <a:lnTo>
                    <a:pt x="238125" y="1190625"/>
                  </a:lnTo>
                  <a:close/>
                  <a:moveTo>
                    <a:pt x="523875" y="1143000"/>
                  </a:moveTo>
                  <a:lnTo>
                    <a:pt x="571500" y="1143000"/>
                  </a:lnTo>
                  <a:lnTo>
                    <a:pt x="571500" y="1190625"/>
                  </a:lnTo>
                  <a:lnTo>
                    <a:pt x="523875" y="1190625"/>
                  </a:lnTo>
                  <a:close/>
                  <a:moveTo>
                    <a:pt x="619125" y="1143000"/>
                  </a:moveTo>
                  <a:lnTo>
                    <a:pt x="857250" y="1143000"/>
                  </a:lnTo>
                  <a:lnTo>
                    <a:pt x="857250" y="1190625"/>
                  </a:lnTo>
                  <a:lnTo>
                    <a:pt x="619125" y="1190625"/>
                  </a:lnTo>
                  <a:close/>
                  <a:moveTo>
                    <a:pt x="1047750" y="1143000"/>
                  </a:moveTo>
                  <a:lnTo>
                    <a:pt x="1095375" y="1143000"/>
                  </a:lnTo>
                  <a:lnTo>
                    <a:pt x="1095375" y="1190625"/>
                  </a:lnTo>
                  <a:lnTo>
                    <a:pt x="1047750" y="1190625"/>
                  </a:lnTo>
                  <a:close/>
                  <a:moveTo>
                    <a:pt x="1143000" y="1143000"/>
                  </a:moveTo>
                  <a:lnTo>
                    <a:pt x="1428750" y="1143000"/>
                  </a:lnTo>
                  <a:lnTo>
                    <a:pt x="1428750" y="1190625"/>
                  </a:lnTo>
                  <a:lnTo>
                    <a:pt x="1143000" y="1190625"/>
                  </a:lnTo>
                  <a:close/>
                  <a:moveTo>
                    <a:pt x="1524000" y="1143000"/>
                  </a:moveTo>
                  <a:lnTo>
                    <a:pt x="1571625" y="1143000"/>
                  </a:lnTo>
                  <a:lnTo>
                    <a:pt x="1571625" y="1190625"/>
                  </a:lnTo>
                  <a:lnTo>
                    <a:pt x="1524000" y="1190625"/>
                  </a:lnTo>
                  <a:close/>
                  <a:moveTo>
                    <a:pt x="381000" y="1190625"/>
                  </a:moveTo>
                  <a:lnTo>
                    <a:pt x="428625" y="1190625"/>
                  </a:lnTo>
                  <a:lnTo>
                    <a:pt x="428625" y="1238250"/>
                  </a:lnTo>
                  <a:lnTo>
                    <a:pt x="381000" y="1238250"/>
                  </a:lnTo>
                  <a:close/>
                  <a:moveTo>
                    <a:pt x="523875" y="1190625"/>
                  </a:moveTo>
                  <a:lnTo>
                    <a:pt x="666750" y="1190625"/>
                  </a:lnTo>
                  <a:lnTo>
                    <a:pt x="666750" y="1238250"/>
                  </a:lnTo>
                  <a:lnTo>
                    <a:pt x="523875" y="1238250"/>
                  </a:lnTo>
                  <a:close/>
                  <a:moveTo>
                    <a:pt x="762000" y="1190625"/>
                  </a:moveTo>
                  <a:lnTo>
                    <a:pt x="809625" y="1190625"/>
                  </a:lnTo>
                  <a:lnTo>
                    <a:pt x="809625" y="1238250"/>
                  </a:lnTo>
                  <a:lnTo>
                    <a:pt x="762000" y="1238250"/>
                  </a:lnTo>
                  <a:close/>
                  <a:moveTo>
                    <a:pt x="857250" y="1190625"/>
                  </a:moveTo>
                  <a:lnTo>
                    <a:pt x="1000125" y="1190625"/>
                  </a:lnTo>
                  <a:lnTo>
                    <a:pt x="1000125" y="1238250"/>
                  </a:lnTo>
                  <a:lnTo>
                    <a:pt x="857250" y="1238250"/>
                  </a:lnTo>
                  <a:close/>
                  <a:moveTo>
                    <a:pt x="1143000" y="1190625"/>
                  </a:moveTo>
                  <a:lnTo>
                    <a:pt x="1190625" y="1190625"/>
                  </a:lnTo>
                  <a:lnTo>
                    <a:pt x="1190625" y="1238250"/>
                  </a:lnTo>
                  <a:lnTo>
                    <a:pt x="1143000" y="1238250"/>
                  </a:lnTo>
                  <a:close/>
                  <a:moveTo>
                    <a:pt x="1333500" y="1190625"/>
                  </a:moveTo>
                  <a:lnTo>
                    <a:pt x="1428750" y="1190625"/>
                  </a:lnTo>
                  <a:lnTo>
                    <a:pt x="1428750" y="1238250"/>
                  </a:lnTo>
                  <a:lnTo>
                    <a:pt x="1333500" y="1238250"/>
                  </a:lnTo>
                  <a:close/>
                  <a:moveTo>
                    <a:pt x="0" y="1238250"/>
                  </a:moveTo>
                  <a:lnTo>
                    <a:pt x="333375" y="1238250"/>
                  </a:lnTo>
                  <a:lnTo>
                    <a:pt x="333375" y="1285875"/>
                  </a:lnTo>
                  <a:lnTo>
                    <a:pt x="0" y="1285875"/>
                  </a:lnTo>
                  <a:close/>
                  <a:moveTo>
                    <a:pt x="523875" y="1238250"/>
                  </a:moveTo>
                  <a:lnTo>
                    <a:pt x="571500" y="1238250"/>
                  </a:lnTo>
                  <a:lnTo>
                    <a:pt x="571500" y="1285875"/>
                  </a:lnTo>
                  <a:lnTo>
                    <a:pt x="523875" y="1285875"/>
                  </a:lnTo>
                  <a:close/>
                  <a:moveTo>
                    <a:pt x="666750" y="1238250"/>
                  </a:moveTo>
                  <a:lnTo>
                    <a:pt x="1000125" y="1238250"/>
                  </a:lnTo>
                  <a:lnTo>
                    <a:pt x="1000125" y="1285875"/>
                  </a:lnTo>
                  <a:lnTo>
                    <a:pt x="666750" y="1285875"/>
                  </a:lnTo>
                  <a:close/>
                  <a:moveTo>
                    <a:pt x="1095375" y="1238250"/>
                  </a:moveTo>
                  <a:lnTo>
                    <a:pt x="1190625" y="1238250"/>
                  </a:lnTo>
                  <a:lnTo>
                    <a:pt x="1190625" y="1285875"/>
                  </a:lnTo>
                  <a:lnTo>
                    <a:pt x="1095375" y="1285875"/>
                  </a:lnTo>
                  <a:close/>
                  <a:moveTo>
                    <a:pt x="1238250" y="1238250"/>
                  </a:moveTo>
                  <a:lnTo>
                    <a:pt x="1285875" y="1238250"/>
                  </a:lnTo>
                  <a:lnTo>
                    <a:pt x="1285875" y="1285875"/>
                  </a:lnTo>
                  <a:lnTo>
                    <a:pt x="1238250" y="1285875"/>
                  </a:lnTo>
                  <a:close/>
                  <a:moveTo>
                    <a:pt x="1333500" y="1238250"/>
                  </a:moveTo>
                  <a:lnTo>
                    <a:pt x="1381125" y="1238250"/>
                  </a:lnTo>
                  <a:lnTo>
                    <a:pt x="1381125" y="1285875"/>
                  </a:lnTo>
                  <a:lnTo>
                    <a:pt x="1333500" y="1285875"/>
                  </a:lnTo>
                  <a:close/>
                  <a:moveTo>
                    <a:pt x="0" y="1285875"/>
                  </a:moveTo>
                  <a:lnTo>
                    <a:pt x="47625" y="1285875"/>
                  </a:lnTo>
                  <a:lnTo>
                    <a:pt x="47625" y="1333500"/>
                  </a:lnTo>
                  <a:lnTo>
                    <a:pt x="0" y="1333500"/>
                  </a:lnTo>
                  <a:close/>
                  <a:moveTo>
                    <a:pt x="285750" y="1285875"/>
                  </a:moveTo>
                  <a:lnTo>
                    <a:pt x="333375" y="1285875"/>
                  </a:lnTo>
                  <a:lnTo>
                    <a:pt x="333375" y="1333500"/>
                  </a:lnTo>
                  <a:lnTo>
                    <a:pt x="285750" y="1333500"/>
                  </a:lnTo>
                  <a:close/>
                  <a:moveTo>
                    <a:pt x="381000" y="1285875"/>
                  </a:moveTo>
                  <a:lnTo>
                    <a:pt x="571500" y="1285875"/>
                  </a:lnTo>
                  <a:lnTo>
                    <a:pt x="571500" y="1333500"/>
                  </a:lnTo>
                  <a:lnTo>
                    <a:pt x="381000" y="1333500"/>
                  </a:lnTo>
                  <a:close/>
                  <a:moveTo>
                    <a:pt x="666750" y="1285875"/>
                  </a:moveTo>
                  <a:lnTo>
                    <a:pt x="857250" y="1285875"/>
                  </a:lnTo>
                  <a:lnTo>
                    <a:pt x="857250" y="1333500"/>
                  </a:lnTo>
                  <a:lnTo>
                    <a:pt x="666750" y="1333500"/>
                  </a:lnTo>
                  <a:close/>
                  <a:moveTo>
                    <a:pt x="952500" y="1285875"/>
                  </a:moveTo>
                  <a:lnTo>
                    <a:pt x="1047750" y="1285875"/>
                  </a:lnTo>
                  <a:lnTo>
                    <a:pt x="1047750" y="1333500"/>
                  </a:lnTo>
                  <a:lnTo>
                    <a:pt x="952500" y="1333500"/>
                  </a:lnTo>
                  <a:close/>
                  <a:moveTo>
                    <a:pt x="1095375" y="1285875"/>
                  </a:moveTo>
                  <a:lnTo>
                    <a:pt x="1190625" y="1285875"/>
                  </a:lnTo>
                  <a:lnTo>
                    <a:pt x="1190625" y="1333500"/>
                  </a:lnTo>
                  <a:lnTo>
                    <a:pt x="1095375" y="1333500"/>
                  </a:lnTo>
                  <a:close/>
                  <a:moveTo>
                    <a:pt x="1333500" y="1285875"/>
                  </a:moveTo>
                  <a:lnTo>
                    <a:pt x="1476375" y="1285875"/>
                  </a:lnTo>
                  <a:lnTo>
                    <a:pt x="1476375" y="1333500"/>
                  </a:lnTo>
                  <a:lnTo>
                    <a:pt x="1333500" y="1333500"/>
                  </a:lnTo>
                  <a:close/>
                  <a:moveTo>
                    <a:pt x="0" y="1333500"/>
                  </a:moveTo>
                  <a:lnTo>
                    <a:pt x="47625" y="1333500"/>
                  </a:lnTo>
                  <a:lnTo>
                    <a:pt x="47625" y="1381125"/>
                  </a:lnTo>
                  <a:lnTo>
                    <a:pt x="0" y="1381125"/>
                  </a:lnTo>
                  <a:close/>
                  <a:moveTo>
                    <a:pt x="95250" y="1333500"/>
                  </a:moveTo>
                  <a:lnTo>
                    <a:pt x="238125" y="1333500"/>
                  </a:lnTo>
                  <a:lnTo>
                    <a:pt x="238125" y="1381125"/>
                  </a:lnTo>
                  <a:lnTo>
                    <a:pt x="95250" y="1381125"/>
                  </a:lnTo>
                  <a:close/>
                  <a:moveTo>
                    <a:pt x="285750" y="1333500"/>
                  </a:moveTo>
                  <a:lnTo>
                    <a:pt x="333375" y="1333500"/>
                  </a:lnTo>
                  <a:lnTo>
                    <a:pt x="333375" y="1381125"/>
                  </a:lnTo>
                  <a:lnTo>
                    <a:pt x="285750" y="1381125"/>
                  </a:lnTo>
                  <a:close/>
                  <a:moveTo>
                    <a:pt x="523875" y="1333500"/>
                  </a:moveTo>
                  <a:lnTo>
                    <a:pt x="666750" y="1333500"/>
                  </a:lnTo>
                  <a:lnTo>
                    <a:pt x="666750" y="1381125"/>
                  </a:lnTo>
                  <a:lnTo>
                    <a:pt x="523875" y="1381125"/>
                  </a:lnTo>
                  <a:close/>
                  <a:moveTo>
                    <a:pt x="809625" y="1333500"/>
                  </a:moveTo>
                  <a:lnTo>
                    <a:pt x="857250" y="1333500"/>
                  </a:lnTo>
                  <a:lnTo>
                    <a:pt x="857250" y="1381125"/>
                  </a:lnTo>
                  <a:lnTo>
                    <a:pt x="809625" y="1381125"/>
                  </a:lnTo>
                  <a:close/>
                  <a:moveTo>
                    <a:pt x="904875" y="1333500"/>
                  </a:moveTo>
                  <a:lnTo>
                    <a:pt x="952500" y="1333500"/>
                  </a:lnTo>
                  <a:lnTo>
                    <a:pt x="952500" y="1381125"/>
                  </a:lnTo>
                  <a:lnTo>
                    <a:pt x="904875" y="1381125"/>
                  </a:lnTo>
                  <a:close/>
                  <a:moveTo>
                    <a:pt x="1000125" y="1333500"/>
                  </a:moveTo>
                  <a:lnTo>
                    <a:pt x="1381125" y="1333500"/>
                  </a:lnTo>
                  <a:lnTo>
                    <a:pt x="1381125" y="1381125"/>
                  </a:lnTo>
                  <a:lnTo>
                    <a:pt x="1000125" y="1381125"/>
                  </a:lnTo>
                  <a:close/>
                  <a:moveTo>
                    <a:pt x="1428750" y="1333500"/>
                  </a:moveTo>
                  <a:lnTo>
                    <a:pt x="1524000" y="1333500"/>
                  </a:lnTo>
                  <a:lnTo>
                    <a:pt x="1524000" y="1381125"/>
                  </a:lnTo>
                  <a:lnTo>
                    <a:pt x="1428750" y="1381125"/>
                  </a:lnTo>
                  <a:close/>
                  <a:moveTo>
                    <a:pt x="0" y="1381125"/>
                  </a:moveTo>
                  <a:lnTo>
                    <a:pt x="47625" y="1381125"/>
                  </a:lnTo>
                  <a:lnTo>
                    <a:pt x="47625" y="1428750"/>
                  </a:lnTo>
                  <a:lnTo>
                    <a:pt x="0" y="1428750"/>
                  </a:lnTo>
                  <a:close/>
                  <a:moveTo>
                    <a:pt x="95250" y="1381125"/>
                  </a:moveTo>
                  <a:lnTo>
                    <a:pt x="238125" y="1381125"/>
                  </a:lnTo>
                  <a:lnTo>
                    <a:pt x="238125" y="1428750"/>
                  </a:lnTo>
                  <a:lnTo>
                    <a:pt x="95250" y="1428750"/>
                  </a:lnTo>
                  <a:close/>
                  <a:moveTo>
                    <a:pt x="285750" y="1381125"/>
                  </a:moveTo>
                  <a:lnTo>
                    <a:pt x="333375" y="1381125"/>
                  </a:lnTo>
                  <a:lnTo>
                    <a:pt x="333375" y="1428750"/>
                  </a:lnTo>
                  <a:lnTo>
                    <a:pt x="285750" y="1428750"/>
                  </a:lnTo>
                  <a:close/>
                  <a:moveTo>
                    <a:pt x="381000" y="1381125"/>
                  </a:moveTo>
                  <a:lnTo>
                    <a:pt x="428625" y="1381125"/>
                  </a:lnTo>
                  <a:lnTo>
                    <a:pt x="428625" y="1428750"/>
                  </a:lnTo>
                  <a:lnTo>
                    <a:pt x="381000" y="1428750"/>
                  </a:lnTo>
                  <a:close/>
                  <a:moveTo>
                    <a:pt x="523875" y="1381125"/>
                  </a:moveTo>
                  <a:lnTo>
                    <a:pt x="619125" y="1381125"/>
                  </a:lnTo>
                  <a:lnTo>
                    <a:pt x="619125" y="1428750"/>
                  </a:lnTo>
                  <a:lnTo>
                    <a:pt x="523875" y="1428750"/>
                  </a:lnTo>
                  <a:close/>
                  <a:moveTo>
                    <a:pt x="666750" y="1381125"/>
                  </a:moveTo>
                  <a:lnTo>
                    <a:pt x="809625" y="1381125"/>
                  </a:lnTo>
                  <a:lnTo>
                    <a:pt x="809625" y="1428750"/>
                  </a:lnTo>
                  <a:lnTo>
                    <a:pt x="666750" y="1428750"/>
                  </a:lnTo>
                  <a:close/>
                  <a:moveTo>
                    <a:pt x="857250" y="1381125"/>
                  </a:moveTo>
                  <a:lnTo>
                    <a:pt x="904875" y="1381125"/>
                  </a:lnTo>
                  <a:lnTo>
                    <a:pt x="904875" y="1428750"/>
                  </a:lnTo>
                  <a:lnTo>
                    <a:pt x="857250" y="1428750"/>
                  </a:lnTo>
                  <a:close/>
                  <a:moveTo>
                    <a:pt x="952500" y="1381125"/>
                  </a:moveTo>
                  <a:lnTo>
                    <a:pt x="1143000" y="1381125"/>
                  </a:lnTo>
                  <a:lnTo>
                    <a:pt x="1143000" y="1428750"/>
                  </a:lnTo>
                  <a:lnTo>
                    <a:pt x="952500" y="1428750"/>
                  </a:lnTo>
                  <a:close/>
                  <a:moveTo>
                    <a:pt x="1285875" y="1381125"/>
                  </a:moveTo>
                  <a:lnTo>
                    <a:pt x="1333500" y="1381125"/>
                  </a:lnTo>
                  <a:lnTo>
                    <a:pt x="1333500" y="1428750"/>
                  </a:lnTo>
                  <a:lnTo>
                    <a:pt x="1285875" y="1428750"/>
                  </a:lnTo>
                  <a:close/>
                  <a:moveTo>
                    <a:pt x="1476375" y="1381125"/>
                  </a:moveTo>
                  <a:lnTo>
                    <a:pt x="1571625" y="1381125"/>
                  </a:lnTo>
                  <a:lnTo>
                    <a:pt x="1571625" y="1428750"/>
                  </a:lnTo>
                  <a:lnTo>
                    <a:pt x="1476375" y="1428750"/>
                  </a:lnTo>
                  <a:close/>
                  <a:moveTo>
                    <a:pt x="0" y="1428750"/>
                  </a:moveTo>
                  <a:lnTo>
                    <a:pt x="47625" y="1428750"/>
                  </a:lnTo>
                  <a:lnTo>
                    <a:pt x="47625" y="1476375"/>
                  </a:lnTo>
                  <a:lnTo>
                    <a:pt x="0" y="1476375"/>
                  </a:lnTo>
                  <a:close/>
                  <a:moveTo>
                    <a:pt x="95250" y="1428750"/>
                  </a:moveTo>
                  <a:lnTo>
                    <a:pt x="238125" y="1428750"/>
                  </a:lnTo>
                  <a:lnTo>
                    <a:pt x="238125" y="1476375"/>
                  </a:lnTo>
                  <a:lnTo>
                    <a:pt x="95250" y="1476375"/>
                  </a:lnTo>
                  <a:close/>
                  <a:moveTo>
                    <a:pt x="285750" y="1428750"/>
                  </a:moveTo>
                  <a:lnTo>
                    <a:pt x="333375" y="1428750"/>
                  </a:lnTo>
                  <a:lnTo>
                    <a:pt x="333375" y="1476375"/>
                  </a:lnTo>
                  <a:lnTo>
                    <a:pt x="285750" y="1476375"/>
                  </a:lnTo>
                  <a:close/>
                  <a:moveTo>
                    <a:pt x="381000" y="1428750"/>
                  </a:moveTo>
                  <a:lnTo>
                    <a:pt x="428625" y="1428750"/>
                  </a:lnTo>
                  <a:lnTo>
                    <a:pt x="428625" y="1476375"/>
                  </a:lnTo>
                  <a:lnTo>
                    <a:pt x="381000" y="1476375"/>
                  </a:lnTo>
                  <a:close/>
                  <a:moveTo>
                    <a:pt x="619125" y="1428750"/>
                  </a:moveTo>
                  <a:lnTo>
                    <a:pt x="666750" y="1428750"/>
                  </a:lnTo>
                  <a:lnTo>
                    <a:pt x="666750" y="1476375"/>
                  </a:lnTo>
                  <a:lnTo>
                    <a:pt x="619125" y="1476375"/>
                  </a:lnTo>
                  <a:close/>
                  <a:moveTo>
                    <a:pt x="762000" y="1428750"/>
                  </a:moveTo>
                  <a:lnTo>
                    <a:pt x="904875" y="1428750"/>
                  </a:lnTo>
                  <a:lnTo>
                    <a:pt x="904875" y="1476375"/>
                  </a:lnTo>
                  <a:lnTo>
                    <a:pt x="762000" y="1476375"/>
                  </a:lnTo>
                  <a:close/>
                  <a:moveTo>
                    <a:pt x="952500" y="1428750"/>
                  </a:moveTo>
                  <a:lnTo>
                    <a:pt x="1000125" y="1428750"/>
                  </a:lnTo>
                  <a:lnTo>
                    <a:pt x="1000125" y="1476375"/>
                  </a:lnTo>
                  <a:lnTo>
                    <a:pt x="952500" y="1476375"/>
                  </a:lnTo>
                  <a:close/>
                  <a:moveTo>
                    <a:pt x="1047750" y="1428750"/>
                  </a:moveTo>
                  <a:lnTo>
                    <a:pt x="1095375" y="1428750"/>
                  </a:lnTo>
                  <a:lnTo>
                    <a:pt x="1095375" y="1476375"/>
                  </a:lnTo>
                  <a:lnTo>
                    <a:pt x="1047750" y="1476375"/>
                  </a:lnTo>
                  <a:close/>
                  <a:moveTo>
                    <a:pt x="1238250" y="1428750"/>
                  </a:moveTo>
                  <a:lnTo>
                    <a:pt x="1333500" y="1428750"/>
                  </a:lnTo>
                  <a:lnTo>
                    <a:pt x="1333500" y="1476375"/>
                  </a:lnTo>
                  <a:lnTo>
                    <a:pt x="1238250" y="1476375"/>
                  </a:lnTo>
                  <a:close/>
                  <a:moveTo>
                    <a:pt x="1428750" y="1428750"/>
                  </a:moveTo>
                  <a:lnTo>
                    <a:pt x="1476375" y="1428750"/>
                  </a:lnTo>
                  <a:lnTo>
                    <a:pt x="1476375" y="1476375"/>
                  </a:lnTo>
                  <a:lnTo>
                    <a:pt x="1428750" y="1476375"/>
                  </a:lnTo>
                  <a:close/>
                  <a:moveTo>
                    <a:pt x="0" y="1476375"/>
                  </a:moveTo>
                  <a:lnTo>
                    <a:pt x="47625" y="1476375"/>
                  </a:lnTo>
                  <a:lnTo>
                    <a:pt x="47625" y="1524000"/>
                  </a:lnTo>
                  <a:lnTo>
                    <a:pt x="0" y="1524000"/>
                  </a:lnTo>
                  <a:close/>
                  <a:moveTo>
                    <a:pt x="285750" y="1476375"/>
                  </a:moveTo>
                  <a:lnTo>
                    <a:pt x="333375" y="1476375"/>
                  </a:lnTo>
                  <a:lnTo>
                    <a:pt x="333375" y="1524000"/>
                  </a:lnTo>
                  <a:lnTo>
                    <a:pt x="285750" y="1524000"/>
                  </a:lnTo>
                  <a:close/>
                  <a:moveTo>
                    <a:pt x="381000" y="1476375"/>
                  </a:moveTo>
                  <a:lnTo>
                    <a:pt x="428625" y="1476375"/>
                  </a:lnTo>
                  <a:lnTo>
                    <a:pt x="428625" y="1524000"/>
                  </a:lnTo>
                  <a:lnTo>
                    <a:pt x="381000" y="1524000"/>
                  </a:lnTo>
                  <a:close/>
                  <a:moveTo>
                    <a:pt x="476250" y="1476375"/>
                  </a:moveTo>
                  <a:lnTo>
                    <a:pt x="523875" y="1476375"/>
                  </a:lnTo>
                  <a:lnTo>
                    <a:pt x="523875" y="1524000"/>
                  </a:lnTo>
                  <a:lnTo>
                    <a:pt x="476250" y="1524000"/>
                  </a:lnTo>
                  <a:close/>
                  <a:moveTo>
                    <a:pt x="571500" y="1476375"/>
                  </a:moveTo>
                  <a:lnTo>
                    <a:pt x="619125" y="1476375"/>
                  </a:lnTo>
                  <a:lnTo>
                    <a:pt x="619125" y="1524000"/>
                  </a:lnTo>
                  <a:lnTo>
                    <a:pt x="571500" y="1524000"/>
                  </a:lnTo>
                  <a:close/>
                  <a:moveTo>
                    <a:pt x="762000" y="1476375"/>
                  </a:moveTo>
                  <a:lnTo>
                    <a:pt x="809625" y="1476375"/>
                  </a:lnTo>
                  <a:lnTo>
                    <a:pt x="809625" y="1524000"/>
                  </a:lnTo>
                  <a:lnTo>
                    <a:pt x="762000" y="1524000"/>
                  </a:lnTo>
                  <a:close/>
                  <a:moveTo>
                    <a:pt x="857250" y="1476375"/>
                  </a:moveTo>
                  <a:lnTo>
                    <a:pt x="952500" y="1476375"/>
                  </a:lnTo>
                  <a:lnTo>
                    <a:pt x="952500" y="1524000"/>
                  </a:lnTo>
                  <a:lnTo>
                    <a:pt x="857250" y="1524000"/>
                  </a:lnTo>
                  <a:close/>
                  <a:moveTo>
                    <a:pt x="1047750" y="1476375"/>
                  </a:moveTo>
                  <a:lnTo>
                    <a:pt x="1238250" y="1476375"/>
                  </a:lnTo>
                  <a:lnTo>
                    <a:pt x="1238250" y="1524000"/>
                  </a:lnTo>
                  <a:lnTo>
                    <a:pt x="1047750" y="1524000"/>
                  </a:lnTo>
                  <a:close/>
                  <a:moveTo>
                    <a:pt x="1285875" y="1476375"/>
                  </a:moveTo>
                  <a:lnTo>
                    <a:pt x="1428750" y="1476375"/>
                  </a:lnTo>
                  <a:lnTo>
                    <a:pt x="1428750" y="1524000"/>
                  </a:lnTo>
                  <a:lnTo>
                    <a:pt x="1285875" y="1524000"/>
                  </a:lnTo>
                  <a:close/>
                  <a:moveTo>
                    <a:pt x="1524000" y="1476375"/>
                  </a:moveTo>
                  <a:lnTo>
                    <a:pt x="1571625" y="1476375"/>
                  </a:lnTo>
                  <a:lnTo>
                    <a:pt x="1571625" y="1524000"/>
                  </a:lnTo>
                  <a:lnTo>
                    <a:pt x="1524000" y="1524000"/>
                  </a:lnTo>
                  <a:close/>
                  <a:moveTo>
                    <a:pt x="0" y="1524000"/>
                  </a:moveTo>
                  <a:lnTo>
                    <a:pt x="333375" y="1524000"/>
                  </a:lnTo>
                  <a:lnTo>
                    <a:pt x="333375" y="1571625"/>
                  </a:lnTo>
                  <a:lnTo>
                    <a:pt x="0" y="1571625"/>
                  </a:lnTo>
                  <a:close/>
                  <a:moveTo>
                    <a:pt x="666750" y="1524000"/>
                  </a:moveTo>
                  <a:lnTo>
                    <a:pt x="904875" y="1524000"/>
                  </a:lnTo>
                  <a:lnTo>
                    <a:pt x="904875" y="1571625"/>
                  </a:lnTo>
                  <a:lnTo>
                    <a:pt x="666750" y="1571625"/>
                  </a:lnTo>
                  <a:close/>
                  <a:moveTo>
                    <a:pt x="1000125" y="1524000"/>
                  </a:moveTo>
                  <a:lnTo>
                    <a:pt x="1047750" y="1524000"/>
                  </a:lnTo>
                  <a:lnTo>
                    <a:pt x="1047750" y="1571625"/>
                  </a:lnTo>
                  <a:lnTo>
                    <a:pt x="1000125" y="1571625"/>
                  </a:lnTo>
                  <a:close/>
                  <a:moveTo>
                    <a:pt x="1095375" y="1524000"/>
                  </a:moveTo>
                  <a:lnTo>
                    <a:pt x="1143000" y="1524000"/>
                  </a:lnTo>
                  <a:lnTo>
                    <a:pt x="1143000" y="1571625"/>
                  </a:lnTo>
                  <a:lnTo>
                    <a:pt x="1095375" y="1571625"/>
                  </a:lnTo>
                  <a:close/>
                  <a:moveTo>
                    <a:pt x="1190625" y="1524000"/>
                  </a:moveTo>
                  <a:lnTo>
                    <a:pt x="1285875" y="1524000"/>
                  </a:lnTo>
                  <a:lnTo>
                    <a:pt x="1285875" y="1571625"/>
                  </a:lnTo>
                  <a:lnTo>
                    <a:pt x="1190625" y="1571625"/>
                  </a:lnTo>
                  <a:close/>
                  <a:moveTo>
                    <a:pt x="1333500" y="1524000"/>
                  </a:moveTo>
                  <a:lnTo>
                    <a:pt x="1476375" y="1524000"/>
                  </a:lnTo>
                  <a:lnTo>
                    <a:pt x="1476375" y="1571625"/>
                  </a:lnTo>
                  <a:lnTo>
                    <a:pt x="1333500" y="1571625"/>
                  </a:lnTo>
                  <a:close/>
                </a:path>
              </a:pathLst>
            </a:custGeom>
            <a:solidFill>
              <a:schemeClr val="accent1"/>
            </a:solidFill>
            <a:ln>
              <a:noFill/>
            </a:ln>
          </p:spPr>
          <p:txBody>
            <a:bodyPr/>
            <a:lstStyle/>
            <a:p>
              <a:endParaRPr lang="en-US"/>
            </a:p>
          </p:txBody>
        </p:sp>
        <p:sp>
          <p:nvSpPr>
            <p:cNvPr id="30" name="TextBox 30">
              <a:hlinkClick r:id="rId11"/>
            </p:cNvPr>
            <p:cNvSpPr txBox="1"/>
            <p:nvPr/>
          </p:nvSpPr>
          <p:spPr>
            <a:xfrm>
              <a:off x="9171560" y="5721350"/>
              <a:ext cx="2459480" cy="610864"/>
            </a:xfrm>
            <a:prstGeom prst="rect">
              <a:avLst/>
            </a:prstGeom>
            <a:noFill/>
            <a:ln>
              <a:noFill/>
            </a:ln>
          </p:spPr>
          <p:txBody>
            <a:bodyPr wrap="none" lIns="0" tIns="0" rIns="0" bIns="0" anchor="t" anchorCtr="0">
              <a:spAutoFit/>
            </a:bodyPr>
            <a:lstStyle/>
            <a:p>
              <a:pPr algn="ctr">
                <a:lnSpc>
                  <a:spcPts val="2100"/>
                </a:lnSpc>
              </a:pPr>
              <a:r>
                <a:rPr lang="en" sz="1400" dirty="0">
                  <a:solidFill>
                    <a:schemeClr val="dk1"/>
                  </a:solidFill>
                  <a:latin typeface="Segoe UI"/>
                  <a:ea typeface="Segoe UI"/>
                  <a:cs typeface="Segoe UI"/>
                </a:rPr>
                <a:t>github.com/william20808/</a:t>
              </a:r>
              <a:br>
                <a:rPr lang="en" sz="1400" dirty="0">
                  <a:solidFill>
                    <a:schemeClr val="dk1"/>
                  </a:solidFill>
                  <a:latin typeface="Segoe UI"/>
                  <a:ea typeface="Segoe UI"/>
                  <a:cs typeface="Segoe UI"/>
                </a:rPr>
              </a:br>
              <a:r>
                <a:rPr lang="en" sz="1400" dirty="0">
                  <a:solidFill>
                    <a:schemeClr val="dk1"/>
                  </a:solidFill>
                  <a:latin typeface="Segoe UI"/>
                  <a:ea typeface="Segoe UI"/>
                  <a:cs typeface="Segoe UI"/>
                </a:rPr>
                <a:t>nexora_dosm</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90" fill="hold"/>
                                        <p:tgtEl>
                                          <p:spTgt spid="32"/>
                                        </p:tgtEl>
                                      </p:cBhvr>
                                    </p:cmd>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par>
                                <p:cTn id="10" presetID="10"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6990"/>
                            </p:stCondLst>
                            <p:childTnLst>
                              <p:par>
                                <p:cTn id="14" presetID="10"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par>
                          <p:cTn id="17" fill="hold">
                            <p:stCondLst>
                              <p:cond delay="7490"/>
                            </p:stCondLst>
                            <p:childTnLst>
                              <p:par>
                                <p:cTn id="18" presetID="10" presetClass="entr" presetSubtype="0"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3" fill="hold" display="0">
                  <p:stCondLst>
                    <p:cond delay="indefinite"/>
                  </p:stCondLst>
                </p:cTn>
                <p:tgtEl>
                  <p:spTgt spid="32"/>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3-banner-photo"/>
          <p:cNvPicPr>
            <a:picLocks noChangeAspect="1"/>
          </p:cNvPicPr>
          <p:nvPr/>
        </p:nvPicPr>
        <p:blipFill>
          <a:blip r:embed="rId3"/>
          <a:srcRect l="10526" r="10527"/>
          <a:stretch>
            <a:fillRect/>
          </a:stretch>
        </p:blipFill>
        <p:spPr>
          <a:xfrm>
            <a:off x="6477000" y="0"/>
            <a:ext cx="5715000" cy="1676400"/>
          </a:xfrm>
          <a:prstGeom prst="rect">
            <a:avLst/>
          </a:prstGeom>
        </p:spPr>
      </p:pic>
      <p:sp>
        <p:nvSpPr>
          <p:cNvPr id="3" name="p13-banner-fade"/>
          <p:cNvSpPr/>
          <p:nvPr/>
        </p:nvSpPr>
        <p:spPr>
          <a:xfrm>
            <a:off x="6477000" y="0"/>
            <a:ext cx="3429000" cy="1676400"/>
          </a:xfrm>
          <a:prstGeom prst="rect">
            <a:avLst/>
          </a:prstGeom>
          <a:gradFill>
            <a:gsLst>
              <a:gs pos="0">
                <a:schemeClr val="lt1"/>
              </a:gs>
              <a:gs pos="55000">
                <a:schemeClr val="lt1">
                  <a:alpha val="88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4360" y="234950"/>
            <a:ext cx="5288280" cy="1355090"/>
            <a:chOff x="594360" y="234950"/>
            <a:chExt cx="5288280" cy="1355090"/>
          </a:xfrm>
        </p:grpSpPr>
        <p:sp>
          <p:nvSpPr>
            <p:cNvPr id="4" name="TextBox 4"/>
            <p:cNvSpPr txBox="1"/>
            <p:nvPr/>
          </p:nvSpPr>
          <p:spPr>
            <a:xfrm>
              <a:off x="601218" y="234950"/>
              <a:ext cx="2869387"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BACKUP A · ACCURACY</a:t>
              </a:r>
            </a:p>
          </p:txBody>
        </p:sp>
        <p:sp>
          <p:nvSpPr>
            <p:cNvPr id="5" name="TextBox 5"/>
            <p:cNvSpPr txBox="1"/>
            <p:nvPr/>
          </p:nvSpPr>
          <p:spPr>
            <a:xfrm>
              <a:off x="594360" y="546100"/>
              <a:ext cx="5288280" cy="1043940"/>
            </a:xfrm>
            <a:prstGeom prst="rect">
              <a:avLst/>
            </a:prstGeom>
            <a:noFill/>
            <a:ln>
              <a:noFill/>
            </a:ln>
          </p:spPr>
          <p:txBody>
            <a:bodyPr wrap="none" lIns="0" tIns="0" rIns="0" bIns="0" anchor="t" anchorCtr="0">
              <a:spAutoFit/>
            </a:bodyPr>
            <a:lstStyle/>
            <a:p>
              <a:pPr algn="l">
                <a:lnSpc>
                  <a:spcPts val="3600"/>
                </a:lnSpc>
              </a:pPr>
              <a:r>
                <a:rPr lang="en" sz="3000" dirty="0">
                  <a:solidFill>
                    <a:schemeClr val="dk1"/>
                  </a:solidFill>
                  <a:latin typeface="+mj-lt"/>
                  <a:ea typeface="+mj-ea"/>
                  <a:cs typeface="+mj-cs"/>
                </a:rPr>
                <a:t>Best at 1–2 months, robust</a:t>
              </a:r>
              <a:br>
                <a:rPr lang="en" sz="3000" dirty="0">
                  <a:solidFill>
                    <a:schemeClr val="dk1"/>
                  </a:solidFill>
                  <a:latin typeface="+mj-lt"/>
                  <a:ea typeface="+mj-ea"/>
                  <a:cs typeface="+mj-cs"/>
                </a:rPr>
              </a:br>
              <a:r>
                <a:rPr lang="en" sz="3000" dirty="0">
                  <a:solidFill>
                    <a:schemeClr val="dk1"/>
                  </a:solidFill>
                  <a:latin typeface="+mj-lt"/>
                  <a:ea typeface="+mj-ea"/>
                  <a:cs typeface="+mj-cs"/>
                </a:rPr>
                <a:t>to the lag, humbled by COVID</a:t>
              </a:r>
            </a:p>
          </p:txBody>
        </p:sp>
      </p:grpSp>
      <p:grpSp>
        <p:nvGrpSpPr>
          <p:cNvPr id="11" name="accuracy-main"/>
          <p:cNvGrpSpPr/>
          <p:nvPr/>
        </p:nvGrpSpPr>
        <p:grpSpPr>
          <a:xfrm>
            <a:off x="525018" y="1860550"/>
            <a:ext cx="7247382" cy="3783457"/>
            <a:chOff x="525018" y="1860550"/>
            <a:chExt cx="7247382" cy="3783457"/>
          </a:xfrm>
        </p:grpSpPr>
        <p:sp>
          <p:nvSpPr>
            <p:cNvPr id="7" name="TextBox 7"/>
            <p:cNvSpPr txBox="1"/>
            <p:nvPr/>
          </p:nvSpPr>
          <p:spPr>
            <a:xfrm>
              <a:off x="525780" y="1860550"/>
              <a:ext cx="5647944"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MAE BY HORIZON · ARRIVALS PER MARKET-MONTH</a:t>
              </a:r>
            </a:p>
          </p:txBody>
        </p:sp>
        <p:graphicFrame>
          <p:nvGraphicFramePr>
            <p:cNvPr id="8" name="mae-by-horizon"/>
            <p:cNvGraphicFramePr>
              <a:graphicFrameLocks noGrp="1"/>
            </p:cNvGraphicFramePr>
            <p:nvPr/>
          </p:nvGraphicFramePr>
          <p:xfrm>
            <a:off x="533400" y="2171700"/>
            <a:ext cx="7239000" cy="2853690"/>
          </p:xfrm>
          <a:graphic>
            <a:graphicData uri="http://schemas.openxmlformats.org/drawingml/2006/table">
              <a:tbl>
                <a:tblPr firstRow="1">
                  <a:tableStyleId>{5C22544A-7EE6-4342-B048-85BDC9FD1C3A}</a:tableStyleId>
                </a:tblPr>
                <a:tblGrid>
                  <a:gridCol w="12954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tblGrid>
                <a:tr h="381000">
                  <a:tc>
                    <a:txBody>
                      <a:bodyPr/>
                      <a:lstStyle/>
                      <a:p>
                        <a:r>
                          <a:rPr lang="en" sz="1650" b="1">
                            <a:solidFill>
                              <a:srgbClr val="F5F7FB"/>
                            </a:solidFill>
                            <a:latin typeface="Segoe UI"/>
                            <a:ea typeface="Microsoft YaHei"/>
                            <a:cs typeface="Segoe UI"/>
                          </a:rPr>
                          <a:t>Horizon</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Naive-last</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Seasonal-naive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Ridge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LightGBM</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extLst>
                    <a:ext uri="{0D108BD9-81ED-4DB2-BD59-A6C34878D82A}">
                      <a16:rowId xmlns:a16="http://schemas.microsoft.com/office/drawing/2014/main" val="10000"/>
                    </a:ext>
                  </a:extLst>
                </a:tr>
                <a:tr h="342900">
                  <a:tc>
                    <a:txBody>
                      <a:bodyPr/>
                      <a:lstStyle/>
                      <a:p>
                        <a:endParaRP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tc>
                    <a:txBody>
                      <a:bodyPr/>
                      <a:lstStyle/>
                      <a:p>
                        <a:pPr algn="r"/>
                        <a:r>
                          <a:rPr lang="en" sz="1650" b="0">
                            <a:solidFill>
                              <a:schemeClr val="accent5"/>
                            </a:solidFill>
                            <a:latin typeface="Segoe UI"/>
                            <a:ea typeface="Microsoft YaHei"/>
                            <a:cs typeface="Segoe UI"/>
                          </a:rPr>
                          <a:t>repeat last month</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tc>
                    <a:txBody>
                      <a:bodyPr/>
                      <a:lstStyle/>
                      <a:p>
                        <a:pPr algn="r"/>
                        <a:r>
                          <a:rPr lang="en" sz="1650" b="0">
                            <a:solidFill>
                              <a:schemeClr val="accent5"/>
                            </a:solidFill>
                            <a:latin typeface="Segoe UI"/>
                            <a:ea typeface="Microsoft YaHei"/>
                            <a:cs typeface="Segoe UI"/>
                          </a:rPr>
                          <a:t>repeat last year</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tc>
                    <a:txBody>
                      <a:bodyPr/>
                      <a:lstStyle/>
                      <a:p>
                        <a:endParaRP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tc>
                    <a:txBody>
                      <a:bodyPr/>
                      <a:lstStyle/>
                      <a:p>
                        <a:endParaRP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E6EAF2"/>
                      </a:solidFill>
                    </a:tcPr>
                  </a:tc>
                  <a:extLst>
                    <a:ext uri="{0D108BD9-81ED-4DB2-BD59-A6C34878D82A}">
                      <a16:rowId xmlns:a16="http://schemas.microsoft.com/office/drawing/2014/main" val="10001"/>
                    </a:ext>
                  </a:extLst>
                </a:tr>
                <a:tr h="400050">
                  <a:tc>
                    <a:txBody>
                      <a:bodyPr/>
                      <a:lstStyle/>
                      <a:p>
                        <a:r>
                          <a:rPr lang="en" sz="1650" b="1">
                            <a:solidFill>
                              <a:schemeClr val="dk1"/>
                            </a:solidFill>
                            <a:latin typeface="Segoe UI"/>
                            <a:ea typeface="Microsoft YaHei"/>
                            <a:cs typeface="Segoe UI"/>
                          </a:rPr>
                          <a:t>Month 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12,752</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23,802</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12,117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11,817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extLst>
                    <a:ext uri="{0D108BD9-81ED-4DB2-BD59-A6C34878D82A}">
                      <a16:rowId xmlns:a16="http://schemas.microsoft.com/office/drawing/2014/main" val="10002"/>
                    </a:ext>
                  </a:extLst>
                </a:tr>
                <a:tr h="400050">
                  <a:tc>
                    <a:txBody>
                      <a:bodyPr/>
                      <a:lstStyle/>
                      <a:p>
                        <a:r>
                          <a:rPr lang="en" sz="1650" b="1">
                            <a:solidFill>
                              <a:schemeClr val="dk1"/>
                            </a:solidFill>
                            <a:latin typeface="Segoe UI"/>
                            <a:ea typeface="Microsoft YaHei"/>
                            <a:cs typeface="Segoe UI"/>
                          </a:rPr>
                          <a:t>Month 2</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9,671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20,404</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9,757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9,571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extLst>
                    <a:ext uri="{0D108BD9-81ED-4DB2-BD59-A6C34878D82A}">
                      <a16:rowId xmlns:a16="http://schemas.microsoft.com/office/drawing/2014/main" val="10003"/>
                    </a:ext>
                  </a:extLst>
                </a:tr>
                <a:tr h="400050">
                  <a:tc>
                    <a:txBody>
                      <a:bodyPr/>
                      <a:lstStyle/>
                      <a:p>
                        <a:r>
                          <a:rPr lang="en" sz="1650" b="1">
                            <a:solidFill>
                              <a:schemeClr val="dk1"/>
                            </a:solidFill>
                            <a:latin typeface="Segoe UI"/>
                            <a:ea typeface="Microsoft YaHei"/>
                            <a:cs typeface="Segoe UI"/>
                          </a:rPr>
                          <a:t>Month 3</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25,157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21,191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24,258</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21,504</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4"/>
                    </a:ext>
                  </a:extLst>
                </a:tr>
                <a:tr h="400050">
                  <a:tc>
                    <a:txBody>
                      <a:bodyPr/>
                      <a:lstStyle/>
                      <a:p>
                        <a:r>
                          <a:rPr lang="en" sz="1650" b="1">
                            <a:solidFill>
                              <a:schemeClr val="dk1"/>
                            </a:solidFill>
                            <a:latin typeface="Segoe UI"/>
                            <a:ea typeface="Microsoft YaHei"/>
                            <a:cs typeface="Segoe UI"/>
                          </a:rPr>
                          <a:t>Month 4</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21,171</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25,413</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20,775</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20,983</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5"/>
                    </a:ext>
                  </a:extLst>
                </a:tr>
                <a:tr h="400050">
                  <a:tc>
                    <a:txBody>
                      <a:bodyPr/>
                      <a:lstStyle/>
                      <a:p>
                        <a:r>
                          <a:rPr lang="en" sz="1650" b="1">
                            <a:solidFill>
                              <a:schemeClr val="dk1"/>
                            </a:solidFill>
                            <a:latin typeface="Segoe UI"/>
                            <a:ea typeface="Microsoft YaHei"/>
                            <a:cs typeface="Segoe UI"/>
                          </a:rPr>
                          <a:t>Aggregate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17,188</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22,702</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16,727</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15,969</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extLst>
                    <a:ext uri="{0D108BD9-81ED-4DB2-BD59-A6C34878D82A}">
                      <a16:rowId xmlns:a16="http://schemas.microsoft.com/office/drawing/2014/main" val="10006"/>
                    </a:ext>
                  </a:extLst>
                </a:tr>
              </a:tbl>
            </a:graphicData>
          </a:graphic>
        </p:graphicFrame>
        <p:sp>
          <p:nvSpPr>
            <p:cNvPr id="9" name="TextBox 9"/>
            <p:cNvSpPr txBox="1"/>
            <p:nvPr/>
          </p:nvSpPr>
          <p:spPr>
            <a:xfrm>
              <a:off x="525018" y="5016500"/>
              <a:ext cx="614216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Segoe UI"/>
                  <a:ea typeface="Segoe UI"/>
                  <a:cs typeface="Segoe UI"/>
                </a:rPr>
                <a:t>5 primary folds, Mar 2023–Sep 2025 · best per row highlighted</a:t>
              </a:r>
            </a:p>
          </p:txBody>
        </p:sp>
        <p:sp>
          <p:nvSpPr>
            <p:cNvPr id="10" name="TextBox 10"/>
            <p:cNvSpPr txBox="1"/>
            <p:nvPr/>
          </p:nvSpPr>
          <p:spPr>
            <a:xfrm>
              <a:off x="525018" y="5321300"/>
              <a:ext cx="2990940"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Ridge won 7 of 20 test cells</a:t>
              </a:r>
            </a:p>
          </p:txBody>
        </p:sp>
      </p:grpSp>
      <p:grpSp>
        <p:nvGrpSpPr>
          <p:cNvPr id="15" name="accuracy-covid"/>
          <p:cNvGrpSpPr/>
          <p:nvPr/>
        </p:nvGrpSpPr>
        <p:grpSpPr>
          <a:xfrm>
            <a:off x="7878318" y="1860550"/>
            <a:ext cx="3780282" cy="2430907"/>
            <a:chOff x="7878318" y="1860550"/>
            <a:chExt cx="3780282" cy="2430907"/>
          </a:xfrm>
        </p:grpSpPr>
        <p:sp>
          <p:nvSpPr>
            <p:cNvPr id="12" name="TextBox 12"/>
            <p:cNvSpPr txBox="1"/>
            <p:nvPr/>
          </p:nvSpPr>
          <p:spPr>
            <a:xfrm>
              <a:off x="7879080" y="1860550"/>
              <a:ext cx="2874264"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COVID STRESS · 2020–22</a:t>
              </a:r>
            </a:p>
          </p:txBody>
        </p:sp>
        <p:graphicFrame>
          <p:nvGraphicFramePr>
            <p:cNvPr id="13" name="covid-stress"/>
            <p:cNvGraphicFramePr>
              <a:graphicFrameLocks noGrp="1"/>
            </p:cNvGraphicFramePr>
            <p:nvPr/>
          </p:nvGraphicFramePr>
          <p:xfrm>
            <a:off x="7886700" y="2171700"/>
            <a:ext cx="3771900" cy="1733550"/>
          </p:xfrm>
          <a:graphic>
            <a:graphicData uri="http://schemas.openxmlformats.org/drawingml/2006/table">
              <a:tbl>
                <a:tblPr firstRow="1">
                  <a:tableStyleId>{5C22544A-7EE6-4342-B048-85BDC9FD1C3A}</a:tableStyleId>
                </a:tblPr>
                <a:tblGrid>
                  <a:gridCol w="11811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61950">
                  <a:tc>
                    <a:txBody>
                      <a:bodyPr/>
                      <a:lstStyle/>
                      <a:p>
                        <a:r>
                          <a:rPr lang="en" sz="1650" b="1">
                            <a:solidFill>
                              <a:srgbClr val="F5F7FB"/>
                            </a:solidFill>
                            <a:latin typeface="Segoe UI"/>
                            <a:ea typeface="Microsoft YaHei"/>
                            <a:cs typeface="Segoe UI"/>
                          </a:rPr>
                          <a:t>Horizon</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Naive-last</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LightGBM</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extLst>
                    <a:ext uri="{0D108BD9-81ED-4DB2-BD59-A6C34878D82A}">
                      <a16:rowId xmlns:a16="http://schemas.microsoft.com/office/drawing/2014/main" val="10000"/>
                    </a:ext>
                  </a:extLst>
                </a:tr>
                <a:tr h="342900">
                  <a:tc>
                    <a:txBody>
                      <a:bodyPr/>
                      <a:lstStyle/>
                      <a:p>
                        <a:r>
                          <a:rPr lang="en" sz="1650" b="1">
                            <a:solidFill>
                              <a:schemeClr val="dk1"/>
                            </a:solidFill>
                            <a:latin typeface="Segoe UI"/>
                            <a:ea typeface="Microsoft YaHei"/>
                            <a:cs typeface="Segoe UI"/>
                          </a:rPr>
                          <a:t>Month 1</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9,647</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12,805</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1"/>
                    </a:ext>
                  </a:extLst>
                </a:tr>
                <a:tr h="342900">
                  <a:tc>
                    <a:txBody>
                      <a:bodyPr/>
                      <a:lstStyle/>
                      <a:p>
                        <a:r>
                          <a:rPr lang="en" sz="1650" b="1">
                            <a:solidFill>
                              <a:schemeClr val="dk1"/>
                            </a:solidFill>
                            <a:latin typeface="Segoe UI"/>
                            <a:ea typeface="Microsoft YaHei"/>
                            <a:cs typeface="Segoe UI"/>
                          </a:rPr>
                          <a:t>Month 2</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12,366</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16,279</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2"/>
                    </a:ext>
                  </a:extLst>
                </a:tr>
                <a:tr h="342900">
                  <a:tc>
                    <a:txBody>
                      <a:bodyPr/>
                      <a:lstStyle/>
                      <a:p>
                        <a:r>
                          <a:rPr lang="en" sz="1650" b="1">
                            <a:solidFill>
                              <a:schemeClr val="dk1"/>
                            </a:solidFill>
                            <a:latin typeface="Segoe UI"/>
                            <a:ea typeface="Microsoft YaHei"/>
                            <a:cs typeface="Segoe UI"/>
                          </a:rPr>
                          <a:t>Month 3</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15,511</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20,730</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3"/>
                    </a:ext>
                  </a:extLst>
                </a:tr>
                <a:tr h="342900">
                  <a:tc>
                    <a:txBody>
                      <a:bodyPr/>
                      <a:lstStyle/>
                      <a:p>
                        <a:r>
                          <a:rPr lang="en" sz="1650" b="1">
                            <a:solidFill>
                              <a:schemeClr val="dk1"/>
                            </a:solidFill>
                            <a:latin typeface="Segoe UI"/>
                            <a:ea typeface="Microsoft YaHei"/>
                            <a:cs typeface="Segoe UI"/>
                          </a:rPr>
                          <a:t>Month 4</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1">
                            <a:solidFill>
                              <a:schemeClr val="dk1"/>
                            </a:solidFill>
                            <a:latin typeface="Segoe UI"/>
                            <a:ea typeface="Microsoft YaHei"/>
                            <a:cs typeface="Segoe UI"/>
                          </a:rPr>
                          <a:t>16,134</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3">
                          <a:alpha val="16000"/>
                        </a:schemeClr>
                      </a:solidFill>
                    </a:tcPr>
                  </a:tc>
                  <a:tc>
                    <a:txBody>
                      <a:bodyPr/>
                      <a:lstStyle/>
                      <a:p>
                        <a:pPr algn="r"/>
                        <a:r>
                          <a:rPr lang="en" sz="1650" b="0">
                            <a:solidFill>
                              <a:schemeClr val="dk1"/>
                            </a:solidFill>
                            <a:latin typeface="Segoe UI"/>
                            <a:ea typeface="Microsoft YaHei"/>
                            <a:cs typeface="Segoe UI"/>
                          </a:rPr>
                          <a:t>20,334</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4"/>
                    </a:ext>
                  </a:extLst>
                </a:tr>
              </a:tbl>
            </a:graphicData>
          </a:graphic>
        </p:graphicFrame>
        <p:sp>
          <p:nvSpPr>
            <p:cNvPr id="14" name="TextBox 14"/>
            <p:cNvSpPr txBox="1"/>
            <p:nvPr/>
          </p:nvSpPr>
          <p:spPr>
            <a:xfrm>
              <a:off x="7878318" y="3968750"/>
              <a:ext cx="288734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Segoe UI"/>
                  <a:ea typeface="Segoe UI"/>
                  <a:cs typeface="Segoe UI"/>
                </a:rPr>
                <a:t>Naive-last wins every horizon</a:t>
              </a:r>
            </a:p>
          </p:txBody>
        </p:sp>
      </p:grpSp>
      <p:grpSp>
        <p:nvGrpSpPr>
          <p:cNvPr id="18" name="accuracy-lag"/>
          <p:cNvGrpSpPr/>
          <p:nvPr/>
        </p:nvGrpSpPr>
        <p:grpSpPr>
          <a:xfrm>
            <a:off x="7879080" y="4356100"/>
            <a:ext cx="3779520" cy="1930400"/>
            <a:chOff x="7879080" y="4356100"/>
            <a:chExt cx="3779520" cy="1930400"/>
          </a:xfrm>
        </p:grpSpPr>
        <p:sp>
          <p:nvSpPr>
            <p:cNvPr id="16" name="TextBox 16"/>
            <p:cNvSpPr txBox="1"/>
            <p:nvPr/>
          </p:nvSpPr>
          <p:spPr>
            <a:xfrm>
              <a:off x="7879080" y="4356100"/>
              <a:ext cx="3727704"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LAG TEST · SAME MODEL CHOICE</a:t>
              </a:r>
            </a:p>
          </p:txBody>
        </p:sp>
        <p:graphicFrame>
          <p:nvGraphicFramePr>
            <p:cNvPr id="17" name="lag-test"/>
            <p:cNvGraphicFramePr>
              <a:graphicFrameLocks noGrp="1"/>
            </p:cNvGraphicFramePr>
            <p:nvPr/>
          </p:nvGraphicFramePr>
          <p:xfrm>
            <a:off x="7886700" y="4648200"/>
            <a:ext cx="3771900" cy="1638300"/>
          </p:xfrm>
          <a:graphic>
            <a:graphicData uri="http://schemas.openxmlformats.org/drawingml/2006/table">
              <a:tbl>
                <a:tblPr firstRow="1">
                  <a:tableStyleId>{5C22544A-7EE6-4342-B048-85BDC9FD1C3A}</a:tableStyleId>
                </a:tblPr>
                <a:tblGrid>
                  <a:gridCol w="11049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42900">
                  <a:tc>
                    <a:txBody>
                      <a:bodyPr/>
                      <a:lstStyle/>
                      <a:p>
                        <a:r>
                          <a:rPr lang="en" sz="1650" b="1">
                            <a:solidFill>
                              <a:srgbClr val="F5F7FB"/>
                            </a:solidFill>
                            <a:latin typeface="Segoe UI"/>
                            <a:ea typeface="Microsoft YaHei"/>
                            <a:cs typeface="Segoe UI"/>
                          </a:rPr>
                          <a:t>Horizon</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Lag 3</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 sz="1650" b="1">
                            <a:solidFill>
                              <a:srgbClr val="F5F7FB"/>
                            </a:solidFill>
                            <a:latin typeface="Segoe UI"/>
                            <a:ea typeface="Microsoft YaHei"/>
                            <a:cs typeface="Segoe UI"/>
                          </a:rPr>
                          <a:t>Lag 4 (used)</a:t>
                        </a:r>
                      </a:p>
                    </a:txBody>
                    <a:tcPr marL="95250" marR="9525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extLst>
                    <a:ext uri="{0D108BD9-81ED-4DB2-BD59-A6C34878D82A}">
                      <a16:rowId xmlns:a16="http://schemas.microsoft.com/office/drawing/2014/main" val="10000"/>
                    </a:ext>
                  </a:extLst>
                </a:tr>
                <a:tr h="323850">
                  <a:tc>
                    <a:txBody>
                      <a:bodyPr/>
                      <a:lstStyle/>
                      <a:p>
                        <a:r>
                          <a:rPr lang="en" sz="1650" b="1">
                            <a:solidFill>
                              <a:schemeClr val="dk1"/>
                            </a:solidFill>
                            <a:latin typeface="Segoe UI"/>
                            <a:ea typeface="Microsoft YaHei"/>
                            <a:cs typeface="Segoe UI"/>
                          </a:rPr>
                          <a:t>Month 1</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12,611</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11,817</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1"/>
                    </a:ext>
                  </a:extLst>
                </a:tr>
                <a:tr h="323850">
                  <a:tc>
                    <a:txBody>
                      <a:bodyPr/>
                      <a:lstStyle/>
                      <a:p>
                        <a:r>
                          <a:rPr lang="en" sz="1650" b="1">
                            <a:solidFill>
                              <a:schemeClr val="dk1"/>
                            </a:solidFill>
                            <a:latin typeface="Segoe UI"/>
                            <a:ea typeface="Microsoft YaHei"/>
                            <a:cs typeface="Segoe UI"/>
                          </a:rPr>
                          <a:t>Month 2</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10,762</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9,571</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2"/>
                    </a:ext>
                  </a:extLst>
                </a:tr>
                <a:tr h="323850">
                  <a:tc>
                    <a:txBody>
                      <a:bodyPr/>
                      <a:lstStyle/>
                      <a:p>
                        <a:r>
                          <a:rPr lang="en" sz="1650" b="1">
                            <a:solidFill>
                              <a:schemeClr val="dk1"/>
                            </a:solidFill>
                            <a:latin typeface="Segoe UI"/>
                            <a:ea typeface="Microsoft YaHei"/>
                            <a:cs typeface="Segoe UI"/>
                          </a:rPr>
                          <a:t>Month 3</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20,835</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21,504</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3"/>
                    </a:ext>
                  </a:extLst>
                </a:tr>
                <a:tr h="323850">
                  <a:tc>
                    <a:txBody>
                      <a:bodyPr/>
                      <a:lstStyle/>
                      <a:p>
                        <a:r>
                          <a:rPr lang="en" sz="1650" b="1">
                            <a:solidFill>
                              <a:schemeClr val="dk1"/>
                            </a:solidFill>
                            <a:latin typeface="Segoe UI"/>
                            <a:ea typeface="Microsoft YaHei"/>
                            <a:cs typeface="Segoe UI"/>
                          </a:rPr>
                          <a:t>Month 4</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20,509</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 sz="1650" b="0">
                            <a:solidFill>
                              <a:schemeClr val="dk1"/>
                            </a:solidFill>
                            <a:latin typeface="Segoe UI"/>
                            <a:ea typeface="Microsoft YaHei"/>
                            <a:cs typeface="Segoe UI"/>
                          </a:rPr>
                          <a:t>20,983</a:t>
                        </a:r>
                      </a:p>
                    </a:txBody>
                    <a:tcPr marL="95250" marR="95250" marT="15240" marB="1524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4"/>
                    </a:ext>
                  </a:extLst>
                </a:tr>
              </a:tbl>
            </a:graphicData>
          </a:graphic>
        </p:graphicFrame>
      </p:grpSp>
      <p:grpSp>
        <p:nvGrpSpPr>
          <p:cNvPr id="21" name="qa-index-link"/>
          <p:cNvGrpSpPr/>
          <p:nvPr/>
        </p:nvGrpSpPr>
        <p:grpSpPr>
          <a:xfrm>
            <a:off x="533400" y="5829300"/>
            <a:ext cx="1771650" cy="386207"/>
            <a:chOff x="533400" y="5829300"/>
            <a:chExt cx="1771650" cy="386207"/>
          </a:xfrm>
        </p:grpSpPr>
        <p:sp>
          <p:nvSpPr>
            <p:cNvPr id="19" name="Rectangle 19">
              <a:hlinkClick r:id="rId4" action="ppaction://hlinksldjump"/>
            </p:cNvPr>
            <p:cNvSpPr/>
            <p:nvPr/>
          </p:nvSpPr>
          <p:spPr>
            <a:xfrm>
              <a:off x="533400" y="5829300"/>
              <a:ext cx="17716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20" name="TextBox 20">
              <a:hlinkClick r:id="rId4" action="ppaction://hlinksldjump"/>
            </p:cNvPr>
            <p:cNvSpPr txBox="1"/>
            <p:nvPr/>
          </p:nvSpPr>
          <p:spPr>
            <a:xfrm>
              <a:off x="790126" y="5892800"/>
              <a:ext cx="12581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Q&amp;A index</a:t>
              </a:r>
            </a:p>
          </p:txBody>
        </p:sp>
      </p:grpSp>
      <p:grpSp>
        <p:nvGrpSpPr>
          <p:cNvPr id="25" name="radar-mark"/>
          <p:cNvGrpSpPr/>
          <p:nvPr/>
        </p:nvGrpSpPr>
        <p:grpSpPr>
          <a:xfrm>
            <a:off x="11430000" y="6096000"/>
            <a:ext cx="1524000" cy="1524000"/>
            <a:chOff x="11430000" y="6096000"/>
            <a:chExt cx="1524000" cy="1524000"/>
          </a:xfrm>
        </p:grpSpPr>
        <p:sp>
          <p:nvSpPr>
            <p:cNvPr id="22" name="Freeform 22"/>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23" name="Freeform 23"/>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24" name="Freeform 24"/>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26" name="TextBox 26"/>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4-banner-photo"/>
          <p:cNvPicPr>
            <a:picLocks noChangeAspect="1"/>
          </p:cNvPicPr>
          <p:nvPr/>
        </p:nvPicPr>
        <p:blipFill>
          <a:blip r:embed="rId3"/>
          <a:srcRect l="10526" r="10527"/>
          <a:stretch>
            <a:fillRect/>
          </a:stretch>
        </p:blipFill>
        <p:spPr>
          <a:xfrm>
            <a:off x="6477000" y="0"/>
            <a:ext cx="5715000" cy="1676400"/>
          </a:xfrm>
          <a:prstGeom prst="rect">
            <a:avLst/>
          </a:prstGeom>
        </p:spPr>
      </p:pic>
      <p:sp>
        <p:nvSpPr>
          <p:cNvPr id="3" name="p14-banner-fade"/>
          <p:cNvSpPr/>
          <p:nvPr/>
        </p:nvSpPr>
        <p:spPr>
          <a:xfrm>
            <a:off x="6477000" y="0"/>
            <a:ext cx="3429000" cy="1676400"/>
          </a:xfrm>
          <a:prstGeom prst="rect">
            <a:avLst/>
          </a:prstGeom>
          <a:gradFill>
            <a:gsLst>
              <a:gs pos="0">
                <a:schemeClr val="lt1"/>
              </a:gs>
              <a:gs pos="55000">
                <a:schemeClr val="lt1">
                  <a:alpha val="88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4360" y="234950"/>
            <a:ext cx="6602730" cy="1355090"/>
            <a:chOff x="594360" y="234950"/>
            <a:chExt cx="6602730" cy="1355090"/>
          </a:xfrm>
        </p:grpSpPr>
        <p:sp>
          <p:nvSpPr>
            <p:cNvPr id="4" name="TextBox 4"/>
            <p:cNvSpPr txBox="1"/>
            <p:nvPr/>
          </p:nvSpPr>
          <p:spPr>
            <a:xfrm>
              <a:off x="601218" y="234950"/>
              <a:ext cx="2755240"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BACKUP B · MARKETS</a:t>
              </a:r>
            </a:p>
          </p:txBody>
        </p:sp>
        <p:sp>
          <p:nvSpPr>
            <p:cNvPr id="5" name="TextBox 5"/>
            <p:cNvSpPr txBox="1"/>
            <p:nvPr/>
          </p:nvSpPr>
          <p:spPr>
            <a:xfrm>
              <a:off x="594360" y="546100"/>
              <a:ext cx="6602730" cy="1043940"/>
            </a:xfrm>
            <a:prstGeom prst="rect">
              <a:avLst/>
            </a:prstGeom>
            <a:noFill/>
            <a:ln>
              <a:noFill/>
            </a:ln>
          </p:spPr>
          <p:txBody>
            <a:bodyPr wrap="none" lIns="0" tIns="0" rIns="0" bIns="0" anchor="t" anchorCtr="0">
              <a:spAutoFit/>
            </a:bodyPr>
            <a:lstStyle/>
            <a:p>
              <a:pPr algn="l">
                <a:lnSpc>
                  <a:spcPts val="3600"/>
                </a:lnSpc>
              </a:pPr>
              <a:r>
                <a:rPr lang="en" sz="3000" dirty="0">
                  <a:solidFill>
                    <a:schemeClr val="dk1"/>
                  </a:solidFill>
                  <a:latin typeface="+mj-lt"/>
                  <a:ea typeface="+mj-ea"/>
                  <a:cs typeface="+mj-cs"/>
                </a:rPr>
                <a:t>16 of 20 markets slope down;</a:t>
              </a:r>
              <a:br>
                <a:rPr lang="en" sz="3000" dirty="0">
                  <a:solidFill>
                    <a:schemeClr val="dk1"/>
                  </a:solidFill>
                  <a:latin typeface="+mj-lt"/>
                  <a:ea typeface="+mj-ea"/>
                  <a:cs typeface="+mj-cs"/>
                </a:rPr>
              </a:br>
              <a:r>
                <a:rPr lang="en" sz="3000" dirty="0">
                  <a:solidFill>
                    <a:schemeClr val="dk1"/>
                  </a:solidFill>
                  <a:latin typeface="+mj-lt"/>
                  <a:ea typeface="+mj-ea"/>
                  <a:cs typeface="+mj-cs"/>
                </a:rPr>
                <a:t>the forecast leans on past arrivals</a:t>
              </a:r>
            </a:p>
          </p:txBody>
        </p:sp>
      </p:grpSp>
      <p:grpSp>
        <p:nvGrpSpPr>
          <p:cNvPr id="11" name="slopes-panel"/>
          <p:cNvGrpSpPr/>
          <p:nvPr/>
        </p:nvGrpSpPr>
        <p:grpSpPr>
          <a:xfrm>
            <a:off x="525018" y="1606550"/>
            <a:ext cx="7018782" cy="4927600"/>
            <a:chOff x="525018" y="1606550"/>
            <a:chExt cx="7018782" cy="4927600"/>
          </a:xfrm>
        </p:grpSpPr>
        <p:sp>
          <p:nvSpPr>
            <p:cNvPr id="7" name="TextBox 7"/>
            <p:cNvSpPr txBox="1"/>
            <p:nvPr/>
          </p:nvSpPr>
          <p:spPr>
            <a:xfrm>
              <a:off x="525018" y="1606550"/>
              <a:ext cx="579881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Segoe UI"/>
                  <a:ea typeface="Segoe UI"/>
                  <a:cs typeface="Segoe UI"/>
                </a:rPr>
                <a:t>Arrivals per +1 SD of GPR Global · Ridge, USA as reference</a:t>
              </a:r>
            </a:p>
          </p:txBody>
        </p:sp>
        <p:grpSp>
          <p:nvGrpSpPr>
            <p:cNvPr id="10" name="gpr-slope-by-market"/>
            <p:cNvGrpSpPr/>
            <p:nvPr/>
          </p:nvGrpSpPr>
          <p:grpSpPr>
            <a:xfrm>
              <a:off x="533400" y="1831658"/>
              <a:ext cx="7010400" cy="4702492"/>
              <a:chOff x="533400" y="1831658"/>
              <a:chExt cx="7010400" cy="4702492"/>
            </a:xfrm>
          </p:grpSpPr>
          <p:graphicFrame>
            <p:nvGraphicFramePr>
              <p:cNvPr id="8" name="gpr-slope-by-market"/>
              <p:cNvGraphicFramePr>
                <a:graphicFrameLocks noGrp="1"/>
              </p:cNvGraphicFramePr>
              <p:nvPr/>
            </p:nvGraphicFramePr>
            <p:xfrm>
              <a:off x="533400" y="1905000"/>
              <a:ext cx="7010400" cy="4629150"/>
            </p:xfrm>
            <a:graphic>
              <a:graphicData uri="http://schemas.openxmlformats.org/drawingml/2006/chart">
                <c:chart xmlns:c="http://schemas.openxmlformats.org/drawingml/2006/chart" xmlns:r="http://schemas.openxmlformats.org/officeDocument/2006/relationships" r:id="rId4"/>
              </a:graphicData>
            </a:graphic>
          </p:graphicFrame>
          <p:sp>
            <p:nvSpPr>
              <p:cNvPr id="9" name="Chart Note 9"/>
              <p:cNvSpPr txBox="1"/>
              <p:nvPr/>
            </p:nvSpPr>
            <p:spPr>
              <a:xfrm>
                <a:off x="6305550" y="1831658"/>
                <a:ext cx="952500" cy="335280"/>
              </a:xfrm>
              <a:prstGeom prst="rect">
                <a:avLst/>
              </a:prstGeom>
              <a:noFill/>
              <a:ln>
                <a:noFill/>
              </a:ln>
            </p:spPr>
            <p:txBody>
              <a:bodyPr wrap="square" lIns="0" tIns="0" rIns="0" bIns="0" anchor="b" anchorCtr="0"/>
              <a:lstStyle/>
              <a:p>
                <a:pPr algn="l"/>
                <a:r>
                  <a:rPr lang="en" sz="1650" b="1">
                    <a:solidFill>
                      <a:srgbClr val="13203F"/>
                    </a:solidFill>
                    <a:latin typeface="Segoe UI"/>
                    <a:ea typeface="Microsoft YaHei"/>
                    <a:cs typeface="Segoe UI"/>
                  </a:rPr>
                  <a:t>38,626 ▸</a:t>
                </a:r>
              </a:p>
            </p:txBody>
          </p:sp>
        </p:grpSp>
      </p:grpSp>
      <p:grpSp>
        <p:nvGrpSpPr>
          <p:cNvPr id="33" name="importance-panel"/>
          <p:cNvGrpSpPr/>
          <p:nvPr/>
        </p:nvGrpSpPr>
        <p:grpSpPr>
          <a:xfrm>
            <a:off x="7650480" y="1784350"/>
            <a:ext cx="3913779" cy="2264219"/>
            <a:chOff x="7650480" y="1784350"/>
            <a:chExt cx="3913779" cy="2264219"/>
          </a:xfrm>
        </p:grpSpPr>
        <p:sp>
          <p:nvSpPr>
            <p:cNvPr id="12" name="TextBox 12"/>
            <p:cNvSpPr txBox="1"/>
            <p:nvPr/>
          </p:nvSpPr>
          <p:spPr>
            <a:xfrm>
              <a:off x="7650480" y="1784350"/>
              <a:ext cx="3631692"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LIGHTGBM SPLIT COUNT · TOP 6</a:t>
              </a:r>
            </a:p>
          </p:txBody>
        </p:sp>
        <p:grpSp>
          <p:nvGrpSpPr>
            <p:cNvPr id="32" name="feature-importance-chartArea"/>
            <p:cNvGrpSpPr/>
            <p:nvPr/>
          </p:nvGrpSpPr>
          <p:grpSpPr>
            <a:xfrm>
              <a:off x="7923575" y="2076450"/>
              <a:ext cx="3640684" cy="1972119"/>
              <a:chOff x="7923575" y="2076450"/>
              <a:chExt cx="3640684" cy="1972119"/>
            </a:xfrm>
          </p:grpSpPr>
          <p:sp>
            <p:nvSpPr>
              <p:cNvPr id="13" name="Line 13"/>
              <p:cNvSpPr/>
              <p:nvPr/>
            </p:nvSpPr>
            <p:spPr>
              <a:xfrm>
                <a:off x="10134600" y="2076450"/>
                <a:ext cx="9525" cy="1943100"/>
              </a:xfrm>
              <a:custGeom>
                <a:avLst/>
                <a:gdLst/>
                <a:ahLst/>
                <a:cxnLst/>
                <a:rect l="l" t="t" r="r" b="b"/>
                <a:pathLst>
                  <a:path w="9525" h="1943100">
                    <a:moveTo>
                      <a:pt x="0" y="0"/>
                    </a:moveTo>
                    <a:lnTo>
                      <a:pt x="0" y="1943100"/>
                    </a:lnTo>
                  </a:path>
                </a:pathLst>
              </a:custGeom>
              <a:noFill/>
              <a:ln w="9525">
                <a:solidFill>
                  <a:srgbClr val="8A94AB"/>
                </a:solidFill>
              </a:ln>
            </p:spPr>
            <p:txBody>
              <a:bodyPr/>
              <a:lstStyle/>
              <a:p>
                <a:endParaRPr lang="en-US"/>
              </a:p>
            </p:txBody>
          </p:sp>
          <p:sp>
            <p:nvSpPr>
              <p:cNvPr id="14" name="TextBox 14"/>
              <p:cNvSpPr txBox="1"/>
              <p:nvPr/>
            </p:nvSpPr>
            <p:spPr>
              <a:xfrm>
                <a:off x="8625939" y="2106612"/>
                <a:ext cx="1440843"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Recent arrivals</a:t>
                </a:r>
              </a:p>
            </p:txBody>
          </p:sp>
          <p:sp>
            <p:nvSpPr>
              <p:cNvPr id="15" name="Rectangle 15"/>
              <p:cNvSpPr/>
              <p:nvPr/>
            </p:nvSpPr>
            <p:spPr>
              <a:xfrm>
                <a:off x="10134600" y="2152650"/>
                <a:ext cx="1004888" cy="171450"/>
              </a:xfrm>
              <a:prstGeom prst="rect">
                <a:avLst/>
              </a:prstGeom>
              <a:solidFill>
                <a:srgbClr val="8A94AB"/>
              </a:solidFill>
              <a:ln>
                <a:noFill/>
              </a:ln>
            </p:spPr>
            <p:txBody>
              <a:bodyPr/>
              <a:lstStyle/>
              <a:p>
                <a:endParaRPr lang="en-US"/>
              </a:p>
            </p:txBody>
          </p:sp>
          <p:sp>
            <p:nvSpPr>
              <p:cNvPr id="16" name="TextBox 16"/>
              <p:cNvSpPr txBox="1"/>
              <p:nvPr/>
            </p:nvSpPr>
            <p:spPr>
              <a:xfrm>
                <a:off x="11188255" y="210661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471</a:t>
                </a:r>
              </a:p>
            </p:txBody>
          </p:sp>
          <p:sp>
            <p:nvSpPr>
              <p:cNvPr id="17" name="TextBox 17"/>
              <p:cNvSpPr txBox="1"/>
              <p:nvPr/>
            </p:nvSpPr>
            <p:spPr>
              <a:xfrm>
                <a:off x="7923575" y="2430462"/>
                <a:ext cx="2143207"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Same month last year</a:t>
                </a:r>
              </a:p>
            </p:txBody>
          </p:sp>
          <p:sp>
            <p:nvSpPr>
              <p:cNvPr id="18" name="Rectangle 18"/>
              <p:cNvSpPr/>
              <p:nvPr/>
            </p:nvSpPr>
            <p:spPr>
              <a:xfrm>
                <a:off x="10134600" y="2476500"/>
                <a:ext cx="810578" cy="171450"/>
              </a:xfrm>
              <a:prstGeom prst="rect">
                <a:avLst/>
              </a:prstGeom>
              <a:solidFill>
                <a:srgbClr val="8A94AB"/>
              </a:solidFill>
              <a:ln>
                <a:noFill/>
              </a:ln>
            </p:spPr>
            <p:txBody>
              <a:bodyPr/>
              <a:lstStyle/>
              <a:p>
                <a:endParaRPr lang="en-US"/>
              </a:p>
            </p:txBody>
          </p:sp>
          <p:sp>
            <p:nvSpPr>
              <p:cNvPr id="19" name="TextBox 19"/>
              <p:cNvSpPr txBox="1"/>
              <p:nvPr/>
            </p:nvSpPr>
            <p:spPr>
              <a:xfrm>
                <a:off x="10993945" y="243046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380</a:t>
                </a:r>
              </a:p>
            </p:txBody>
          </p:sp>
          <p:sp>
            <p:nvSpPr>
              <p:cNvPr id="20" name="TextBox 20"/>
              <p:cNvSpPr txBox="1"/>
              <p:nvPr/>
            </p:nvSpPr>
            <p:spPr>
              <a:xfrm>
                <a:off x="8908522" y="2754312"/>
                <a:ext cx="1158260"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Brent crude</a:t>
                </a:r>
              </a:p>
            </p:txBody>
          </p:sp>
          <p:sp>
            <p:nvSpPr>
              <p:cNvPr id="21" name="Rectangle 21"/>
              <p:cNvSpPr/>
              <p:nvPr/>
            </p:nvSpPr>
            <p:spPr>
              <a:xfrm>
                <a:off x="10134600" y="2800350"/>
                <a:ext cx="603885" cy="171450"/>
              </a:xfrm>
              <a:prstGeom prst="rect">
                <a:avLst/>
              </a:prstGeom>
              <a:solidFill>
                <a:srgbClr val="8A94AB"/>
              </a:solidFill>
              <a:ln>
                <a:noFill/>
              </a:ln>
            </p:spPr>
            <p:txBody>
              <a:bodyPr/>
              <a:lstStyle/>
              <a:p>
                <a:endParaRPr lang="en-US"/>
              </a:p>
            </p:txBody>
          </p:sp>
          <p:sp>
            <p:nvSpPr>
              <p:cNvPr id="22" name="TextBox 22"/>
              <p:cNvSpPr txBox="1"/>
              <p:nvPr/>
            </p:nvSpPr>
            <p:spPr>
              <a:xfrm>
                <a:off x="10787253" y="275431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283</a:t>
                </a:r>
              </a:p>
            </p:txBody>
          </p:sp>
          <p:sp>
            <p:nvSpPr>
              <p:cNvPr id="23" name="TextBox 23"/>
              <p:cNvSpPr txBox="1"/>
              <p:nvPr/>
            </p:nvSpPr>
            <p:spPr>
              <a:xfrm>
                <a:off x="9264666" y="3078162"/>
                <a:ext cx="802116"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Country</a:t>
                </a:r>
              </a:p>
            </p:txBody>
          </p:sp>
          <p:sp>
            <p:nvSpPr>
              <p:cNvPr id="24" name="Rectangle 24"/>
              <p:cNvSpPr/>
              <p:nvPr/>
            </p:nvSpPr>
            <p:spPr>
              <a:xfrm>
                <a:off x="10134600" y="3124200"/>
                <a:ext cx="535305" cy="171450"/>
              </a:xfrm>
              <a:prstGeom prst="rect">
                <a:avLst/>
              </a:prstGeom>
              <a:solidFill>
                <a:srgbClr val="8A94AB"/>
              </a:solidFill>
              <a:ln>
                <a:noFill/>
              </a:ln>
            </p:spPr>
            <p:txBody>
              <a:bodyPr/>
              <a:lstStyle/>
              <a:p>
                <a:endParaRPr lang="en-US"/>
              </a:p>
            </p:txBody>
          </p:sp>
          <p:sp>
            <p:nvSpPr>
              <p:cNvPr id="25" name="TextBox 25"/>
              <p:cNvSpPr txBox="1"/>
              <p:nvPr/>
            </p:nvSpPr>
            <p:spPr>
              <a:xfrm>
                <a:off x="10718673" y="307816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251</a:t>
                </a:r>
              </a:p>
            </p:txBody>
          </p:sp>
          <p:sp>
            <p:nvSpPr>
              <p:cNvPr id="26" name="TextBox 26"/>
              <p:cNvSpPr txBox="1"/>
              <p:nvPr/>
            </p:nvSpPr>
            <p:spPr>
              <a:xfrm>
                <a:off x="8890574" y="3402012"/>
                <a:ext cx="1176208"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RON97 fuel</a:t>
                </a:r>
              </a:p>
            </p:txBody>
          </p:sp>
          <p:sp>
            <p:nvSpPr>
              <p:cNvPr id="27" name="Rectangle 27"/>
              <p:cNvSpPr/>
              <p:nvPr/>
            </p:nvSpPr>
            <p:spPr>
              <a:xfrm>
                <a:off x="10134600" y="3448050"/>
                <a:ext cx="416242" cy="171450"/>
              </a:xfrm>
              <a:prstGeom prst="rect">
                <a:avLst/>
              </a:prstGeom>
              <a:solidFill>
                <a:srgbClr val="8A94AB"/>
              </a:solidFill>
              <a:ln>
                <a:noFill/>
              </a:ln>
            </p:spPr>
            <p:txBody>
              <a:bodyPr/>
              <a:lstStyle/>
              <a:p>
                <a:endParaRPr lang="en-US"/>
              </a:p>
            </p:txBody>
          </p:sp>
          <p:sp>
            <p:nvSpPr>
              <p:cNvPr id="28" name="TextBox 28"/>
              <p:cNvSpPr txBox="1"/>
              <p:nvPr/>
            </p:nvSpPr>
            <p:spPr>
              <a:xfrm>
                <a:off x="10599610" y="340201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195</a:t>
                </a:r>
              </a:p>
            </p:txBody>
          </p:sp>
          <p:sp>
            <p:nvSpPr>
              <p:cNvPr id="29" name="TextBox 29"/>
              <p:cNvSpPr txBox="1"/>
              <p:nvPr/>
            </p:nvSpPr>
            <p:spPr>
              <a:xfrm>
                <a:off x="8918044" y="3725862"/>
                <a:ext cx="1148738" cy="322707"/>
              </a:xfrm>
              <a:prstGeom prst="rect">
                <a:avLst/>
              </a:prstGeom>
              <a:noFill/>
              <a:ln>
                <a:noFill/>
              </a:ln>
            </p:spPr>
            <p:txBody>
              <a:bodyPr wrap="none" lIns="0" tIns="0" rIns="0" bIns="0" anchor="t" anchorCtr="0">
                <a:spAutoFit/>
              </a:bodyPr>
              <a:lstStyle/>
              <a:p>
                <a:pPr algn="r"/>
                <a:r>
                  <a:rPr lang="en" sz="1650" dirty="0">
                    <a:solidFill>
                      <a:schemeClr val="dk1"/>
                    </a:solidFill>
                    <a:latin typeface="Segoe UI"/>
                    <a:ea typeface="Segoe UI"/>
                    <a:cs typeface="Segoe UI"/>
                  </a:rPr>
                  <a:t>GPR Global</a:t>
                </a:r>
              </a:p>
            </p:txBody>
          </p:sp>
          <p:sp>
            <p:nvSpPr>
              <p:cNvPr id="30" name="Rectangle 30"/>
              <p:cNvSpPr/>
              <p:nvPr/>
            </p:nvSpPr>
            <p:spPr>
              <a:xfrm>
                <a:off x="10134600" y="3771900"/>
                <a:ext cx="409575" cy="171450"/>
              </a:xfrm>
              <a:prstGeom prst="rect">
                <a:avLst/>
              </a:prstGeom>
              <a:solidFill>
                <a:schemeClr val="accent3"/>
              </a:solidFill>
              <a:ln>
                <a:noFill/>
              </a:ln>
            </p:spPr>
            <p:txBody>
              <a:bodyPr/>
              <a:lstStyle/>
              <a:p>
                <a:endParaRPr lang="en-US"/>
              </a:p>
            </p:txBody>
          </p:sp>
          <p:sp>
            <p:nvSpPr>
              <p:cNvPr id="31" name="TextBox 31"/>
              <p:cNvSpPr txBox="1"/>
              <p:nvPr/>
            </p:nvSpPr>
            <p:spPr>
              <a:xfrm>
                <a:off x="10592943" y="3725862"/>
                <a:ext cx="376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a:ea typeface="Segoe UI"/>
                    <a:cs typeface="Segoe UI"/>
                  </a:rPr>
                  <a:t>192</a:t>
                </a:r>
              </a:p>
            </p:txBody>
          </p:sp>
        </p:grpSp>
      </p:grpSp>
      <p:grpSp>
        <p:nvGrpSpPr>
          <p:cNvPr id="37" name="caveats"/>
          <p:cNvGrpSpPr/>
          <p:nvPr/>
        </p:nvGrpSpPr>
        <p:grpSpPr>
          <a:xfrm>
            <a:off x="7658100" y="4210050"/>
            <a:ext cx="4000500" cy="1562100"/>
            <a:chOff x="7658100" y="4210050"/>
            <a:chExt cx="4000500" cy="1562100"/>
          </a:xfrm>
        </p:grpSpPr>
        <p:sp>
          <p:nvSpPr>
            <p:cNvPr id="34" name="Rectangle 34"/>
            <p:cNvSpPr/>
            <p:nvPr/>
          </p:nvSpPr>
          <p:spPr>
            <a:xfrm>
              <a:off x="7658100" y="4210050"/>
              <a:ext cx="4000500" cy="1562100"/>
            </a:xfrm>
            <a:prstGeom prst="roundRect">
              <a:avLst>
                <a:gd name="adj" fmla="val 4878"/>
              </a:avLst>
            </a:prstGeom>
            <a:solidFill>
              <a:schemeClr val="lt2"/>
            </a:solidFill>
            <a:ln w="9525">
              <a:solidFill>
                <a:schemeClr val="accent6"/>
              </a:solidFill>
            </a:ln>
          </p:spPr>
          <p:txBody>
            <a:bodyPr/>
            <a:lstStyle/>
            <a:p>
              <a:endParaRPr lang="en-US"/>
            </a:p>
          </p:txBody>
        </p:sp>
        <p:sp>
          <p:nvSpPr>
            <p:cNvPr id="35" name="TextBox 35"/>
            <p:cNvSpPr txBox="1"/>
            <p:nvPr/>
          </p:nvSpPr>
          <p:spPr>
            <a:xfrm>
              <a:off x="7879080" y="4318000"/>
              <a:ext cx="1818132"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READ WITH CARE</a:t>
              </a:r>
            </a:p>
          </p:txBody>
        </p:sp>
        <p:sp>
          <p:nvSpPr>
            <p:cNvPr id="36" name="TextBox 36"/>
            <p:cNvSpPr txBox="1"/>
            <p:nvPr/>
          </p:nvSpPr>
          <p:spPr>
            <a:xfrm>
              <a:off x="7878318" y="4597400"/>
              <a:ext cx="2573274" cy="1122807"/>
            </a:xfrm>
            <a:prstGeom prst="rect">
              <a:avLst/>
            </a:prstGeom>
            <a:noFill/>
            <a:ln>
              <a:noFill/>
            </a:ln>
          </p:spPr>
          <p:txBody>
            <a:bodyPr wrap="none" lIns="0" tIns="0" rIns="0" bIns="0" anchor="t" anchorCtr="0">
              <a:spAutoFit/>
            </a:bodyPr>
            <a:lstStyle/>
            <a:p>
              <a:pPr algn="l">
                <a:lnSpc>
                  <a:spcPts val="2100"/>
                </a:lnSpc>
              </a:pPr>
              <a:r>
                <a:rPr lang="en" sz="1650" dirty="0">
                  <a:solidFill>
                    <a:schemeClr val="dk1"/>
                  </a:solidFill>
                  <a:latin typeface="+mn-lt"/>
                  <a:ea typeface="+mn-ea"/>
                  <a:cs typeface="+mn-cs"/>
                </a:rPr>
                <a:t>Raw correlation +0.08</a:t>
              </a:r>
              <a:br>
                <a:rPr lang="en" sz="1650" dirty="0">
                  <a:solidFill>
                    <a:schemeClr val="dk1"/>
                  </a:solidFill>
                  <a:latin typeface="+mn-lt"/>
                  <a:ea typeface="+mn-ea"/>
                  <a:cs typeface="+mn-cs"/>
                </a:rPr>
              </a:br>
              <a:r>
                <a:rPr lang="en" sz="1650" dirty="0">
                  <a:solidFill>
                    <a:schemeClr val="dk1"/>
                  </a:solidFill>
                  <a:latin typeface="+mn-lt"/>
                  <a:ea typeface="+mn-ea"/>
                  <a:cs typeface="+mn-cs"/>
                </a:rPr>
                <a:t>GPR vs time +0.54</a:t>
              </a:r>
              <a:br>
                <a:rPr lang="en" sz="1650" dirty="0">
                  <a:solidFill>
                    <a:schemeClr val="dk1"/>
                  </a:solidFill>
                  <a:latin typeface="+mn-lt"/>
                  <a:ea typeface="+mn-ea"/>
                  <a:cs typeface="+mn-cs"/>
                </a:rPr>
              </a:br>
              <a:r>
                <a:rPr lang="en" sz="1650" dirty="0">
                  <a:solidFill>
                    <a:schemeClr val="dk1"/>
                  </a:solidFill>
                  <a:latin typeface="+mn-lt"/>
                  <a:ea typeface="+mn-ea"/>
                  <a:cs typeface="+mn-cs"/>
                </a:rPr>
                <a:t>Associations, not causes</a:t>
              </a:r>
              <a:br>
                <a:rPr lang="en" sz="1650" dirty="0">
                  <a:solidFill>
                    <a:schemeClr val="dk1"/>
                  </a:solidFill>
                  <a:latin typeface="+mn-lt"/>
                  <a:ea typeface="+mn-ea"/>
                  <a:cs typeface="+mn-cs"/>
                </a:rPr>
              </a:br>
              <a:r>
                <a:rPr lang="en" sz="1650" dirty="0">
                  <a:solidFill>
                    <a:schemeClr val="dk1"/>
                  </a:solidFill>
                  <a:latin typeface="+mn-lt"/>
                  <a:ea typeface="+mn-ea"/>
                  <a:cs typeface="+mn-cs"/>
                </a:rPr>
                <a:t>SHAP is in-sample</a:t>
              </a:r>
            </a:p>
          </p:txBody>
        </p:sp>
      </p:grpSp>
      <p:grpSp>
        <p:nvGrpSpPr>
          <p:cNvPr id="40" name="qa-index-link"/>
          <p:cNvGrpSpPr/>
          <p:nvPr/>
        </p:nvGrpSpPr>
        <p:grpSpPr>
          <a:xfrm>
            <a:off x="7658100" y="5943600"/>
            <a:ext cx="1771650" cy="386207"/>
            <a:chOff x="7658100" y="5943600"/>
            <a:chExt cx="1771650" cy="386207"/>
          </a:xfrm>
        </p:grpSpPr>
        <p:sp>
          <p:nvSpPr>
            <p:cNvPr id="38" name="Rectangle 38">
              <a:hlinkClick r:id="rId5" action="ppaction://hlinksldjump"/>
            </p:cNvPr>
            <p:cNvSpPr/>
            <p:nvPr/>
          </p:nvSpPr>
          <p:spPr>
            <a:xfrm>
              <a:off x="7658100" y="5943600"/>
              <a:ext cx="17716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39" name="TextBox 39">
              <a:hlinkClick r:id="rId5" action="ppaction://hlinksldjump"/>
            </p:cNvPr>
            <p:cNvSpPr txBox="1"/>
            <p:nvPr/>
          </p:nvSpPr>
          <p:spPr>
            <a:xfrm>
              <a:off x="7914826" y="6007100"/>
              <a:ext cx="12581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Q&amp;A index</a:t>
              </a:r>
            </a:p>
          </p:txBody>
        </p:sp>
      </p:grpSp>
      <p:grpSp>
        <p:nvGrpSpPr>
          <p:cNvPr id="44" name="radar-mark"/>
          <p:cNvGrpSpPr/>
          <p:nvPr/>
        </p:nvGrpSpPr>
        <p:grpSpPr>
          <a:xfrm>
            <a:off x="11430000" y="6096000"/>
            <a:ext cx="1524000" cy="1524000"/>
            <a:chOff x="11430000" y="6096000"/>
            <a:chExt cx="1524000" cy="1524000"/>
          </a:xfrm>
        </p:grpSpPr>
        <p:sp>
          <p:nvSpPr>
            <p:cNvPr id="41" name="Freeform 41"/>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42" name="Freeform 42"/>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43" name="Freeform 43"/>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5" name="TextBox 45"/>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5-banner-photo"/>
          <p:cNvPicPr>
            <a:picLocks noChangeAspect="1"/>
          </p:cNvPicPr>
          <p:nvPr/>
        </p:nvPicPr>
        <p:blipFill>
          <a:blip r:embed="rId3"/>
          <a:srcRect l="10526" r="10527"/>
          <a:stretch>
            <a:fillRect/>
          </a:stretch>
        </p:blipFill>
        <p:spPr>
          <a:xfrm>
            <a:off x="6477000" y="0"/>
            <a:ext cx="5715000" cy="1676400"/>
          </a:xfrm>
          <a:prstGeom prst="rect">
            <a:avLst/>
          </a:prstGeom>
        </p:spPr>
      </p:pic>
      <p:sp>
        <p:nvSpPr>
          <p:cNvPr id="3" name="p15-banner-fade"/>
          <p:cNvSpPr/>
          <p:nvPr/>
        </p:nvSpPr>
        <p:spPr>
          <a:xfrm>
            <a:off x="6477000" y="0"/>
            <a:ext cx="3429000" cy="1676400"/>
          </a:xfrm>
          <a:prstGeom prst="rect">
            <a:avLst/>
          </a:prstGeom>
          <a:gradFill>
            <a:gsLst>
              <a:gs pos="0">
                <a:schemeClr val="lt1"/>
              </a:gs>
              <a:gs pos="55000">
                <a:schemeClr val="lt1">
                  <a:alpha val="88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4360" y="234950"/>
            <a:ext cx="6069330" cy="1355090"/>
            <a:chOff x="594360" y="234950"/>
            <a:chExt cx="6069330" cy="1355090"/>
          </a:xfrm>
        </p:grpSpPr>
        <p:sp>
          <p:nvSpPr>
            <p:cNvPr id="4" name="TextBox 4"/>
            <p:cNvSpPr txBox="1"/>
            <p:nvPr/>
          </p:nvSpPr>
          <p:spPr>
            <a:xfrm>
              <a:off x="601218" y="234950"/>
              <a:ext cx="3498799"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BACKUP C · DATA &amp; DESIGN</a:t>
              </a:r>
            </a:p>
          </p:txBody>
        </p:sp>
        <p:sp>
          <p:nvSpPr>
            <p:cNvPr id="5" name="TextBox 5"/>
            <p:cNvSpPr txBox="1"/>
            <p:nvPr/>
          </p:nvSpPr>
          <p:spPr>
            <a:xfrm>
              <a:off x="594360" y="546100"/>
              <a:ext cx="6069330" cy="1043940"/>
            </a:xfrm>
            <a:prstGeom prst="rect">
              <a:avLst/>
            </a:prstGeom>
            <a:noFill/>
            <a:ln>
              <a:noFill/>
            </a:ln>
          </p:spPr>
          <p:txBody>
            <a:bodyPr wrap="none" lIns="0" tIns="0" rIns="0" bIns="0" anchor="t" anchorCtr="0">
              <a:spAutoFit/>
            </a:bodyPr>
            <a:lstStyle/>
            <a:p>
              <a:pPr algn="l">
                <a:lnSpc>
                  <a:spcPts val="3600"/>
                </a:lnSpc>
              </a:pPr>
              <a:r>
                <a:rPr lang="en" sz="3000" dirty="0">
                  <a:solidFill>
                    <a:schemeClr val="dk1"/>
                  </a:solidFill>
                  <a:latin typeface="+mj-lt"/>
                  <a:ea typeface="+mj-ea"/>
                  <a:cs typeface="+mj-cs"/>
                </a:rPr>
                <a:t>Every input is dated by release;</a:t>
              </a:r>
              <a:br>
                <a:rPr lang="en" sz="3000" dirty="0">
                  <a:solidFill>
                    <a:schemeClr val="dk1"/>
                  </a:solidFill>
                  <a:latin typeface="+mj-lt"/>
                  <a:ea typeface="+mj-ea"/>
                  <a:cs typeface="+mj-cs"/>
                </a:rPr>
              </a:br>
              <a:r>
                <a:rPr lang="en" sz="3000" dirty="0">
                  <a:solidFill>
                    <a:schemeClr val="dk1"/>
                  </a:solidFill>
                  <a:latin typeface="+mj-lt"/>
                  <a:ea typeface="+mj-ea"/>
                  <a:cs typeface="+mj-cs"/>
                </a:rPr>
                <a:t>every design choice has a reason</a:t>
              </a:r>
            </a:p>
          </p:txBody>
        </p:sp>
      </p:grpSp>
      <p:grpSp>
        <p:nvGrpSpPr>
          <p:cNvPr id="8" name="data-panel"/>
          <p:cNvGrpSpPr/>
          <p:nvPr/>
        </p:nvGrpSpPr>
        <p:grpSpPr>
          <a:xfrm>
            <a:off x="533400" y="1866900"/>
            <a:ext cx="6934200" cy="3200400"/>
            <a:chOff x="533400" y="1866900"/>
            <a:chExt cx="6934200" cy="3200400"/>
          </a:xfrm>
        </p:grpSpPr>
        <p:graphicFrame>
          <p:nvGraphicFramePr>
            <p:cNvPr id="7" name="data-sources-lags"/>
            <p:cNvGraphicFramePr>
              <a:graphicFrameLocks noGrp="1"/>
            </p:cNvGraphicFramePr>
            <p:nvPr/>
          </p:nvGraphicFramePr>
          <p:xfrm>
            <a:off x="533400" y="1866900"/>
            <a:ext cx="6934200" cy="3200400"/>
          </p:xfrm>
          <a:graphic>
            <a:graphicData uri="http://schemas.openxmlformats.org/drawingml/2006/table">
              <a:tbl>
                <a:tblPr firstRow="1">
                  <a:tableStyleId>{5C22544A-7EE6-4342-B048-85BDC9FD1C3A}</a:tableStyleId>
                </a:tblPr>
                <a:tblGrid>
                  <a:gridCol w="2514600">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342900">
                  <a:tc>
                    <a:txBody>
                      <a:bodyPr/>
                      <a:lstStyle/>
                      <a:p>
                        <a:r>
                          <a:rPr lang="en" sz="1650" b="1">
                            <a:solidFill>
                              <a:srgbClr val="F5F7FB"/>
                            </a:solidFill>
                            <a:latin typeface="Segoe UI"/>
                            <a:ea typeface="Microsoft YaHei"/>
                            <a:cs typeface="Segoe UI"/>
                          </a:rPr>
                          <a:t>Source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r>
                          <a:rPr lang="en" sz="1650" b="1">
                            <a:solidFill>
                              <a:srgbClr val="F5F7FB"/>
                            </a:solidFill>
                            <a:latin typeface="Segoe UI"/>
                            <a:ea typeface="Microsoft YaHei"/>
                            <a:cs typeface="Segoe UI"/>
                          </a:rPr>
                          <a:t>Inputs</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r>
                          <a:rPr lang="en" sz="1650" b="1">
                            <a:solidFill>
                              <a:srgbClr val="F5F7FB"/>
                            </a:solidFill>
                            <a:latin typeface="Segoe UI"/>
                            <a:ea typeface="Microsoft YaHei"/>
                            <a:cs typeface="Segoe UI"/>
                          </a:rPr>
                          <a:t>Available after</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extLst>
                    <a:ext uri="{0D108BD9-81ED-4DB2-BD59-A6C34878D82A}">
                      <a16:rowId xmlns:a16="http://schemas.microsoft.com/office/drawing/2014/main" val="10000"/>
                    </a:ext>
                  </a:extLst>
                </a:tr>
                <a:tr h="609600">
                  <a:tc>
                    <a:txBody>
                      <a:bodyPr/>
                      <a:lstStyle/>
                      <a:p>
                        <a:r>
                          <a:rPr lang="en" sz="1650" b="1">
                            <a:solidFill>
                              <a:schemeClr val="dk1"/>
                            </a:solidFill>
                            <a:latin typeface="Segoe UI"/>
                            <a:ea typeface="Microsoft YaHei"/>
                            <a:cs typeface="Segoe UI"/>
                          </a:rPr>
                          <a:t>Tourism Malaysia &amp; Immigration</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arrivals by nationality</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assumed 4 months (3 tested)</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1"/>
                    </a:ext>
                  </a:extLst>
                </a:tr>
                <a:tr h="342900">
                  <a:tc>
                    <a:txBody>
                      <a:bodyPr/>
                      <a:lstStyle/>
                      <a:p>
                        <a:r>
                          <a:rPr lang="en" sz="1650" b="1">
                            <a:solidFill>
                              <a:schemeClr val="dk1"/>
                            </a:solidFill>
                            <a:latin typeface="Segoe UI"/>
                            <a:ea typeface="Microsoft YaHei"/>
                            <a:cs typeface="Segoe UI"/>
                          </a:rPr>
                          <a:t>Caldara &amp; Iacoviello</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GPR Global, Malaysia</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≈1 month</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2"/>
                    </a:ext>
                  </a:extLst>
                </a:tr>
                <a:tr h="342900">
                  <a:tc>
                    <a:txBody>
                      <a:bodyPr/>
                      <a:lstStyle/>
                      <a:p>
                        <a:r>
                          <a:rPr lang="en" sz="1650" b="1">
                            <a:solidFill>
                              <a:schemeClr val="dk1"/>
                            </a:solidFill>
                            <a:latin typeface="Segoe UI"/>
                            <a:ea typeface="Microsoft YaHei"/>
                            <a:cs typeface="Segoe UI"/>
                          </a:rPr>
                          <a:t>World Bank</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Brent crude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≈1 month</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3"/>
                    </a:ext>
                  </a:extLst>
                </a:tr>
                <a:tr h="609600">
                  <a:tc>
                    <a:txBody>
                      <a:bodyPr/>
                      <a:lstStyle/>
                      <a:p>
                        <a:r>
                          <a:rPr lang="en" sz="1650" b="1">
                            <a:solidFill>
                              <a:schemeClr val="dk1"/>
                            </a:solidFill>
                            <a:latin typeface="Segoe UI"/>
                            <a:ea typeface="Microsoft YaHei"/>
                            <a:cs typeface="Segoe UI"/>
                          </a:rPr>
                          <a:t>Bank Negara Malaysia</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MYR exchange rates (+ BDT cross-rate)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real time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4"/>
                    </a:ext>
                  </a:extLst>
                </a:tr>
                <a:tr h="342900">
                  <a:tc>
                    <a:txBody>
                      <a:bodyPr/>
                      <a:lstStyle/>
                      <a:p>
                        <a:r>
                          <a:rPr lang="en" sz="1650" b="1">
                            <a:solidFill>
                              <a:schemeClr val="dk1"/>
                            </a:solidFill>
                            <a:latin typeface="Segoe UI"/>
                            <a:ea typeface="Microsoft YaHei"/>
                            <a:cs typeface="Segoe UI"/>
                          </a:rPr>
                          <a:t>Ministry of Finance</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RON97, diesel</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weekly</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5"/>
                    </a:ext>
                  </a:extLst>
                </a:tr>
                <a:tr h="609600">
                  <a:tc>
                    <a:txBody>
                      <a:bodyPr/>
                      <a:lstStyle/>
                      <a:p>
                        <a:r>
                          <a:rPr lang="en" sz="1650" b="1">
                            <a:solidFill>
                              <a:schemeClr val="dk1"/>
                            </a:solidFill>
                            <a:latin typeface="Segoe UI"/>
                            <a:ea typeface="Microsoft YaHei"/>
                            <a:cs typeface="Segoe UI"/>
                          </a:rPr>
                          <a:t>DOSM MEI</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leading &amp; coincident indices</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r>
                          <a:rPr lang="en" sz="1650" b="0">
                            <a:solidFill>
                              <a:schemeClr val="dk1"/>
                            </a:solidFill>
                            <a:latin typeface="Segoe UI"/>
                            <a:ea typeface="Microsoft YaHei"/>
                            <a:cs typeface="Segoe UI"/>
                          </a:rPr>
                          <a:t>≈2 months → excluded</a:t>
                        </a:r>
                      </a:p>
                    </a:txBody>
                    <a:tcPr marL="76200" marR="76200" marT="19050" marB="19050" anchor="ctr">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extLst>
                    <a:ext uri="{0D108BD9-81ED-4DB2-BD59-A6C34878D82A}">
                      <a16:rowId xmlns:a16="http://schemas.microsoft.com/office/drawing/2014/main" val="10006"/>
                    </a:ext>
                  </a:extLst>
                </a:tr>
              </a:tbl>
            </a:graphicData>
          </a:graphic>
        </p:graphicFrame>
      </p:grpSp>
      <p:grpSp>
        <p:nvGrpSpPr>
          <p:cNvPr id="21" name="design-choices"/>
          <p:cNvGrpSpPr/>
          <p:nvPr/>
        </p:nvGrpSpPr>
        <p:grpSpPr>
          <a:xfrm>
            <a:off x="7611618" y="1835150"/>
            <a:ext cx="3926129" cy="3332607"/>
            <a:chOff x="7611618" y="1835150"/>
            <a:chExt cx="3926129" cy="3332607"/>
          </a:xfrm>
        </p:grpSpPr>
        <p:sp>
          <p:nvSpPr>
            <p:cNvPr id="9" name="TextBox 9"/>
            <p:cNvSpPr txBox="1"/>
            <p:nvPr/>
          </p:nvSpPr>
          <p:spPr>
            <a:xfrm>
              <a:off x="7611618" y="1835150"/>
              <a:ext cx="130200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pooled?</a:t>
              </a:r>
            </a:p>
          </p:txBody>
        </p:sp>
        <p:sp>
          <p:nvSpPr>
            <p:cNvPr id="10" name="TextBox 10"/>
            <p:cNvSpPr txBox="1"/>
            <p:nvPr/>
          </p:nvSpPr>
          <p:spPr>
            <a:xfrm>
              <a:off x="7611618" y="2082800"/>
              <a:ext cx="379285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~111 months per market is too few</a:t>
              </a:r>
            </a:p>
          </p:txBody>
        </p:sp>
        <p:sp>
          <p:nvSpPr>
            <p:cNvPr id="11" name="TextBox 11"/>
            <p:cNvSpPr txBox="1"/>
            <p:nvPr/>
          </p:nvSpPr>
          <p:spPr>
            <a:xfrm>
              <a:off x="7611618" y="2387600"/>
              <a:ext cx="2834194"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direct multi-horizon?</a:t>
              </a:r>
            </a:p>
          </p:txBody>
        </p:sp>
        <p:sp>
          <p:nvSpPr>
            <p:cNvPr id="12" name="TextBox 12"/>
            <p:cNvSpPr txBox="1"/>
            <p:nvPr/>
          </p:nvSpPr>
          <p:spPr>
            <a:xfrm>
              <a:off x="7611618" y="2635250"/>
              <a:ext cx="3567339"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No error carried month to month</a:t>
              </a:r>
            </a:p>
          </p:txBody>
        </p:sp>
        <p:sp>
          <p:nvSpPr>
            <p:cNvPr id="13" name="TextBox 13"/>
            <p:cNvSpPr txBox="1"/>
            <p:nvPr/>
          </p:nvSpPr>
          <p:spPr>
            <a:xfrm>
              <a:off x="7611618" y="2940050"/>
              <a:ext cx="3323966"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MAE and RMSE, not MAPE?</a:t>
              </a:r>
            </a:p>
          </p:txBody>
        </p:sp>
        <p:sp>
          <p:nvSpPr>
            <p:cNvPr id="14" name="TextBox 14"/>
            <p:cNvSpPr txBox="1"/>
            <p:nvPr/>
          </p:nvSpPr>
          <p:spPr>
            <a:xfrm>
              <a:off x="7611618" y="3187700"/>
              <a:ext cx="3689203"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Tiny markets blow up percentages</a:t>
              </a:r>
            </a:p>
          </p:txBody>
        </p:sp>
        <p:sp>
          <p:nvSpPr>
            <p:cNvPr id="15" name="TextBox 15"/>
            <p:cNvSpPr txBox="1"/>
            <p:nvPr/>
          </p:nvSpPr>
          <p:spPr>
            <a:xfrm>
              <a:off x="7611618" y="3492500"/>
              <a:ext cx="2492659"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USA as reference?</a:t>
              </a:r>
            </a:p>
          </p:txBody>
        </p:sp>
        <p:sp>
          <p:nvSpPr>
            <p:cNvPr id="16" name="TextBox 16"/>
            <p:cNvSpPr txBox="1"/>
            <p:nvPr/>
          </p:nvSpPr>
          <p:spPr>
            <a:xfrm>
              <a:off x="7611618" y="3740150"/>
              <a:ext cx="3466888"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Identifies every market’s slope</a:t>
              </a:r>
            </a:p>
          </p:txBody>
        </p:sp>
        <p:sp>
          <p:nvSpPr>
            <p:cNvPr id="17" name="TextBox 17"/>
            <p:cNvSpPr txBox="1"/>
            <p:nvPr/>
          </p:nvSpPr>
          <p:spPr>
            <a:xfrm>
              <a:off x="7611618" y="4044950"/>
              <a:ext cx="2241047"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drop DOSM MEI?</a:t>
              </a:r>
            </a:p>
          </p:txBody>
        </p:sp>
        <p:sp>
          <p:nvSpPr>
            <p:cNvPr id="18" name="TextBox 18"/>
            <p:cNvSpPr txBox="1"/>
            <p:nvPr/>
          </p:nvSpPr>
          <p:spPr>
            <a:xfrm>
              <a:off x="7611618" y="4292600"/>
              <a:ext cx="3926129"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3–4 months stale; near-zero weight</a:t>
              </a:r>
            </a:p>
          </p:txBody>
        </p:sp>
        <p:sp>
          <p:nvSpPr>
            <p:cNvPr id="19" name="TextBox 19"/>
            <p:cNvSpPr txBox="1"/>
            <p:nvPr/>
          </p:nvSpPr>
          <p:spPr>
            <a:xfrm>
              <a:off x="7611618" y="4597400"/>
              <a:ext cx="2806566"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Why LightGBM over Ridge?</a:t>
              </a:r>
            </a:p>
          </p:txBody>
        </p:sp>
        <p:sp>
          <p:nvSpPr>
            <p:cNvPr id="20" name="TextBox 20"/>
            <p:cNvSpPr txBox="1"/>
            <p:nvPr/>
          </p:nvSpPr>
          <p:spPr>
            <a:xfrm>
              <a:off x="7611618" y="4845050"/>
              <a:ext cx="371146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Lowest total error, pooled design</a:t>
              </a:r>
            </a:p>
          </p:txBody>
        </p:sp>
      </p:grpSp>
      <p:grpSp>
        <p:nvGrpSpPr>
          <p:cNvPr id="27" name="sdg-indicators"/>
          <p:cNvGrpSpPr/>
          <p:nvPr/>
        </p:nvGrpSpPr>
        <p:grpSpPr>
          <a:xfrm>
            <a:off x="525780" y="5213350"/>
            <a:ext cx="10965434" cy="583057"/>
            <a:chOff x="525780" y="5213350"/>
            <a:chExt cx="10965434" cy="583057"/>
          </a:xfrm>
        </p:grpSpPr>
        <p:sp>
          <p:nvSpPr>
            <p:cNvPr id="22" name="TextBox 22"/>
            <p:cNvSpPr txBox="1"/>
            <p:nvPr/>
          </p:nvSpPr>
          <p:spPr>
            <a:xfrm>
              <a:off x="525780" y="5213350"/>
              <a:ext cx="3002280" cy="293370"/>
            </a:xfrm>
            <a:prstGeom prst="rect">
              <a:avLst/>
            </a:prstGeom>
            <a:noFill/>
            <a:ln>
              <a:noFill/>
            </a:ln>
          </p:spPr>
          <p:txBody>
            <a:bodyPr wrap="none" lIns="0" tIns="0" rIns="0" bIns="0" anchor="t" anchorCtr="0">
              <a:spAutoFit/>
            </a:bodyPr>
            <a:lstStyle/>
            <a:p>
              <a:pPr algn="l"/>
              <a:r>
                <a:rPr lang="en" sz="1500" spc="150" dirty="0">
                  <a:solidFill>
                    <a:srgbClr val="8A6A12"/>
                  </a:solidFill>
                  <a:latin typeface="Segoe UI Semibold"/>
                  <a:ea typeface="Segoe UI Semibold"/>
                  <a:cs typeface="Segoe UI Semibold"/>
                </a:rPr>
                <a:t>SDG OUTCOME INDICATORS</a:t>
              </a:r>
            </a:p>
          </p:txBody>
        </p:sp>
        <p:sp>
          <p:nvSpPr>
            <p:cNvPr id="23" name="Rectangle 23"/>
            <p:cNvSpPr/>
            <p:nvPr/>
          </p:nvSpPr>
          <p:spPr>
            <a:xfrm>
              <a:off x="533400" y="5486400"/>
              <a:ext cx="57150" cy="247650"/>
            </a:xfrm>
            <a:prstGeom prst="rect">
              <a:avLst/>
            </a:prstGeom>
            <a:solidFill>
              <a:srgbClr val="A21942"/>
            </a:solidFill>
            <a:ln>
              <a:noFill/>
            </a:ln>
          </p:spPr>
          <p:txBody>
            <a:bodyPr/>
            <a:lstStyle/>
            <a:p>
              <a:endParaRPr lang="en-US"/>
            </a:p>
          </p:txBody>
        </p:sp>
        <p:sp>
          <p:nvSpPr>
            <p:cNvPr id="24" name="TextBox 24"/>
            <p:cNvSpPr txBox="1"/>
            <p:nvPr/>
          </p:nvSpPr>
          <p:spPr>
            <a:xfrm>
              <a:off x="677418" y="5473700"/>
              <a:ext cx="5896999"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SDG 8.9: tourism jobs, wages, local SME participation</a:t>
              </a:r>
            </a:p>
          </p:txBody>
        </p:sp>
        <p:sp>
          <p:nvSpPr>
            <p:cNvPr id="25" name="Rectangle 25"/>
            <p:cNvSpPr/>
            <p:nvPr/>
          </p:nvSpPr>
          <p:spPr>
            <a:xfrm>
              <a:off x="6781800" y="5486400"/>
              <a:ext cx="57150" cy="247650"/>
            </a:xfrm>
            <a:prstGeom prst="rect">
              <a:avLst/>
            </a:prstGeom>
            <a:solidFill>
              <a:srgbClr val="BF8B2E"/>
            </a:solidFill>
            <a:ln>
              <a:noFill/>
            </a:ln>
          </p:spPr>
          <p:txBody>
            <a:bodyPr/>
            <a:lstStyle/>
            <a:p>
              <a:endParaRPr lang="en-US"/>
            </a:p>
          </p:txBody>
        </p:sp>
        <p:sp>
          <p:nvSpPr>
            <p:cNvPr id="26" name="TextBox 26"/>
            <p:cNvSpPr txBox="1"/>
            <p:nvPr/>
          </p:nvSpPr>
          <p:spPr>
            <a:xfrm>
              <a:off x="6925818" y="5473700"/>
              <a:ext cx="4565396"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SDG 12.b: energy, water, waste, traffic</a:t>
              </a:r>
            </a:p>
          </p:txBody>
        </p:sp>
      </p:grpSp>
      <p:grpSp>
        <p:nvGrpSpPr>
          <p:cNvPr id="30" name="qa-index-link"/>
          <p:cNvGrpSpPr/>
          <p:nvPr/>
        </p:nvGrpSpPr>
        <p:grpSpPr>
          <a:xfrm>
            <a:off x="533400" y="5981700"/>
            <a:ext cx="1771650" cy="386207"/>
            <a:chOff x="533400" y="5981700"/>
            <a:chExt cx="1771650" cy="386207"/>
          </a:xfrm>
        </p:grpSpPr>
        <p:sp>
          <p:nvSpPr>
            <p:cNvPr id="28" name="Rectangle 28">
              <a:hlinkClick r:id="rId4" action="ppaction://hlinksldjump"/>
            </p:cNvPr>
            <p:cNvSpPr/>
            <p:nvPr/>
          </p:nvSpPr>
          <p:spPr>
            <a:xfrm>
              <a:off x="533400" y="5981700"/>
              <a:ext cx="17716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29" name="TextBox 29">
              <a:hlinkClick r:id="rId4" action="ppaction://hlinksldjump"/>
            </p:cNvPr>
            <p:cNvSpPr txBox="1"/>
            <p:nvPr/>
          </p:nvSpPr>
          <p:spPr>
            <a:xfrm>
              <a:off x="790126" y="6045200"/>
              <a:ext cx="12581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Q&amp;A index</a:t>
              </a:r>
            </a:p>
          </p:txBody>
        </p:sp>
      </p:grpSp>
      <p:grpSp>
        <p:nvGrpSpPr>
          <p:cNvPr id="32" name="integrity-note"/>
          <p:cNvGrpSpPr/>
          <p:nvPr/>
        </p:nvGrpSpPr>
        <p:grpSpPr>
          <a:xfrm>
            <a:off x="2506218" y="6045200"/>
            <a:ext cx="8901684" cy="322707"/>
            <a:chOff x="2506218" y="6045200"/>
            <a:chExt cx="8901684" cy="322707"/>
          </a:xfrm>
        </p:grpSpPr>
        <p:sp>
          <p:nvSpPr>
            <p:cNvPr id="31" name="TextBox 31"/>
            <p:cNvSpPr txBox="1"/>
            <p:nvPr/>
          </p:nvSpPr>
          <p:spPr>
            <a:xfrm>
              <a:off x="2506218" y="6045200"/>
              <a:ext cx="890168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69,040 daily rows → 2,300 country-months · same rule in backtest and deployment</a:t>
              </a:r>
            </a:p>
          </p:txBody>
        </p:sp>
      </p:grpSp>
      <p:grpSp>
        <p:nvGrpSpPr>
          <p:cNvPr id="36" name="radar-mark"/>
          <p:cNvGrpSpPr/>
          <p:nvPr/>
        </p:nvGrpSpPr>
        <p:grpSpPr>
          <a:xfrm>
            <a:off x="11430000" y="6096000"/>
            <a:ext cx="1524000" cy="1524000"/>
            <a:chOff x="11430000" y="6096000"/>
            <a:chExt cx="1524000" cy="1524000"/>
          </a:xfrm>
        </p:grpSpPr>
        <p:sp>
          <p:nvSpPr>
            <p:cNvPr id="33" name="Freeform 33"/>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34" name="Freeform 34"/>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35" name="Freeform 35"/>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37" name="TextBox 37"/>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p16-banner-photo"/>
          <p:cNvPicPr>
            <a:picLocks noChangeAspect="1"/>
          </p:cNvPicPr>
          <p:nvPr/>
        </p:nvPicPr>
        <p:blipFill>
          <a:blip r:embed="rId3"/>
          <a:srcRect l="10526" r="10527"/>
          <a:stretch>
            <a:fillRect/>
          </a:stretch>
        </p:blipFill>
        <p:spPr>
          <a:xfrm>
            <a:off x="6477000" y="0"/>
            <a:ext cx="5715000" cy="1676400"/>
          </a:xfrm>
          <a:prstGeom prst="rect">
            <a:avLst/>
          </a:prstGeom>
        </p:spPr>
      </p:pic>
      <p:sp>
        <p:nvSpPr>
          <p:cNvPr id="3" name="p16-banner-fade"/>
          <p:cNvSpPr/>
          <p:nvPr/>
        </p:nvSpPr>
        <p:spPr>
          <a:xfrm>
            <a:off x="6477000" y="0"/>
            <a:ext cx="3429000" cy="1676400"/>
          </a:xfrm>
          <a:prstGeom prst="rect">
            <a:avLst/>
          </a:prstGeom>
          <a:gradFill>
            <a:gsLst>
              <a:gs pos="0">
                <a:schemeClr val="lt1"/>
              </a:gs>
              <a:gs pos="55000">
                <a:schemeClr val="lt1">
                  <a:alpha val="88000"/>
                </a:schemeClr>
              </a:gs>
              <a:gs pos="100000">
                <a:schemeClr val="lt1">
                  <a:alpha val="0"/>
                </a:schemeClr>
              </a:gs>
            </a:gsLst>
            <a:lin ang="0" scaled="1"/>
          </a:gradFill>
          <a:ln>
            <a:noFill/>
          </a:ln>
        </p:spPr>
        <p:txBody>
          <a:bodyPr/>
          <a:lstStyle/>
          <a:p>
            <a:endParaRPr lang="en-US"/>
          </a:p>
        </p:txBody>
      </p:sp>
      <p:grpSp>
        <p:nvGrpSpPr>
          <p:cNvPr id="6" name="header"/>
          <p:cNvGrpSpPr/>
          <p:nvPr/>
        </p:nvGrpSpPr>
        <p:grpSpPr>
          <a:xfrm>
            <a:off x="594360" y="234950"/>
            <a:ext cx="5250180" cy="1355090"/>
            <a:chOff x="594360" y="234950"/>
            <a:chExt cx="5250180" cy="1355090"/>
          </a:xfrm>
        </p:grpSpPr>
        <p:sp>
          <p:nvSpPr>
            <p:cNvPr id="4" name="TextBox 4"/>
            <p:cNvSpPr txBox="1"/>
            <p:nvPr/>
          </p:nvSpPr>
          <p:spPr>
            <a:xfrm>
              <a:off x="601218" y="234950"/>
              <a:ext cx="2318918" cy="322707"/>
            </a:xfrm>
            <a:prstGeom prst="rect">
              <a:avLst/>
            </a:prstGeom>
            <a:noFill/>
            <a:ln>
              <a:noFill/>
            </a:ln>
          </p:spPr>
          <p:txBody>
            <a:bodyPr wrap="none" lIns="0" tIns="0" rIns="0" bIns="0" anchor="t" anchorCtr="0">
              <a:spAutoFit/>
            </a:bodyPr>
            <a:lstStyle/>
            <a:p>
              <a:pPr algn="l"/>
              <a:r>
                <a:rPr lang="en" sz="1650" spc="225" dirty="0">
                  <a:solidFill>
                    <a:srgbClr val="8A6A12"/>
                  </a:solidFill>
                  <a:latin typeface="Segoe UI Semibold"/>
                  <a:ea typeface="Segoe UI Semibold"/>
                  <a:cs typeface="Segoe UI Semibold"/>
                </a:rPr>
                <a:t>BACKUP D · DEMO</a:t>
              </a:r>
            </a:p>
          </p:txBody>
        </p:sp>
        <p:sp>
          <p:nvSpPr>
            <p:cNvPr id="5" name="TextBox 5"/>
            <p:cNvSpPr txBox="1"/>
            <p:nvPr/>
          </p:nvSpPr>
          <p:spPr>
            <a:xfrm>
              <a:off x="594360" y="546100"/>
              <a:ext cx="5250180" cy="1043940"/>
            </a:xfrm>
            <a:prstGeom prst="rect">
              <a:avLst/>
            </a:prstGeom>
            <a:noFill/>
            <a:ln>
              <a:noFill/>
            </a:ln>
          </p:spPr>
          <p:txBody>
            <a:bodyPr wrap="none" lIns="0" tIns="0" rIns="0" bIns="0" anchor="t" anchorCtr="0">
              <a:spAutoFit/>
            </a:bodyPr>
            <a:lstStyle/>
            <a:p>
              <a:pPr algn="l">
                <a:lnSpc>
                  <a:spcPts val="3600"/>
                </a:lnSpc>
              </a:pPr>
              <a:r>
                <a:rPr lang="en" sz="3000" dirty="0">
                  <a:solidFill>
                    <a:schemeClr val="dk1"/>
                  </a:solidFill>
                  <a:latin typeface="+mj-lt"/>
                  <a:ea typeface="+mj-ea"/>
                  <a:cs typeface="+mj-cs"/>
                </a:rPr>
                <a:t>Demo backup: the same four</a:t>
              </a:r>
              <a:br>
                <a:rPr lang="en" sz="3000" dirty="0">
                  <a:solidFill>
                    <a:schemeClr val="dk1"/>
                  </a:solidFill>
                  <a:latin typeface="+mj-lt"/>
                  <a:ea typeface="+mj-ea"/>
                  <a:cs typeface="+mj-cs"/>
                </a:rPr>
              </a:br>
              <a:r>
                <a:rPr lang="en" sz="3000" dirty="0">
                  <a:solidFill>
                    <a:schemeClr val="dk1"/>
                  </a:solidFill>
                  <a:latin typeface="+mj-lt"/>
                  <a:ea typeface="+mj-ea"/>
                  <a:cs typeface="+mj-cs"/>
                </a:rPr>
                <a:t>questions, as screenshots</a:t>
              </a:r>
            </a:p>
          </p:txBody>
        </p:sp>
      </p:grpSp>
      <p:grpSp>
        <p:nvGrpSpPr>
          <p:cNvPr id="12" name="shot-start"/>
          <p:cNvGrpSpPr/>
          <p:nvPr/>
        </p:nvGrpSpPr>
        <p:grpSpPr>
          <a:xfrm>
            <a:off x="533400" y="1828800"/>
            <a:ext cx="5091894" cy="1895475"/>
            <a:chOff x="533400" y="1828800"/>
            <a:chExt cx="5091894" cy="1895475"/>
          </a:xfrm>
        </p:grpSpPr>
        <p:sp>
          <p:nvSpPr>
            <p:cNvPr id="7" name="Rectangle 7"/>
            <p:cNvSpPr/>
            <p:nvPr/>
          </p:nvSpPr>
          <p:spPr>
            <a:xfrm>
              <a:off x="533400" y="1828800"/>
              <a:ext cx="2762250" cy="1895475"/>
            </a:xfrm>
            <a:prstGeom prst="roundRect">
              <a:avLst>
                <a:gd name="adj" fmla="val 3015"/>
              </a:avLst>
            </a:prstGeom>
            <a:solidFill>
              <a:schemeClr val="lt2"/>
            </a:solidFill>
            <a:ln w="9525">
              <a:solidFill>
                <a:schemeClr val="accent6"/>
              </a:solidFill>
            </a:ln>
          </p:spPr>
          <p:txBody>
            <a:bodyPr/>
            <a:lstStyle/>
            <a:p>
              <a:endParaRPr lang="en-US"/>
            </a:p>
          </p:txBody>
        </p:sp>
        <p:pic>
          <p:nvPicPr>
            <p:cNvPr id="8" name="Image 8"/>
            <p:cNvPicPr>
              <a:picLocks noChangeAspect="1"/>
            </p:cNvPicPr>
            <p:nvPr/>
          </p:nvPicPr>
          <p:blipFill>
            <a:blip r:embed="rId4"/>
            <a:stretch>
              <a:fillRect/>
            </a:stretch>
          </p:blipFill>
          <p:spPr>
            <a:xfrm>
              <a:off x="583642" y="1857375"/>
              <a:ext cx="2661765" cy="1838325"/>
            </a:xfrm>
            <a:prstGeom prst="rect">
              <a:avLst/>
            </a:prstGeom>
          </p:spPr>
        </p:pic>
        <p:sp>
          <p:nvSpPr>
            <p:cNvPr id="9" name="TextBox 9"/>
            <p:cNvSpPr txBox="1"/>
            <p:nvPr/>
          </p:nvSpPr>
          <p:spPr>
            <a:xfrm>
              <a:off x="3413760" y="1898650"/>
              <a:ext cx="1254252"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Start</a:t>
              </a:r>
            </a:p>
          </p:txBody>
        </p:sp>
        <p:sp>
          <p:nvSpPr>
            <p:cNvPr id="10" name="TextBox 10"/>
            <p:cNvSpPr txBox="1"/>
            <p:nvPr/>
          </p:nvSpPr>
          <p:spPr>
            <a:xfrm>
              <a:off x="3420618" y="2425700"/>
              <a:ext cx="1034575"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Overview</a:t>
              </a:r>
            </a:p>
          </p:txBody>
        </p:sp>
        <p:sp>
          <p:nvSpPr>
            <p:cNvPr id="11" name="TextBox 11"/>
            <p:cNvSpPr txBox="1"/>
            <p:nvPr/>
          </p:nvSpPr>
          <p:spPr>
            <a:xfrm>
              <a:off x="3420618" y="2692400"/>
              <a:ext cx="220467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20 modelled markets</a:t>
              </a:r>
            </a:p>
          </p:txBody>
        </p:sp>
      </p:grpSp>
      <p:grpSp>
        <p:nvGrpSpPr>
          <p:cNvPr id="18" name="shot-market"/>
          <p:cNvGrpSpPr/>
          <p:nvPr/>
        </p:nvGrpSpPr>
        <p:grpSpPr>
          <a:xfrm>
            <a:off x="6210300" y="1828800"/>
            <a:ext cx="5444147" cy="1895475"/>
            <a:chOff x="6210300" y="1828800"/>
            <a:chExt cx="5444147" cy="1895475"/>
          </a:xfrm>
        </p:grpSpPr>
        <p:sp>
          <p:nvSpPr>
            <p:cNvPr id="13" name="Rectangle 13"/>
            <p:cNvSpPr/>
            <p:nvPr/>
          </p:nvSpPr>
          <p:spPr>
            <a:xfrm>
              <a:off x="6210300" y="1828800"/>
              <a:ext cx="2762250" cy="1895475"/>
            </a:xfrm>
            <a:prstGeom prst="roundRect">
              <a:avLst>
                <a:gd name="adj" fmla="val 3015"/>
              </a:avLst>
            </a:prstGeom>
            <a:solidFill>
              <a:schemeClr val="lt2"/>
            </a:solidFill>
            <a:ln w="9525">
              <a:solidFill>
                <a:schemeClr val="accent6"/>
              </a:solidFill>
            </a:ln>
          </p:spPr>
          <p:txBody>
            <a:bodyPr/>
            <a:lstStyle/>
            <a:p>
              <a:endParaRPr lang="en-US"/>
            </a:p>
          </p:txBody>
        </p:sp>
        <p:pic>
          <p:nvPicPr>
            <p:cNvPr id="14" name="Image 14"/>
            <p:cNvPicPr>
              <a:picLocks noChangeAspect="1"/>
            </p:cNvPicPr>
            <p:nvPr/>
          </p:nvPicPr>
          <p:blipFill>
            <a:blip r:embed="rId5"/>
            <a:stretch>
              <a:fillRect/>
            </a:stretch>
          </p:blipFill>
          <p:spPr>
            <a:xfrm>
              <a:off x="6257194" y="1857375"/>
              <a:ext cx="2668462" cy="1838325"/>
            </a:xfrm>
            <a:prstGeom prst="rect">
              <a:avLst/>
            </a:prstGeom>
          </p:spPr>
        </p:pic>
        <p:sp>
          <p:nvSpPr>
            <p:cNvPr id="15" name="TextBox 15"/>
            <p:cNvSpPr txBox="1"/>
            <p:nvPr/>
          </p:nvSpPr>
          <p:spPr>
            <a:xfrm>
              <a:off x="9090660" y="1898650"/>
              <a:ext cx="265176"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1</a:t>
              </a:r>
            </a:p>
          </p:txBody>
        </p:sp>
        <p:sp>
          <p:nvSpPr>
            <p:cNvPr id="16" name="TextBox 16"/>
            <p:cNvSpPr txBox="1"/>
            <p:nvPr/>
          </p:nvSpPr>
          <p:spPr>
            <a:xfrm>
              <a:off x="9097518" y="2425700"/>
              <a:ext cx="2556929"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Which markets matter?</a:t>
              </a:r>
            </a:p>
          </p:txBody>
        </p:sp>
        <p:sp>
          <p:nvSpPr>
            <p:cNvPr id="17" name="TextBox 17"/>
            <p:cNvSpPr txBox="1"/>
            <p:nvPr/>
          </p:nvSpPr>
          <p:spPr>
            <a:xfrm>
              <a:off x="9097518" y="2692400"/>
              <a:ext cx="1740941"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Market Analysis</a:t>
              </a:r>
            </a:p>
          </p:txBody>
        </p:sp>
      </p:grpSp>
      <p:grpSp>
        <p:nvGrpSpPr>
          <p:cNvPr id="24" name="shot-drivers"/>
          <p:cNvGrpSpPr/>
          <p:nvPr/>
        </p:nvGrpSpPr>
        <p:grpSpPr>
          <a:xfrm>
            <a:off x="533400" y="3886200"/>
            <a:ext cx="5221753" cy="1895475"/>
            <a:chOff x="533400" y="3886200"/>
            <a:chExt cx="5221753" cy="1895475"/>
          </a:xfrm>
        </p:grpSpPr>
        <p:sp>
          <p:nvSpPr>
            <p:cNvPr id="19" name="Rectangle 19"/>
            <p:cNvSpPr/>
            <p:nvPr/>
          </p:nvSpPr>
          <p:spPr>
            <a:xfrm>
              <a:off x="533400" y="3886200"/>
              <a:ext cx="2762250" cy="1895475"/>
            </a:xfrm>
            <a:prstGeom prst="roundRect">
              <a:avLst>
                <a:gd name="adj" fmla="val 3015"/>
              </a:avLst>
            </a:prstGeom>
            <a:solidFill>
              <a:schemeClr val="lt2"/>
            </a:solidFill>
            <a:ln w="9525">
              <a:solidFill>
                <a:schemeClr val="accent6"/>
              </a:solidFill>
            </a:ln>
          </p:spPr>
          <p:txBody>
            <a:bodyPr/>
            <a:lstStyle/>
            <a:p>
              <a:endParaRPr lang="en-US"/>
            </a:p>
          </p:txBody>
        </p:sp>
        <p:pic>
          <p:nvPicPr>
            <p:cNvPr id="20" name="Image 20"/>
            <p:cNvPicPr>
              <a:picLocks noChangeAspect="1"/>
            </p:cNvPicPr>
            <p:nvPr/>
          </p:nvPicPr>
          <p:blipFill>
            <a:blip r:embed="rId6"/>
            <a:stretch>
              <a:fillRect/>
            </a:stretch>
          </p:blipFill>
          <p:spPr>
            <a:xfrm>
              <a:off x="581970" y="3914775"/>
              <a:ext cx="2665109" cy="1838325"/>
            </a:xfrm>
            <a:prstGeom prst="rect">
              <a:avLst/>
            </a:prstGeom>
          </p:spPr>
        </p:pic>
        <p:sp>
          <p:nvSpPr>
            <p:cNvPr id="21" name="TextBox 21"/>
            <p:cNvSpPr txBox="1"/>
            <p:nvPr/>
          </p:nvSpPr>
          <p:spPr>
            <a:xfrm>
              <a:off x="3413760" y="3956050"/>
              <a:ext cx="265176"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2</a:t>
              </a:r>
            </a:p>
          </p:txBody>
        </p:sp>
        <p:sp>
          <p:nvSpPr>
            <p:cNvPr id="22" name="TextBox 22"/>
            <p:cNvSpPr txBox="1"/>
            <p:nvPr/>
          </p:nvSpPr>
          <p:spPr>
            <a:xfrm>
              <a:off x="3420618" y="4483100"/>
              <a:ext cx="2334535" cy="322707"/>
            </a:xfrm>
            <a:prstGeom prst="rect">
              <a:avLst/>
            </a:prstGeom>
            <a:noFill/>
            <a:ln>
              <a:noFill/>
            </a:ln>
          </p:spPr>
          <p:txBody>
            <a:bodyPr wrap="none" lIns="0" tIns="0" rIns="0" bIns="0" anchor="t" anchorCtr="0">
              <a:spAutoFit/>
            </a:bodyPr>
            <a:lstStyle/>
            <a:p>
              <a:pPr algn="l"/>
              <a:r>
                <a:rPr lang="en" sz="1650" dirty="0">
                  <a:solidFill>
                    <a:schemeClr val="dk1"/>
                  </a:solidFill>
                  <a:latin typeface="Segoe UI Semibold"/>
                  <a:ea typeface="Segoe UI Semibold"/>
                  <a:cs typeface="Segoe UI Semibold"/>
                </a:rPr>
                <a:t>What moves arrivals?</a:t>
              </a:r>
            </a:p>
          </p:txBody>
        </p:sp>
        <p:sp>
          <p:nvSpPr>
            <p:cNvPr id="23" name="TextBox 23"/>
            <p:cNvSpPr txBox="1"/>
            <p:nvPr/>
          </p:nvSpPr>
          <p:spPr>
            <a:xfrm>
              <a:off x="3420618" y="4749800"/>
              <a:ext cx="1740941"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Tourism Drivers</a:t>
              </a:r>
            </a:p>
          </p:txBody>
        </p:sp>
      </p:grpSp>
      <p:grpSp>
        <p:nvGrpSpPr>
          <p:cNvPr id="30" name="shot-forecast"/>
          <p:cNvGrpSpPr/>
          <p:nvPr/>
        </p:nvGrpSpPr>
        <p:grpSpPr>
          <a:xfrm>
            <a:off x="6210300" y="3886200"/>
            <a:ext cx="5135690" cy="1895475"/>
            <a:chOff x="6210300" y="3886200"/>
            <a:chExt cx="5135690" cy="1895475"/>
          </a:xfrm>
        </p:grpSpPr>
        <p:sp>
          <p:nvSpPr>
            <p:cNvPr id="25" name="Rectangle 25"/>
            <p:cNvSpPr/>
            <p:nvPr/>
          </p:nvSpPr>
          <p:spPr>
            <a:xfrm>
              <a:off x="6210300" y="3886200"/>
              <a:ext cx="2762250" cy="1895475"/>
            </a:xfrm>
            <a:prstGeom prst="roundRect">
              <a:avLst>
                <a:gd name="adj" fmla="val 3015"/>
              </a:avLst>
            </a:prstGeom>
            <a:solidFill>
              <a:schemeClr val="lt2"/>
            </a:solidFill>
            <a:ln w="9525">
              <a:solidFill>
                <a:schemeClr val="accent6"/>
              </a:solidFill>
            </a:ln>
          </p:spPr>
          <p:txBody>
            <a:bodyPr/>
            <a:lstStyle/>
            <a:p>
              <a:endParaRPr lang="en-US"/>
            </a:p>
          </p:txBody>
        </p:sp>
        <p:pic>
          <p:nvPicPr>
            <p:cNvPr id="26" name="Image 26"/>
            <p:cNvPicPr>
              <a:picLocks noChangeAspect="1"/>
            </p:cNvPicPr>
            <p:nvPr/>
          </p:nvPicPr>
          <p:blipFill>
            <a:blip r:embed="rId7"/>
            <a:stretch>
              <a:fillRect/>
            </a:stretch>
          </p:blipFill>
          <p:spPr>
            <a:xfrm>
              <a:off x="6259507" y="3914775"/>
              <a:ext cx="2663837" cy="1838325"/>
            </a:xfrm>
            <a:prstGeom prst="rect">
              <a:avLst/>
            </a:prstGeom>
          </p:spPr>
        </p:pic>
        <p:sp>
          <p:nvSpPr>
            <p:cNvPr id="27" name="TextBox 27"/>
            <p:cNvSpPr txBox="1"/>
            <p:nvPr/>
          </p:nvSpPr>
          <p:spPr>
            <a:xfrm>
              <a:off x="9090660" y="3956050"/>
              <a:ext cx="990600"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3 &amp; 4</a:t>
              </a:r>
            </a:p>
          </p:txBody>
        </p:sp>
        <p:sp>
          <p:nvSpPr>
            <p:cNvPr id="28" name="TextBox 28"/>
            <p:cNvSpPr txBox="1"/>
            <p:nvPr/>
          </p:nvSpPr>
          <p:spPr>
            <a:xfrm>
              <a:off x="9097518" y="4483100"/>
              <a:ext cx="2248472" cy="589407"/>
            </a:xfrm>
            <a:prstGeom prst="rect">
              <a:avLst/>
            </a:prstGeom>
            <a:noFill/>
            <a:ln>
              <a:noFill/>
            </a:ln>
          </p:spPr>
          <p:txBody>
            <a:bodyPr wrap="none" lIns="0" tIns="0" rIns="0" bIns="0" anchor="t" anchorCtr="0">
              <a:spAutoFit/>
            </a:bodyPr>
            <a:lstStyle/>
            <a:p>
              <a:pPr algn="l">
                <a:lnSpc>
                  <a:spcPts val="2100"/>
                </a:lnSpc>
              </a:pPr>
              <a:r>
                <a:rPr lang="en" sz="1650" dirty="0">
                  <a:solidFill>
                    <a:schemeClr val="dk1"/>
                  </a:solidFill>
                  <a:latin typeface="Segoe UI Semibold"/>
                  <a:ea typeface="Segoe UI Semibold"/>
                  <a:cs typeface="Segoe UI Semibold"/>
                </a:rPr>
                <a:t>What do we forecast?</a:t>
              </a:r>
              <a:br>
                <a:rPr lang="en" sz="1650" dirty="0">
                  <a:solidFill>
                    <a:schemeClr val="dk1"/>
                  </a:solidFill>
                  <a:latin typeface="Segoe UI Semibold"/>
                  <a:ea typeface="Segoe UI Semibold"/>
                  <a:cs typeface="Segoe UI Semibold"/>
                </a:rPr>
              </a:br>
              <a:r>
                <a:rPr lang="en" sz="1650" dirty="0">
                  <a:solidFill>
                    <a:schemeClr val="dk1"/>
                  </a:solidFill>
                  <a:latin typeface="Segoe UI Semibold"/>
                  <a:ea typeface="Segoe UI Semibold"/>
                  <a:cs typeface="Segoe UI Semibold"/>
                </a:rPr>
                <a:t>How accurate is it?</a:t>
              </a:r>
            </a:p>
          </p:txBody>
        </p:sp>
        <p:sp>
          <p:nvSpPr>
            <p:cNvPr id="29" name="TextBox 29"/>
            <p:cNvSpPr txBox="1"/>
            <p:nvPr/>
          </p:nvSpPr>
          <p:spPr>
            <a:xfrm>
              <a:off x="9097518" y="5016500"/>
              <a:ext cx="100102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Forecast</a:t>
              </a:r>
            </a:p>
          </p:txBody>
        </p:sp>
      </p:grpSp>
      <p:grpSp>
        <p:nvGrpSpPr>
          <p:cNvPr id="33" name="qa-index-link"/>
          <p:cNvGrpSpPr/>
          <p:nvPr/>
        </p:nvGrpSpPr>
        <p:grpSpPr>
          <a:xfrm>
            <a:off x="533400" y="5981700"/>
            <a:ext cx="1771650" cy="386207"/>
            <a:chOff x="533400" y="5981700"/>
            <a:chExt cx="1771650" cy="386207"/>
          </a:xfrm>
        </p:grpSpPr>
        <p:sp>
          <p:nvSpPr>
            <p:cNvPr id="31" name="Rectangle 31">
              <a:hlinkClick r:id="rId8" action="ppaction://hlinksldjump"/>
            </p:cNvPr>
            <p:cNvSpPr/>
            <p:nvPr/>
          </p:nvSpPr>
          <p:spPr>
            <a:xfrm>
              <a:off x="533400" y="5981700"/>
              <a:ext cx="17716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32" name="TextBox 32">
              <a:hlinkClick r:id="rId8" action="ppaction://hlinksldjump"/>
            </p:cNvPr>
            <p:cNvSpPr txBox="1"/>
            <p:nvPr/>
          </p:nvSpPr>
          <p:spPr>
            <a:xfrm>
              <a:off x="790126" y="6045200"/>
              <a:ext cx="1258198"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Q&amp;A index</a:t>
              </a:r>
            </a:p>
          </p:txBody>
        </p:sp>
      </p:grpSp>
      <p:grpSp>
        <p:nvGrpSpPr>
          <p:cNvPr id="36" name="back-to-demo-link"/>
          <p:cNvGrpSpPr/>
          <p:nvPr/>
        </p:nvGrpSpPr>
        <p:grpSpPr>
          <a:xfrm>
            <a:off x="2457450" y="5981700"/>
            <a:ext cx="1962150" cy="386207"/>
            <a:chOff x="2457450" y="5981700"/>
            <a:chExt cx="1962150" cy="386207"/>
          </a:xfrm>
        </p:grpSpPr>
        <p:sp>
          <p:nvSpPr>
            <p:cNvPr id="34" name="Rectangle 34">
              <a:hlinkClick r:id="rId9" action="ppaction://hlinksldjump"/>
            </p:cNvPr>
            <p:cNvSpPr/>
            <p:nvPr/>
          </p:nvSpPr>
          <p:spPr>
            <a:xfrm>
              <a:off x="2457450" y="5981700"/>
              <a:ext cx="1962150" cy="381000"/>
            </a:xfrm>
            <a:prstGeom prst="roundRect">
              <a:avLst>
                <a:gd name="adj" fmla="val 50000"/>
              </a:avLst>
            </a:prstGeom>
            <a:solidFill>
              <a:schemeClr val="lt2"/>
            </a:solidFill>
            <a:ln w="14288">
              <a:solidFill>
                <a:schemeClr val="accent1"/>
              </a:solidFill>
            </a:ln>
          </p:spPr>
          <p:txBody>
            <a:bodyPr/>
            <a:lstStyle/>
            <a:p>
              <a:endParaRPr lang="en-US"/>
            </a:p>
          </p:txBody>
        </p:sp>
        <p:sp>
          <p:nvSpPr>
            <p:cNvPr id="35" name="TextBox 35">
              <a:hlinkClick r:id="rId9" action="ppaction://hlinksldjump"/>
            </p:cNvPr>
            <p:cNvSpPr txBox="1"/>
            <p:nvPr/>
          </p:nvSpPr>
          <p:spPr>
            <a:xfrm>
              <a:off x="2631558" y="6045200"/>
              <a:ext cx="1613933" cy="322707"/>
            </a:xfrm>
            <a:prstGeom prst="rect">
              <a:avLst/>
            </a:prstGeom>
            <a:noFill/>
            <a:ln>
              <a:noFill/>
            </a:ln>
          </p:spPr>
          <p:txBody>
            <a:bodyPr wrap="none" lIns="0" tIns="0" rIns="0" bIns="0" anchor="t" anchorCtr="0">
              <a:spAutoFit/>
            </a:bodyPr>
            <a:lstStyle/>
            <a:p>
              <a:pPr algn="ctr"/>
              <a:r>
                <a:rPr lang="en" sz="1650" dirty="0">
                  <a:solidFill>
                    <a:schemeClr val="dk1"/>
                  </a:solidFill>
                  <a:latin typeface="Segoe UI Semibold"/>
                  <a:ea typeface="Segoe UI Semibold"/>
                  <a:cs typeface="Segoe UI Semibold"/>
                </a:rPr>
                <a:t>◂ Back to demo</a:t>
              </a:r>
            </a:p>
          </p:txBody>
        </p:sp>
      </p:grpSp>
      <p:grpSp>
        <p:nvGrpSpPr>
          <p:cNvPr id="40" name="radar-mark"/>
          <p:cNvGrpSpPr/>
          <p:nvPr/>
        </p:nvGrpSpPr>
        <p:grpSpPr>
          <a:xfrm>
            <a:off x="11430000" y="6096000"/>
            <a:ext cx="1524000" cy="1524000"/>
            <a:chOff x="11430000" y="6096000"/>
            <a:chExt cx="1524000" cy="1524000"/>
          </a:xfrm>
        </p:grpSpPr>
        <p:sp>
          <p:nvSpPr>
            <p:cNvPr id="37" name="Freeform 37"/>
            <p:cNvSpPr/>
            <p:nvPr/>
          </p:nvSpPr>
          <p:spPr>
            <a:xfrm>
              <a:off x="11849100" y="6515100"/>
              <a:ext cx="685800" cy="685800"/>
            </a:xfrm>
            <a:prstGeom prst="arc">
              <a:avLst>
                <a:gd name="adj1" fmla="val 10800000"/>
                <a:gd name="adj2" fmla="val 16200000"/>
              </a:avLst>
            </a:prstGeom>
            <a:noFill/>
            <a:ln w="19050">
              <a:solidFill>
                <a:schemeClr val="accent2"/>
              </a:solidFill>
            </a:ln>
          </p:spPr>
          <p:txBody>
            <a:bodyPr/>
            <a:lstStyle/>
            <a:p>
              <a:endParaRPr lang="en-US"/>
            </a:p>
          </p:txBody>
        </p:sp>
        <p:sp>
          <p:nvSpPr>
            <p:cNvPr id="38" name="Freeform 38"/>
            <p:cNvSpPr/>
            <p:nvPr/>
          </p:nvSpPr>
          <p:spPr>
            <a:xfrm>
              <a:off x="11639550" y="6305550"/>
              <a:ext cx="1104900" cy="1104900"/>
            </a:xfrm>
            <a:prstGeom prst="arc">
              <a:avLst>
                <a:gd name="adj1" fmla="val 10800000"/>
                <a:gd name="adj2" fmla="val 16200000"/>
              </a:avLst>
            </a:prstGeom>
            <a:noFill/>
            <a:ln w="19050">
              <a:solidFill>
                <a:schemeClr val="accent2">
                  <a:alpha val="60000"/>
                </a:schemeClr>
              </a:solidFill>
            </a:ln>
          </p:spPr>
          <p:txBody>
            <a:bodyPr/>
            <a:lstStyle/>
            <a:p>
              <a:endParaRPr lang="en-US"/>
            </a:p>
          </p:txBody>
        </p:sp>
        <p:sp>
          <p:nvSpPr>
            <p:cNvPr id="39" name="Freeform 39"/>
            <p:cNvSpPr/>
            <p:nvPr/>
          </p:nvSpPr>
          <p:spPr>
            <a:xfrm>
              <a:off x="11430000" y="6096000"/>
              <a:ext cx="1524000" cy="1524000"/>
            </a:xfrm>
            <a:prstGeom prst="arc">
              <a:avLst>
                <a:gd name="adj1" fmla="val 10800000"/>
                <a:gd name="adj2" fmla="val 16200000"/>
              </a:avLst>
            </a:prstGeom>
            <a:noFill/>
            <a:ln w="19050">
              <a:solidFill>
                <a:schemeClr val="accent2">
                  <a:alpha val="30000"/>
                </a:schemeClr>
              </a:solidFill>
            </a:ln>
          </p:spPr>
          <p:txBody>
            <a:bodyPr/>
            <a:lstStyle/>
            <a:p>
              <a:endParaRPr lang="en-US"/>
            </a:p>
          </p:txBody>
        </p:sp>
      </p:grpSp>
      <p:sp>
        <p:nvSpPr>
          <p:cNvPr id="41" name="TextBox 41"/>
          <p:cNvSpPr txBox="1"/>
          <p:nvPr/>
        </p:nvSpPr>
        <p:spPr>
          <a:xfrm>
            <a:off x="11062983" y="6502400"/>
            <a:ext cx="261099" cy="322707"/>
          </a:xfrm>
          <a:prstGeom prst="rect">
            <a:avLst/>
          </a:prstGeom>
          <a:noFill/>
          <a:ln>
            <a:noFill/>
          </a:ln>
        </p:spPr>
        <p:txBody>
          <a:bodyPr wrap="none" lIns="0" tIns="0" rIns="0" bIns="0" anchor="t" anchorCtr="0">
            <a:spAutoFit/>
          </a:bodyPr>
          <a:lstStyle/>
          <a:p>
            <a:pPr algn="r"/>
            <a:r>
              <a:rPr lang="en" sz="1650" dirty="0">
                <a:solidFill>
                  <a:srgbClr val="8A6A12"/>
                </a:solidFill>
                <a:latin typeface="Segoe UI Semibold"/>
                <a:ea typeface="Segoe UI Semibold"/>
                <a:cs typeface="Segoe UI Semibold"/>
              </a:rPr>
              <a:t>16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nexora_pitch_v5">
  <a:themeElements>
    <a:clrScheme name="nexora_pitch_v5">
      <a:dk1>
        <a:srgbClr val="13203F"/>
      </a:dk1>
      <a:lt1>
        <a:srgbClr val="F5F7FB"/>
      </a:lt1>
      <a:dk2>
        <a:srgbClr val="1F497D"/>
      </a:dk2>
      <a:lt2>
        <a:srgbClr val="FFFFFF"/>
      </a:lt2>
      <a:accent1>
        <a:srgbClr val="13203F"/>
      </a:accent1>
      <a:accent2>
        <a:srgbClr val="FBBE14"/>
      </a:accent2>
      <a:accent3>
        <a:srgbClr val="03B1A8"/>
      </a:accent3>
      <a:accent4>
        <a:srgbClr val="13203F"/>
      </a:accent4>
      <a:accent5>
        <a:srgbClr val="4A5677"/>
      </a:accent5>
      <a:accent6>
        <a:srgbClr val="D5DBE7"/>
      </a:accent6>
      <a:hlink>
        <a:srgbClr val="FBBE14"/>
      </a:hlink>
      <a:folHlink>
        <a:srgbClr val="03B1A8"/>
      </a:folHlink>
    </a:clrScheme>
    <a:fontScheme name="nexora_pitch_v5">
      <a:majorFont>
        <a:latin typeface="Palatino Linotype"/>
        <a:ea typeface="SimSun"/>
        <a:cs typeface="Palatino Linotype"/>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Light"/>
        <a:ea typeface="Microsoft YaHei"/>
        <a:cs typeface="Segoe UI Light"/>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xora_pitch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nexora_pitch_v5">
  <a:themeElements>
    <a:clrScheme name="nexora_pitch_v5">
      <a:dk1>
        <a:srgbClr val="13203F"/>
      </a:dk1>
      <a:lt1>
        <a:srgbClr val="F5F7FB"/>
      </a:lt1>
      <a:dk2>
        <a:srgbClr val="1F497D"/>
      </a:dk2>
      <a:lt2>
        <a:srgbClr val="FFFFFF"/>
      </a:lt2>
      <a:accent1>
        <a:srgbClr val="13203F"/>
      </a:accent1>
      <a:accent2>
        <a:srgbClr val="FBBE14"/>
      </a:accent2>
      <a:accent3>
        <a:srgbClr val="03B1A8"/>
      </a:accent3>
      <a:accent4>
        <a:srgbClr val="13203F"/>
      </a:accent4>
      <a:accent5>
        <a:srgbClr val="4A5677"/>
      </a:accent5>
      <a:accent6>
        <a:srgbClr val="D5DBE7"/>
      </a:accent6>
      <a:hlink>
        <a:srgbClr val="FBBE14"/>
      </a:hlink>
      <a:folHlink>
        <a:srgbClr val="03B1A8"/>
      </a:folHlink>
    </a:clrScheme>
    <a:fontScheme name="nexora_pitch_v5">
      <a:majorFont>
        <a:latin typeface="Palatino Linotype"/>
        <a:ea typeface="SimSun"/>
        <a:cs typeface="Palatino Linotype"/>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Light"/>
        <a:ea typeface="Microsoft YaHei"/>
        <a:cs typeface="Segoe UI Light"/>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xora_pitch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3715</Words>
  <Application>Microsoft Office PowerPoint</Application>
  <PresentationFormat>Widescreen</PresentationFormat>
  <Paragraphs>471</Paragraphs>
  <Slides>16</Slides>
  <Notes>16</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Palatino Linotype</vt:lpstr>
      <vt:lpstr>Segoe UI</vt:lpstr>
      <vt:lpstr>Segoe UI Light</vt:lpstr>
      <vt:lpstr>Segoe UI Semibold</vt:lpstr>
      <vt:lpstr>nexora_pitch_v5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Chin Berliam</cp:lastModifiedBy>
  <cp:revision>3</cp:revision>
  <dcterms:created xsi:type="dcterms:W3CDTF">2026-10-13T09:04:43Z</dcterms:created>
  <dcterms:modified xsi:type="dcterms:W3CDTF">2026-10-13T09:06:58Z</dcterms:modified>
  <cp:category/>
  <cp:contentStatus/>
  <dc:language>en</dc:language>
</cp:coreProperties>
</file>